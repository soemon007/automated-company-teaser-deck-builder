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57"/>
    <p:restoredTop sz="94697"/>
  </p:normalViewPr>
  <p:slideViewPr>
    <p:cSldViewPr snapToGrid="0">
      <p:cViewPr varScale="1">
        <p:scale>
          <a:sx n="90" d="100"/>
          <a:sy n="90" d="100"/>
        </p:scale>
        <p:origin x="680"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overlay val="0"/>
    </c:title>
    <c:autoTitleDeleted val="0"/>
    <c:plotArea>
      <c:layout/>
      <c:barChart>
        <c:barDir val="col"/>
        <c:grouping val="clustered"/>
        <c:varyColors val="1"/>
        <c:ser>
          <c:idx val="0"/>
          <c:order val="0"/>
          <c:tx>
            <c:strRef>
              <c:f>Sheet1!$B$1</c:f>
              <c:strCache>
                <c:ptCount val="1"/>
                <c:pt idx="0">
                  <c:v>ANNUAL REVENUE</c:v>
                </c:pt>
              </c:strCache>
            </c:strRef>
          </c:tx>
          <c:invertIfNegative val="1"/>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Sheet1!$B$2:$B$5</c:f>
              <c:numCache>
                <c:formatCode>General</c:formatCode>
                <c:ptCount val="4"/>
                <c:pt idx="0">
                  <c:v>2465</c:v>
                </c:pt>
                <c:pt idx="1">
                  <c:v>2658</c:v>
                </c:pt>
                <c:pt idx="2">
                  <c:v>2367</c:v>
                </c:pt>
                <c:pt idx="3">
                  <c:v>2366</c:v>
                </c:pt>
              </c:numCache>
            </c:numRef>
          </c:val>
          <c:extLst>
            <c:ext xmlns:c16="http://schemas.microsoft.com/office/drawing/2014/chart" uri="{C3380CC4-5D6E-409C-BE32-E72D297353CC}">
              <c16:uniqueId val="{00000000-F37D-5D44-9AE6-1DE05D0837B4}"/>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SHAREHOLDING PATTERN</c:v>
                </c:pt>
              </c:strCache>
            </c:strRef>
          </c:tx>
          <c:dLbls>
            <c:spPr>
              <a:noFill/>
              <a:ln>
                <a:noFill/>
              </a:ln>
              <a:effectLst/>
            </c:spPr>
            <c:dLblPos val="bestFit"/>
            <c:showLegendKey val="0"/>
            <c:showVal val="1"/>
            <c:showCatName val="1"/>
            <c:showSerName val="0"/>
            <c:showPercent val="0"/>
            <c:showBubbleSize val="0"/>
            <c:showLeaderLines val="1"/>
            <c:extLst>
              <c:ext xmlns:c15="http://schemas.microsoft.com/office/drawing/2012/chart" uri="{CE6537A1-D6FC-4f65-9D91-7224C49458BB}"/>
            </c:extLst>
          </c:dLbls>
          <c:cat>
            <c:strRef>
              <c:f>Sheet1!$A$2:$A$3</c:f>
              <c:strCache>
                <c:ptCount val="2"/>
                <c:pt idx="0">
                  <c:v>Promoters</c:v>
                </c:pt>
                <c:pt idx="1">
                  <c:v>Non Promoters</c:v>
                </c:pt>
              </c:strCache>
            </c:strRef>
          </c:cat>
          <c:val>
            <c:numRef>
              <c:f>Sheet1!$B$2:$B$3</c:f>
              <c:numCache>
                <c:formatCode>General</c:formatCode>
                <c:ptCount val="2"/>
                <c:pt idx="0">
                  <c:v>58.8</c:v>
                </c:pt>
                <c:pt idx="1">
                  <c:v>41.2</c:v>
                </c:pt>
              </c:numCache>
            </c:numRef>
          </c:val>
          <c:extLst>
            <c:ext xmlns:c16="http://schemas.microsoft.com/office/drawing/2014/chart" uri="{C3380CC4-5D6E-409C-BE32-E72D297353CC}">
              <c16:uniqueId val="{00000000-B827-884C-BBAA-C5B0E506E575}"/>
            </c:ext>
          </c:extLst>
        </c:ser>
        <c:dLbls>
          <c:dLblPos val="bestFit"/>
          <c:showLegendKey val="0"/>
          <c:showVal val="1"/>
          <c:showCatName val="1"/>
          <c:showSerName val="0"/>
          <c:showPercent val="0"/>
          <c:showBubbleSize val="0"/>
          <c:showLeaderLines val="1"/>
        </c:dLbls>
        <c:firstSliceAng val="0"/>
      </c:pieChart>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8" name="Title 1">
            <a:extLst>
              <a:ext uri="{FF2B5EF4-FFF2-40B4-BE49-F238E27FC236}">
                <a16:creationId xmlns:a16="http://schemas.microsoft.com/office/drawing/2014/main" id="{D8F8B44A-7F85-77D9-2043-31575F8C454F}"/>
              </a:ext>
            </a:extLst>
          </p:cNvPr>
          <p:cNvSpPr>
            <a:spLocks noGrp="1"/>
          </p:cNvSpPr>
          <p:nvPr>
            <p:ph type="title" hasCustomPrompt="1"/>
          </p:nvPr>
        </p:nvSpPr>
        <p:spPr>
          <a:xfrm>
            <a:off x="154287" y="767310"/>
            <a:ext cx="10075084" cy="1116106"/>
          </a:xfrm>
        </p:spPr>
        <p:txBody>
          <a:bodyPr/>
          <a:lstStyle>
            <a:lvl1pPr>
              <a:defRPr b="1">
                <a:solidFill>
                  <a:schemeClr val="tx1"/>
                </a:solidFill>
                <a:latin typeface="Arial" panose="020B0604020202020204" pitchFamily="34" charset="0"/>
                <a:cs typeface="Arial" panose="020B0604020202020204" pitchFamily="34" charset="0"/>
              </a:defRPr>
            </a:lvl1pPr>
          </a:lstStyle>
          <a:p>
            <a:r>
              <a:rPr lang="en-GB" dirty="0"/>
              <a:t>Overview</a:t>
            </a:r>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b="0"/>
              <a:t>Specialized manufacturer of </a:t>
            </a:r>
            <a:r>
              <a:rPr b="1"/>
              <a:t>Hot, Warm, and Cold forged components</a:t>
            </a:r>
            <a:r>
              <a:rPr b="0"/>
              <a:t> with integrated precision machining and heat treatment capabilities.</a:t>
            </a:r>
          </a:p>
          <a:p>
            <a:r>
              <a:rPr b="0"/>
              <a:t>Diverse product segments including </a:t>
            </a:r>
            <a:r>
              <a:rPr b="1"/>
              <a:t>Engine, Driveline, and Industrial parts</a:t>
            </a:r>
            <a:r>
              <a:rPr b="0"/>
              <a:t> designed for safety-critical environments.</a:t>
            </a:r>
          </a:p>
          <a:p>
            <a:r>
              <a:rPr b="0"/>
              <a:t>Serving a robust portfolio of end-user industries such as </a:t>
            </a:r>
            <a:r>
              <a:rPr b="1"/>
              <a:t>Automotive, Construction, Mining, Power Generation, and Marine</a:t>
            </a:r>
            <a:r>
              <a:rPr b="0"/>
              <a:t>.</a:t>
            </a:r>
          </a:p>
          <a:p>
            <a:r>
              <a:rPr b="0"/>
              <a:t>Strategically located manufacturing footprint with </a:t>
            </a:r>
            <a:r>
              <a:rPr b="1"/>
              <a:t>5 plants in India</a:t>
            </a:r>
            <a:r>
              <a:rPr b="0"/>
              <a:t> and a dedicated international subsidiary in </a:t>
            </a:r>
            <a:r>
              <a:rPr b="1"/>
              <a:t>Germany</a:t>
            </a:r>
            <a:r>
              <a:rPr b="0"/>
              <a:t>.</a:t>
            </a:r>
          </a:p>
          <a:p>
            <a:r>
              <a:rPr b="0"/>
              <a:t>Integrated service model offering </a:t>
            </a:r>
            <a:r>
              <a:rPr b="1"/>
              <a:t>Design, Prototyping, and Value Engineering</a:t>
            </a:r>
            <a:r>
              <a:rPr b="0"/>
              <a:t> to meet complex geometric requirements of global clients.</a:t>
            </a:r>
          </a:p>
        </p:txBody>
      </p:sp>
      <p:sp>
        <p:nvSpPr>
          <p:cNvPr id="3" name="Text Placeholder 2"/>
          <p:cNvSpPr>
            <a:spLocks noGrp="1"/>
          </p:cNvSpPr>
          <p:nvPr>
            <p:ph type="body" sz="quarter" idx="11"/>
          </p:nvPr>
        </p:nvSpPr>
        <p:spPr/>
        <p:txBody>
          <a:bodyPr/>
          <a:lstStyle/>
          <a:p>
            <a:r>
              <a:rPr b="1"/>
              <a:t>Engine Components:</a:t>
            </a:r>
            <a:r>
              <a:rPr b="0"/>
              <a:t> High-tolerance parts including turbocharger components, fracture-split connecting rods, and engine assemblies.</a:t>
            </a:r>
          </a:p>
          <a:p>
            <a:r>
              <a:rPr b="1"/>
              <a:t>Driveline &amp; Transmission:</a:t>
            </a:r>
            <a:r>
              <a:rPr b="0"/>
              <a:t> Precision-engineered transmission parts, front and rear axle components, and steering system hardware.</a:t>
            </a:r>
          </a:p>
          <a:p>
            <a:r>
              <a:rPr b="1"/>
              <a:t>Industrial &amp; Specialty Services:</a:t>
            </a:r>
            <a:r>
              <a:rPr b="0"/>
              <a:t> Forged solutions for construction, marine, and power sectors, supported by in-house </a:t>
            </a:r>
            <a:r>
              <a:rPr b="1"/>
              <a:t>Design, Prototyping, and Heat Treatment</a:t>
            </a:r>
            <a:r>
              <a:rPr b="0"/>
              <a:t>.</a:t>
            </a:r>
          </a:p>
        </p:txBody>
      </p:sp>
      <p:pic>
        <p:nvPicPr>
          <p:cNvPr id="4" name="Picture Placeholder 3" descr="iso 9001.png"/>
          <p:cNvPicPr>
            <a:picLocks noGrp="1" noChangeAspect="1"/>
          </p:cNvPicPr>
          <p:nvPr>
            <p:ph type="pic" sz="quarter" idx="12"/>
          </p:nvPr>
        </p:nvPicPr>
        <p:blipFill>
          <a:blip r:embed="rId2"/>
          <a:srcRect t="3487" b="3487"/>
          <a:stretch>
            <a:fillRect/>
          </a:stretch>
        </p:blipFill>
        <p:spPr/>
      </p:pic>
      <p:pic>
        <p:nvPicPr>
          <p:cNvPr id="5" name="Picture Placeholder 4" descr="iso 14001.png"/>
          <p:cNvPicPr>
            <a:picLocks noGrp="1" noChangeAspect="1"/>
          </p:cNvPicPr>
          <p:nvPr>
            <p:ph type="pic" sz="quarter" idx="13"/>
          </p:nvPr>
        </p:nvPicPr>
        <p:blipFill>
          <a:blip r:embed="rId3"/>
          <a:srcRect t="8286" b="8286"/>
          <a:stretch>
            <a:fillRect/>
          </a:stretch>
        </p:blipFill>
        <p:spPr/>
      </p:pic>
      <p:sp>
        <p:nvSpPr>
          <p:cNvPr id="7" name="Text Placeholder 6"/>
          <p:cNvSpPr>
            <a:spLocks noGrp="1"/>
          </p:cNvSpPr>
          <p:nvPr>
            <p:ph type="body" sz="quarter" idx="15"/>
          </p:nvPr>
        </p:nvSpPr>
        <p:spPr/>
        <p:txBody>
          <a:bodyPr/>
          <a:lstStyle/>
          <a:p>
            <a:r>
              <a:rPr b="1"/>
              <a:t>Project Precision Forge</a:t>
            </a:r>
            <a:r>
              <a:rPr b="0"/>
              <a:t> is a specialized engineering leader founded in 1979, providing high-precision forged and machined solutions to global OEMs.</a:t>
            </a:r>
          </a:p>
          <a:p>
            <a:r>
              <a:rPr b="0"/>
              <a:t>Operates </a:t>
            </a:r>
            <a:r>
              <a:rPr b="1"/>
              <a:t>5 modern manufacturing facilities</a:t>
            </a:r>
            <a:r>
              <a:rPr b="0"/>
              <a:t> with deep expertise in metal forming, serving safety-critical applications across </a:t>
            </a:r>
            <a:r>
              <a:rPr b="1"/>
              <a:t>Automotive and Industrial sectors</a:t>
            </a:r>
            <a:r>
              <a:rPr b="0"/>
              <a:t>.</a:t>
            </a:r>
          </a:p>
        </p:txBody>
      </p:sp>
      <p:pic>
        <p:nvPicPr>
          <p:cNvPr id="8" name="Picture Placeholder 7" descr="Factory_Manufacturing_Industry.png"/>
          <p:cNvPicPr>
            <a:picLocks noGrp="1" noChangeAspect="1"/>
          </p:cNvPicPr>
          <p:nvPr>
            <p:ph type="pic" sz="quarter" idx="16"/>
          </p:nvPr>
        </p:nvPicPr>
        <p:blipFill>
          <a:blip r:embed="rId4"/>
          <a:srcRect l="2038" r="2038"/>
          <a:stretch>
            <a:fillRect/>
          </a:stretch>
        </p:blipFill>
        <p:spPr/>
      </p:pic>
      <p:pic>
        <p:nvPicPr>
          <p:cNvPr id="9" name="Picture Placeholder 8" descr="Graph_Growth.png"/>
          <p:cNvPicPr>
            <a:picLocks noGrp="1" noChangeAspect="1"/>
          </p:cNvPicPr>
          <p:nvPr>
            <p:ph type="pic" sz="quarter" idx="17"/>
          </p:nvPr>
        </p:nvPicPr>
        <p:blipFill>
          <a:blip r:embed="rId5"/>
          <a:srcRect l="2038" r="2038"/>
          <a:stretch>
            <a:fillRect/>
          </a:stretch>
        </p:blipFill>
        <p:spPr/>
      </p:pic>
      <p:pic>
        <p:nvPicPr>
          <p:cNvPr id="10" name="Picture Placeholder 9" descr="Ecofriendly_Plant.png"/>
          <p:cNvPicPr>
            <a:picLocks noGrp="1" noChangeAspect="1"/>
          </p:cNvPicPr>
          <p:nvPr>
            <p:ph type="pic" sz="quarter" idx="18"/>
          </p:nvPr>
        </p:nvPicPr>
        <p:blipFill>
          <a:blip r:embed="rId6"/>
          <a:srcRect l="2038" r="2038"/>
          <a:stretch>
            <a:fillRect/>
          </a:stretch>
        </p:blipFill>
        <p:spPr/>
      </p:pic>
      <p:sp>
        <p:nvSpPr>
          <p:cNvPr id="11" name="Title 10"/>
          <p:cNvSpPr>
            <a:spLocks noGrp="1"/>
          </p:cNvSpPr>
          <p:nvPr>
            <p:ph type="title"/>
          </p:nvPr>
        </p:nvSpPr>
        <p:spPr>
          <a:xfrm>
            <a:off x="154287" y="767310"/>
            <a:ext cx="8082615" cy="432840"/>
          </a:xfrm>
        </p:spPr>
        <p:txBody>
          <a:bodyPr/>
          <a:lstStyle/>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p:txBody>
          <a:bodyPr/>
          <a:lstStyle/>
          <a:p>
            <a:r>
              <a:rPr b="0"/>
              <a:t>Key Management a stable revenue base above </a:t>
            </a:r>
            <a:r>
              <a:rPr b="1"/>
              <a:t>INR 2,300 million</a:t>
            </a:r>
            <a:r>
              <a:rPr b="0"/>
              <a:t> despite global automotive cyclicality.</a:t>
            </a:r>
          </a:p>
          <a:p>
            <a:r>
              <a:rPr b="0"/>
              <a:t>Achieved </a:t>
            </a:r>
            <a:r>
              <a:rPr b="1"/>
              <a:t>highest Profit After Tax in 10 years</a:t>
            </a:r>
            <a:r>
              <a:rPr b="0"/>
              <a:t> during FY25, reaching INR 70.1 million.</a:t>
            </a:r>
          </a:p>
          <a:p>
            <a:r>
              <a:rPr b="0"/>
              <a:t>Operating EBITDA improved significantly to </a:t>
            </a:r>
            <a:r>
              <a:rPr b="1"/>
              <a:t>INR 240 million</a:t>
            </a:r>
            <a:r>
              <a:rPr b="0"/>
              <a:t> in the latest fiscal year.</a:t>
            </a:r>
          </a:p>
          <a:p>
            <a:r>
              <a:rPr b="0"/>
              <a:t>Revenue stability is supported by a diversified client base across multiple industrial segments.</a:t>
            </a:r>
          </a:p>
          <a:p>
            <a:r>
              <a:rPr b="0"/>
              <a:t>Efficiency gains from recent capex programs are beginning to reflect in bottom-line performance.</a:t>
            </a:r>
          </a:p>
        </p:txBody>
      </p:sp>
      <p:sp>
        <p:nvSpPr>
          <p:cNvPr id="5" name="Text Placeholder 4"/>
          <p:cNvSpPr>
            <a:spLocks noGrp="1"/>
          </p:cNvSpPr>
          <p:nvPr>
            <p:ph type="body" sz="quarter" idx="13"/>
          </p:nvPr>
        </p:nvSpPr>
        <p:spPr/>
        <p:txBody>
          <a:bodyPr/>
          <a:lstStyle/>
          <a:p>
            <a:r>
              <a:rPr b="0"/>
              <a:t>Strong promoter holding of </a:t>
            </a:r>
            <a:r>
              <a:rPr b="1"/>
              <a:t>58.8%</a:t>
            </a:r>
            <a:r>
              <a:rPr b="0"/>
              <a:t> ensures strategic alignment and long-term stability.</a:t>
            </a:r>
          </a:p>
          <a:p>
            <a:r>
              <a:rPr b="0"/>
              <a:t>Significant institutional and corporate interest with </a:t>
            </a:r>
            <a:r>
              <a:rPr b="1"/>
              <a:t>BF Investment </a:t>
            </a:r>
            <a:r>
              <a:rPr b="0"/>
              <a:t> holding 15.7%.</a:t>
            </a:r>
          </a:p>
          <a:p>
            <a:r>
              <a:rPr b="0"/>
              <a:t>Balanced equity structure supports both founder vision and public market transparency.</a:t>
            </a:r>
          </a:p>
          <a:p>
            <a:r>
              <a:rPr b="0"/>
              <a:t>Diverse public shareholding of 41.2% provides healthy liquidity and market participation.</a:t>
            </a:r>
          </a:p>
        </p:txBody>
      </p:sp>
      <p:pic>
        <p:nvPicPr>
          <p:cNvPr id="6" name="Picture Placeholder 5" descr="Delivery_Service.png"/>
          <p:cNvPicPr>
            <a:picLocks noGrp="1" noChangeAspect="1"/>
          </p:cNvPicPr>
          <p:nvPr>
            <p:ph type="pic" sz="quarter" idx="16"/>
          </p:nvPr>
        </p:nvPicPr>
        <p:blipFill>
          <a:blip r:embed="rId2"/>
          <a:srcRect l="2038" r="2038"/>
          <a:stretch>
            <a:fillRect/>
          </a:stretch>
        </p:blipFill>
        <p:spPr/>
      </p:pic>
      <p:pic>
        <p:nvPicPr>
          <p:cNvPr id="7" name="Picture Placeholder 6" descr="Inventory_Storage.png"/>
          <p:cNvPicPr>
            <a:picLocks noGrp="1" noChangeAspect="1"/>
          </p:cNvPicPr>
          <p:nvPr>
            <p:ph type="pic" sz="quarter" idx="17"/>
          </p:nvPr>
        </p:nvPicPr>
        <p:blipFill>
          <a:blip r:embed="rId3"/>
          <a:srcRect l="2038" r="2038"/>
          <a:stretch>
            <a:fillRect/>
          </a:stretch>
        </p:blipFill>
        <p:spPr/>
      </p:pic>
      <p:sp>
        <p:nvSpPr>
          <p:cNvPr id="8" name="Text Placeholder 7"/>
          <p:cNvSpPr>
            <a:spLocks noGrp="1"/>
          </p:cNvSpPr>
          <p:nvPr>
            <p:ph type="body" sz="quarter" idx="18"/>
          </p:nvPr>
        </p:nvSpPr>
        <p:spPr/>
        <p:txBody>
          <a:bodyPr/>
          <a:lstStyle/>
          <a:p>
            <a:r>
              <a:rPr b="1"/>
              <a:t>REVENUE PERFORMANCE</a:t>
            </a:r>
          </a:p>
        </p:txBody>
      </p:sp>
      <p:sp>
        <p:nvSpPr>
          <p:cNvPr id="9" name="Text Placeholder 8"/>
          <p:cNvSpPr>
            <a:spLocks noGrp="1"/>
          </p:cNvSpPr>
          <p:nvPr>
            <p:ph type="body" sz="quarter" idx="19"/>
          </p:nvPr>
        </p:nvSpPr>
        <p:spPr/>
        <p:txBody>
          <a:bodyPr/>
          <a:lstStyle/>
          <a:p>
            <a:r>
              <a:rPr b="1"/>
              <a:t>EQUITY STRUCTURE</a:t>
            </a:r>
          </a:p>
        </p:txBody>
      </p:sp>
      <p:sp>
        <p:nvSpPr>
          <p:cNvPr id="10" name="Text Placeholder 9"/>
          <p:cNvSpPr>
            <a:spLocks noGrp="1"/>
          </p:cNvSpPr>
          <p:nvPr>
            <p:ph type="body" sz="quarter" idx="20"/>
          </p:nvPr>
        </p:nvSpPr>
        <p:spPr/>
        <p:txBody>
          <a:bodyPr/>
          <a:lstStyle/>
          <a:p>
            <a:r>
              <a:rPr b="0"/>
              <a:t>FINANCIAL GROWTH AND PROFITABILITY</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b="1"/>
              <a:t>Entry Barriers</a:t>
            </a:r>
            <a:r>
              <a:rPr b="0"/>
              <a:t> created by high capex requirements and deep technical expertise in complex hot, warm, and cold forging technologies.</a:t>
            </a:r>
          </a:p>
        </p:txBody>
      </p:sp>
      <p:sp>
        <p:nvSpPr>
          <p:cNvPr id="3" name="Text Placeholder 2"/>
          <p:cNvSpPr>
            <a:spLocks noGrp="1"/>
          </p:cNvSpPr>
          <p:nvPr>
            <p:ph type="body" sz="quarter" idx="11"/>
          </p:nvPr>
        </p:nvSpPr>
        <p:spPr/>
        <p:txBody>
          <a:bodyPr/>
          <a:lstStyle/>
          <a:p>
            <a:r>
              <a:rPr b="1"/>
              <a:t>Critical Supplier Status</a:t>
            </a:r>
            <a:r>
              <a:rPr b="0"/>
              <a:t> with long-standing strategic partnerships with global blue-chip OEMs including Daimler, JCB, and Cummins.</a:t>
            </a:r>
          </a:p>
        </p:txBody>
      </p:sp>
      <p:sp>
        <p:nvSpPr>
          <p:cNvPr id="4" name="Text Placeholder 3"/>
          <p:cNvSpPr>
            <a:spLocks noGrp="1"/>
          </p:cNvSpPr>
          <p:nvPr>
            <p:ph type="body" sz="quarter" idx="12"/>
          </p:nvPr>
        </p:nvSpPr>
        <p:spPr/>
        <p:txBody>
          <a:bodyPr/>
          <a:lstStyle/>
          <a:p>
            <a:r>
              <a:rPr b="1"/>
              <a:t>Operating Leverage</a:t>
            </a:r>
            <a:r>
              <a:rPr b="0"/>
              <a:t> potential through the deployment of SAP ERP controls and automated workflows across all five manufacturing plants.</a:t>
            </a:r>
          </a:p>
        </p:txBody>
      </p:sp>
      <p:sp>
        <p:nvSpPr>
          <p:cNvPr id="5" name="Text Placeholder 4"/>
          <p:cNvSpPr>
            <a:spLocks noGrp="1"/>
          </p:cNvSpPr>
          <p:nvPr>
            <p:ph type="body" sz="quarter" idx="13"/>
          </p:nvPr>
        </p:nvSpPr>
        <p:spPr/>
        <p:txBody>
          <a:bodyPr/>
          <a:lstStyle/>
          <a:p>
            <a:r>
              <a:rPr b="1"/>
              <a:t>Proven Export Growth</a:t>
            </a:r>
            <a:r>
              <a:rPr b="0"/>
              <a:t> with an 11% increase in FY25 and a strategic roadmap to achieve a </a:t>
            </a:r>
            <a:r>
              <a:rPr b="1"/>
              <a:t>50% revenue contribution</a:t>
            </a:r>
            <a:r>
              <a:rPr b="0"/>
              <a:t> from international markets.</a:t>
            </a:r>
          </a:p>
        </p:txBody>
      </p:sp>
      <p:sp>
        <p:nvSpPr>
          <p:cNvPr id="6" name="Text Placeholder 5"/>
          <p:cNvSpPr>
            <a:spLocks noGrp="1"/>
          </p:cNvSpPr>
          <p:nvPr>
            <p:ph type="body" sz="quarter" idx="14"/>
          </p:nvPr>
        </p:nvSpPr>
        <p:spPr/>
        <p:txBody>
          <a:bodyPr/>
          <a:lstStyle/>
          <a:p>
            <a:r>
              <a:rPr b="1"/>
              <a:t>Robust New Business Pipeline</a:t>
            </a:r>
            <a:r>
              <a:rPr b="0"/>
              <a:t> highlighted by record order wins totaling </a:t>
            </a:r>
            <a:r>
              <a:rPr b="1"/>
              <a:t>INR 115 crore</a:t>
            </a:r>
            <a:r>
              <a:rPr b="0"/>
              <a:t> in the most recent fiscal year.</a:t>
            </a:r>
          </a:p>
        </p:txBody>
      </p:sp>
      <p:sp>
        <p:nvSpPr>
          <p:cNvPr id="7" name="Text Placeholder 6"/>
          <p:cNvSpPr>
            <a:spLocks noGrp="1"/>
          </p:cNvSpPr>
          <p:nvPr>
            <p:ph type="body" sz="quarter" idx="15"/>
          </p:nvPr>
        </p:nvSpPr>
        <p:spPr/>
        <p:txBody>
          <a:bodyPr/>
          <a:lstStyle/>
          <a:p>
            <a:r>
              <a:rPr b="1"/>
              <a:t>Advanced R&amp;D Infrastructure</a:t>
            </a:r>
            <a:r>
              <a:rPr b="0"/>
              <a:t> featuring state-of-the-art metallurgical and metrological laboratories with IATF 16949 certification.</a:t>
            </a:r>
          </a:p>
        </p:txBody>
      </p:sp>
      <p:pic>
        <p:nvPicPr>
          <p:cNvPr id="8" name="Picture Placeholder 7" descr="Industry.jpeg"/>
          <p:cNvPicPr>
            <a:picLocks noGrp="1" noChangeAspect="1"/>
          </p:cNvPicPr>
          <p:nvPr>
            <p:ph type="pic" sz="quarter" idx="16"/>
          </p:nvPr>
        </p:nvPicPr>
        <p:blipFill>
          <a:blip r:embed="rId2"/>
          <a:srcRect l="7725" r="7725"/>
          <a:stretch>
            <a:fillRect/>
          </a:stretch>
        </p:blip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453</Words>
  <Application>Microsoft Macintosh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Rockwell</vt:lpstr>
      <vt:lpstr>Wingdings</vt:lpstr>
      <vt:lpstr>Default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25</cp:revision>
  <dcterms:created xsi:type="dcterms:W3CDTF">2026-01-24T04:48:24Z</dcterms:created>
  <dcterms:modified xsi:type="dcterms:W3CDTF">2026-02-07T08:08:51Z</dcterms:modified>
</cp:coreProperties>
</file>
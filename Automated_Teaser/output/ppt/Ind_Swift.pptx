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0105"/>
    <p:restoredTop sz="94733"/>
  </p:normalViewPr>
  <p:slideViewPr>
    <p:cSldViewPr snapToGrid="0">
      <p:cViewPr varScale="1">
        <p:scale>
          <a:sx n="97" d="100"/>
          <a:sy n="97" d="100"/>
        </p:scale>
        <p:origin x="232"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ANNUAL REVENUE</c:v>
                </c:pt>
              </c:strCache>
            </c:strRef>
          </c:tx>
          <c:cat>
            <c:strRef>
              <c:f>Sheet1!$A$2:$A$4</c:f>
              <c:strCache>
                <c:ptCount val="3"/>
                <c:pt idx="0">
                  <c:v>2022</c:v>
                </c:pt>
                <c:pt idx="1">
                  <c:v>2023</c:v>
                </c:pt>
                <c:pt idx="2">
                  <c:v>2024</c:v>
                </c:pt>
              </c:strCache>
            </c:strRef>
          </c:cat>
          <c:val>
            <c:numRef>
              <c:f>Sheet1!$B$2:$B$4</c:f>
              <c:numCache>
                <c:formatCode>General</c:formatCode>
                <c:ptCount val="3"/>
                <c:pt idx="0">
                  <c:v>4017.6</c:v>
                </c:pt>
                <c:pt idx="1">
                  <c:v>4109.58</c:v>
                </c:pt>
                <c:pt idx="2">
                  <c:v>5022.48</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OWNERSHIP MIX</c:v>
                </c:pt>
              </c:strCache>
            </c:strRef>
          </c:tx>
          <c:cat>
            <c:strRef>
              <c:f>Sheet1!$A$2:$A$3</c:f>
              <c:strCache>
                <c:ptCount val="2"/>
                <c:pt idx="0">
                  <c:v>Promoters</c:v>
                </c:pt>
                <c:pt idx="1">
                  <c:v>Non-Promoters</c:v>
                </c:pt>
              </c:strCache>
            </c:strRef>
          </c:cat>
          <c:val>
            <c:numRef>
              <c:f>Sheet1!$B$2:$B$3</c:f>
              <c:numCache>
                <c:formatCode>General</c:formatCode>
                <c:ptCount val="2"/>
                <c:pt idx="0">
                  <c:v>55.6</c:v>
                </c:pt>
                <c:pt idx="1">
                  <c:v>44.4</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
        <p:nvSpPr>
          <p:cNvPr id="14" name="TextBox 13">
            <a:extLst>
              <a:ext uri="{FF2B5EF4-FFF2-40B4-BE49-F238E27FC236}">
                <a16:creationId xmlns:a16="http://schemas.microsoft.com/office/drawing/2014/main" id="{4D7C432F-8F12-73FA-3AE0-B0185A083F0C}"/>
              </a:ext>
            </a:extLst>
          </p:cNvPr>
          <p:cNvSpPr txBox="1"/>
          <p:nvPr userDrawn="1"/>
        </p:nvSpPr>
        <p:spPr>
          <a:xfrm>
            <a:off x="204426" y="816130"/>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OVERVIEW</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The Company is a research-driven pharmaceutical entity focusing on </a:t>
            </a:r>
            <a:r>
              <a:rPr b="1"/>
              <a:t>Product Segments</a:t>
            </a:r>
            <a:r>
              <a:rPr b="0"/>
              <a:t> like APIs, Phyto-Chemicals, and finished formulations.</a:t>
            </a:r>
          </a:p>
          <a:p>
            <a:r>
              <a:rPr b="0"/>
              <a:t>Serves critical </a:t>
            </a:r>
            <a:r>
              <a:rPr b="1"/>
              <a:t>End-User Industries</a:t>
            </a:r>
            <a:r>
              <a:rPr b="0"/>
              <a:t> across 45 countries with a diverse portfolio of over 100 drug molecules.</a:t>
            </a:r>
          </a:p>
          <a:p>
            <a:r>
              <a:rPr b="0"/>
              <a:t>Maintains a robust </a:t>
            </a:r>
            <a:r>
              <a:rPr b="1"/>
              <a:t>Manufacturing Footprint</a:t>
            </a:r>
            <a:r>
              <a:rPr b="0"/>
              <a:t> with WHO-GMP certified facilities in Punjab, Jammu, and Himachal Pradesh.</a:t>
            </a:r>
          </a:p>
          <a:p>
            <a:r>
              <a:rPr b="0"/>
              <a:t>Core competencies in </a:t>
            </a:r>
            <a:r>
              <a:rPr b="1"/>
              <a:t>R&amp;D</a:t>
            </a:r>
            <a:r>
              <a:rPr b="0"/>
              <a:t> are supported by DSIR-approved centers registered with the USFDA for complex chemistry.</a:t>
            </a:r>
          </a:p>
          <a:p>
            <a:r>
              <a:rPr b="0"/>
              <a:t>Operating through multiple divisions including </a:t>
            </a:r>
            <a:r>
              <a:rPr b="1"/>
              <a:t>Noble, Nova, and Ethical</a:t>
            </a:r>
            <a:r>
              <a:rPr b="0"/>
              <a:t>, ensuring deep market penetration.</a:t>
            </a:r>
          </a:p>
        </p:txBody>
      </p:sp>
      <p:sp>
        <p:nvSpPr>
          <p:cNvPr id="3" name="Text Placeholder 2"/>
          <p:cNvSpPr>
            <a:spLocks noGrp="1"/>
          </p:cNvSpPr>
          <p:nvPr>
            <p:ph type="body" idx="11" sz="quarter"/>
          </p:nvPr>
        </p:nvSpPr>
        <p:spPr/>
        <p:txBody>
          <a:bodyPr/>
          <a:lstStyle/>
          <a:p>
            <a:r>
              <a:rPr b="1"/>
              <a:t>Ethical &amp; Generic Divisions:</a:t>
            </a:r>
            <a:r>
              <a:rPr b="0"/>
              <a:t> Comprehensive range of formulations across therapeutic areas like CNS, Cardiovascular, and Respiratory systems.</a:t>
            </a:r>
          </a:p>
          <a:p>
            <a:r>
              <a:rPr b="1"/>
              <a:t>API &amp; Global Business Unit:</a:t>
            </a:r>
            <a:r>
              <a:rPr b="0"/>
              <a:t> High-scale manufacturing and export of Active Pharmaceutical Ingredients to major international markets.</a:t>
            </a:r>
          </a:p>
          <a:p>
            <a:r>
              <a:rPr b="1"/>
              <a:t>Noble &amp; Nova Divisions:</a:t>
            </a:r>
            <a:r>
              <a:rPr b="0"/>
              <a:t> Specialized therapeutic segments focusing on high-growth niche medical requirements and institutional supplies.</a:t>
            </a:r>
          </a:p>
        </p:txBody>
      </p:sp>
      <p:pic>
        <p:nvPicPr>
          <p:cNvPr id="4" name="Picture Placeholder 3" descr="FDA.png"/>
          <p:cNvPicPr>
            <a:picLocks noGrp="1" noChangeAspect="1"/>
          </p:cNvPicPr>
          <p:nvPr>
            <p:ph type="pic" idx="12" sz="quarter"/>
          </p:nvPr>
        </p:nvPicPr>
        <p:blipFill>
          <a:blip r:embed="rId2"/>
          <a:srcRect t="4517" b="4517"/>
          <a:stretch>
            <a:fillRect/>
          </a:stretch>
        </p:blipFill>
        <p:spPr/>
      </p:pic>
      <p:pic>
        <p:nvPicPr>
          <p:cNvPr id="5" name="Picture Placeholder 4" descr="MHRA - UK.png"/>
          <p:cNvPicPr>
            <a:picLocks noGrp="1" noChangeAspect="1"/>
          </p:cNvPicPr>
          <p:nvPr>
            <p:ph type="pic" idx="13" sz="quarter"/>
          </p:nvPr>
        </p:nvPicPr>
        <p:blipFill>
          <a:blip r:embed="rId3"/>
          <a:srcRect l="16126" r="16126"/>
          <a:stretch>
            <a:fillRect/>
          </a:stretch>
        </p:blipFill>
        <p:spPr/>
      </p:pic>
      <p:pic>
        <p:nvPicPr>
          <p:cNvPr id="6" name="Picture Placeholder 5" descr="TGA - Australia.jpeg"/>
          <p:cNvPicPr>
            <a:picLocks noGrp="1" noChangeAspect="1"/>
          </p:cNvPicPr>
          <p:nvPr>
            <p:ph type="pic" idx="14" sz="quarter"/>
          </p:nvPr>
        </p:nvPicPr>
        <p:blipFill>
          <a:blip r:embed="rId4"/>
          <a:srcRect t="9283" b="9283"/>
          <a:stretch>
            <a:fillRect/>
          </a:stretch>
        </p:blipFill>
        <p:spPr/>
      </p:pic>
      <p:sp>
        <p:nvSpPr>
          <p:cNvPr id="7" name="Text Placeholder 6"/>
          <p:cNvSpPr>
            <a:spLocks noGrp="1"/>
          </p:cNvSpPr>
          <p:nvPr>
            <p:ph type="body" idx="15" sz="quarter"/>
          </p:nvPr>
        </p:nvSpPr>
        <p:spPr/>
        <p:txBody>
          <a:bodyPr/>
          <a:lstStyle/>
          <a:p>
            <a:r>
              <a:rPr b="0"/>
              <a:t>Leading Indian pharmaceutical manufacturer with over </a:t>
            </a:r>
            <a:r>
              <a:rPr b="1"/>
              <a:t>35 years</a:t>
            </a:r>
            <a:r>
              <a:rPr b="0"/>
              <a:t> of expertise in APIs, formulations, and herbal products.</a:t>
            </a:r>
          </a:p>
          <a:p>
            <a:r>
              <a:rPr b="0"/>
              <a:t>Global footprint spanning </a:t>
            </a:r>
            <a:r>
              <a:rPr b="1"/>
              <a:t>45 countries</a:t>
            </a:r>
            <a:r>
              <a:rPr b="0"/>
              <a:t> with marquee regulatory approvals from </a:t>
            </a:r>
            <a:r>
              <a:rPr b="1"/>
              <a:t>USFDA, TGA-Australia, and MHRA-UK</a:t>
            </a:r>
            <a:r>
              <a:rPr b="0"/>
              <a:t>.</a:t>
            </a:r>
          </a:p>
        </p:txBody>
      </p:sp>
      <p:pic>
        <p:nvPicPr>
          <p:cNvPr id="8" name="Picture Placeholder 7" descr="Factory_Manufacturing_Industry.png"/>
          <p:cNvPicPr>
            <a:picLocks noGrp="1" noChangeAspect="1"/>
          </p:cNvPicPr>
          <p:nvPr>
            <p:ph type="pic" idx="16" sz="quarter"/>
          </p:nvPr>
        </p:nvPicPr>
        <p:blipFill>
          <a:blip r:embed="rId5"/>
          <a:srcRect l="2038" r="2038"/>
          <a:stretch>
            <a:fillRect/>
          </a:stretch>
        </p:blipFill>
        <p:spPr/>
      </p:pic>
      <p:pic>
        <p:nvPicPr>
          <p:cNvPr id="9" name="Picture Placeholder 8" descr="Ecofriendly_Plant.png"/>
          <p:cNvPicPr>
            <a:picLocks noGrp="1" noChangeAspect="1"/>
          </p:cNvPicPr>
          <p:nvPr>
            <p:ph type="pic" idx="17" sz="quarter"/>
          </p:nvPr>
        </p:nvPicPr>
        <p:blipFill>
          <a:blip r:embed="rId6"/>
          <a:srcRect l="2038" r="2038"/>
          <a:stretch>
            <a:fillRect/>
          </a:stretch>
        </p:blipFill>
        <p:spPr/>
      </p:pic>
      <p:pic>
        <p:nvPicPr>
          <p:cNvPr id="10" name="Picture Placeholder 9" descr="Graph_Growth.png"/>
          <p:cNvPicPr>
            <a:picLocks noGrp="1" noChangeAspect="1"/>
          </p:cNvPicPr>
          <p:nvPr>
            <p:ph type="pic" idx="18" sz="quarter"/>
          </p:nvPr>
        </p:nvPicPr>
        <p:blipFill>
          <a:blip r:embed="rId7"/>
          <a:srcRect l="2038" r="2038"/>
          <a:stretch>
            <a:fillRect/>
          </a:stretch>
        </p:blipFill>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Revenue scaled significantly to </a:t>
            </a:r>
            <a:r>
              <a:rPr b="1"/>
              <a:t>₹5,022.48M</a:t>
            </a:r>
            <a:r>
              <a:rPr b="0"/>
              <a:t> in FY2024.</a:t>
            </a:r>
          </a:p>
          <a:p>
            <a:r>
              <a:rPr b="0"/>
              <a:t>Consistently increasing turnover reflects expanding </a:t>
            </a:r>
            <a:r>
              <a:rPr b="1"/>
              <a:t>Global Business Unit</a:t>
            </a:r>
            <a:r>
              <a:rPr b="0"/>
              <a:t> contributions.</a:t>
            </a:r>
          </a:p>
          <a:p>
            <a:r>
              <a:rPr b="0"/>
              <a:t>Strategic shift towards high-value formulations is driving top-line momentum.</a:t>
            </a:r>
          </a:p>
          <a:p>
            <a:r>
              <a:rPr b="0"/>
              <a:t>The Company targets </a:t>
            </a:r>
            <a:r>
              <a:rPr b="1"/>
              <a:t>40% growth</a:t>
            </a:r>
            <a:r>
              <a:rPr b="0"/>
              <a:t> in sales following current capacity expansions.</a:t>
            </a:r>
          </a:p>
        </p:txBody>
      </p:sp>
      <p:sp>
        <p:nvSpPr>
          <p:cNvPr id="5" name="Text Placeholder 4"/>
          <p:cNvSpPr>
            <a:spLocks noGrp="1"/>
          </p:cNvSpPr>
          <p:nvPr>
            <p:ph type="body" idx="13" sz="quarter"/>
          </p:nvPr>
        </p:nvSpPr>
        <p:spPr/>
        <p:txBody>
          <a:bodyPr/>
          <a:lstStyle/>
          <a:p>
            <a:r>
              <a:rPr b="0"/>
              <a:t>Strong </a:t>
            </a:r>
            <a:r>
              <a:rPr b="1"/>
              <a:t>Promoter holding of 55.6%</a:t>
            </a:r>
            <a:r>
              <a:rPr b="0"/>
              <a:t> ensures stability and long-term strategic focus.</a:t>
            </a:r>
          </a:p>
          <a:p>
            <a:r>
              <a:rPr b="0"/>
              <a:t>Substantial </a:t>
            </a:r>
            <a:r>
              <a:rPr b="1"/>
              <a:t>44.4% Non-Promoter stake</a:t>
            </a:r>
            <a:r>
              <a:rPr b="0"/>
              <a:t> indicates a healthy secondary market presence.</a:t>
            </a:r>
          </a:p>
          <a:p>
            <a:r>
              <a:rPr b="0"/>
              <a:t>Increasing FII interest suggests rising institutional confidence in the API and generic model.</a:t>
            </a:r>
          </a:p>
          <a:p>
            <a:r>
              <a:rPr b="0"/>
              <a:t>Ownership structure remains balanced to support future equity-based capital raising.</a:t>
            </a:r>
          </a:p>
        </p:txBody>
      </p:sp>
      <p:pic>
        <p:nvPicPr>
          <p:cNvPr id="6" name="Picture Placeholder 5" descr="Cyber_Security_Hacking_Safety.png"/>
          <p:cNvPicPr>
            <a:picLocks noGrp="1" noChangeAspect="1"/>
          </p:cNvPicPr>
          <p:nvPr>
            <p:ph type="pic" idx="16" sz="quarter"/>
          </p:nvPr>
        </p:nvPicPr>
        <p:blipFill>
          <a:blip r:embed="rId5"/>
          <a:srcRect l="2038" r="2038"/>
          <a:stretch>
            <a:fillRect/>
          </a:stretch>
        </p:blipFill>
        <p:spPr/>
      </p:pic>
      <p:pic>
        <p:nvPicPr>
          <p:cNvPr id="7" name="Picture Placeholder 6" descr="Global_Internet.png"/>
          <p:cNvPicPr>
            <a:picLocks noGrp="1" noChangeAspect="1"/>
          </p:cNvPicPr>
          <p:nvPr>
            <p:ph type="pic" idx="17" sz="quarter"/>
          </p:nvPr>
        </p:nvPicPr>
        <p:blipFill>
          <a:blip r:embed="rId4"/>
          <a:srcRect l="2038" r="2038"/>
          <a:stretch>
            <a:fillRect/>
          </a:stretch>
        </p:blipFill>
        <p:spPr/>
      </p:pic>
      <p:sp>
        <p:nvSpPr>
          <p:cNvPr id="8" name="Text Placeholder 7"/>
          <p:cNvSpPr>
            <a:spLocks noGrp="1"/>
          </p:cNvSpPr>
          <p:nvPr>
            <p:ph type="body" idx="18" sz="quarter"/>
          </p:nvPr>
        </p:nvSpPr>
        <p:spPr/>
        <p:txBody>
          <a:bodyPr/>
          <a:lstStyle/>
          <a:p>
            <a:r>
              <a:rPr b="1"/>
              <a:t>REVENUE GROWTH</a:t>
            </a:r>
          </a:p>
        </p:txBody>
      </p:sp>
      <p:sp>
        <p:nvSpPr>
          <p:cNvPr id="9" name="Text Placeholder 8"/>
          <p:cNvSpPr>
            <a:spLocks noGrp="1"/>
          </p:cNvSpPr>
          <p:nvPr>
            <p:ph type="body" idx="19" sz="quarter"/>
          </p:nvPr>
        </p:nvSpPr>
        <p:spPr/>
        <p:txBody>
          <a:bodyPr/>
          <a:lstStyle/>
          <a:p>
            <a:r>
              <a:rPr b="1"/>
              <a:t>SHAREHOLDING STRUCTURE</a:t>
            </a:r>
          </a:p>
        </p:txBody>
      </p:sp>
      <p:sp>
        <p:nvSpPr>
          <p:cNvPr id="10" name="Text Placeholder 9"/>
          <p:cNvSpPr>
            <a:spLocks noGrp="1"/>
          </p:cNvSpPr>
          <p:nvPr>
            <p:ph type="body" idx="20" sz="quarter"/>
          </p:nvPr>
        </p:nvSpPr>
        <p:spPr/>
        <p:txBody>
          <a:bodyPr/>
          <a:lstStyle/>
          <a:p>
            <a:r>
              <a:rPr b="0"/>
              <a:t>FINANCIAL PERFORMANCE AND MARGIN ANALYSIS</a:t>
            </a:r>
          </a:p>
        </p:txBody>
      </p:sp>
      <p:graphicFrame>
        <p:nvGraphicFramePr>
          <p:cNvPr id="11" name="Chart 10"/>
          <p:cNvGraphicFramePr>
            <a:graphicFrameLocks noGrp="1"/>
          </p:cNvGraphicFramePr>
          <p:nvPr/>
        </p:nvGraphicFramePr>
        <p:xfrm>
          <a:off x="258762" y="1212058"/>
          <a:ext cx="5850553" cy="2710656"/>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6293423" y="4203279"/>
          <a:ext cx="5752516" cy="241701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Excellent </a:t>
            </a:r>
            <a:r>
              <a:rPr b="1"/>
              <a:t>Compliance Track Record</a:t>
            </a:r>
            <a:r>
              <a:rPr b="0"/>
              <a:t> with multiple plant approvals from USFDA, EDQM, and ANVISA.</a:t>
            </a:r>
          </a:p>
        </p:txBody>
      </p:sp>
      <p:sp>
        <p:nvSpPr>
          <p:cNvPr id="3" name="Text Placeholder 2"/>
          <p:cNvSpPr>
            <a:spLocks noGrp="1"/>
          </p:cNvSpPr>
          <p:nvPr>
            <p:ph type="body" idx="11" sz="quarter"/>
          </p:nvPr>
        </p:nvSpPr>
        <p:spPr/>
        <p:txBody>
          <a:bodyPr/>
          <a:lstStyle/>
          <a:p>
            <a:r>
              <a:rPr b="0"/>
              <a:t>Specialized expertise in </a:t>
            </a:r>
            <a:r>
              <a:rPr b="1"/>
              <a:t>Complex Chemistry</a:t>
            </a:r>
            <a:r>
              <a:rPr b="0"/>
              <a:t> for the production of varied therapeutic molecules.</a:t>
            </a:r>
          </a:p>
        </p:txBody>
      </p:sp>
      <p:sp>
        <p:nvSpPr>
          <p:cNvPr id="4" name="Text Placeholder 3"/>
          <p:cNvSpPr>
            <a:spLocks noGrp="1"/>
          </p:cNvSpPr>
          <p:nvPr>
            <p:ph type="body" idx="12" sz="quarter"/>
          </p:nvPr>
        </p:nvSpPr>
        <p:spPr/>
        <p:txBody>
          <a:bodyPr/>
          <a:lstStyle/>
          <a:p>
            <a:r>
              <a:rPr b="0"/>
              <a:t>Strong </a:t>
            </a:r>
            <a:r>
              <a:rPr b="1"/>
              <a:t>Molecule Pipeline</a:t>
            </a:r>
            <a:r>
              <a:rPr b="0"/>
              <a:t> addressing chronic conditions in CNS, Gastrointestinal, and Diabetic care.</a:t>
            </a:r>
          </a:p>
        </p:txBody>
      </p:sp>
      <p:sp>
        <p:nvSpPr>
          <p:cNvPr id="5" name="Text Placeholder 4"/>
          <p:cNvSpPr>
            <a:spLocks noGrp="1"/>
          </p:cNvSpPr>
          <p:nvPr>
            <p:ph type="body" idx="13" sz="quarter"/>
          </p:nvPr>
        </p:nvSpPr>
        <p:spPr/>
        <p:txBody>
          <a:bodyPr/>
          <a:lstStyle/>
          <a:p>
            <a:r>
              <a:rPr b="0"/>
              <a:t>Preferred vendor status for global leaders including </a:t>
            </a:r>
            <a:r>
              <a:rPr b="1"/>
              <a:t>TEVA, Mylan, and Key Management</a:t>
            </a:r>
            <a:r>
              <a:rPr b="0"/>
              <a:t>.</a:t>
            </a:r>
          </a:p>
        </p:txBody>
      </p:sp>
      <p:sp>
        <p:nvSpPr>
          <p:cNvPr id="6" name="Text Placeholder 5"/>
          <p:cNvSpPr>
            <a:spLocks noGrp="1"/>
          </p:cNvSpPr>
          <p:nvPr>
            <p:ph type="body" idx="14" sz="quarter"/>
          </p:nvPr>
        </p:nvSpPr>
        <p:spPr/>
        <p:txBody>
          <a:bodyPr/>
          <a:lstStyle/>
          <a:p>
            <a:r>
              <a:rPr b="0"/>
              <a:t>Planned </a:t>
            </a:r>
            <a:r>
              <a:rPr b="1"/>
              <a:t>₹100 Crore Expansion</a:t>
            </a:r>
            <a:r>
              <a:rPr b="0"/>
              <a:t> to triple manufacturing capacity in the next nine months.</a:t>
            </a:r>
          </a:p>
        </p:txBody>
      </p:sp>
      <p:sp>
        <p:nvSpPr>
          <p:cNvPr id="7" name="Text Placeholder 6"/>
          <p:cNvSpPr>
            <a:spLocks noGrp="1"/>
          </p:cNvSpPr>
          <p:nvPr>
            <p:ph type="body" idx="15" sz="quarter"/>
          </p:nvPr>
        </p:nvSpPr>
        <p:spPr/>
        <p:txBody>
          <a:bodyPr/>
          <a:lstStyle/>
          <a:p>
            <a:r>
              <a:rPr b="0"/>
              <a:t>Advanced </a:t>
            </a:r>
            <a:r>
              <a:rPr b="1"/>
              <a:t>R&amp;D Capabilities</a:t>
            </a:r>
            <a:r>
              <a:rPr b="0"/>
              <a:t> recognized by DSIR with dedicated centers for innovative formulations.</a:t>
            </a:r>
          </a:p>
        </p:txBody>
      </p:sp>
      <p:pic>
        <p:nvPicPr>
          <p:cNvPr id="8" name="Picture Placeholder 7" descr="pharma.jpeg"/>
          <p:cNvPicPr>
            <a:picLocks noGrp="1" noChangeAspect="1"/>
          </p:cNvPicPr>
          <p:nvPr>
            <p:ph type="pic" idx="16" sz="quarter"/>
          </p:nvPr>
        </p:nvPicPr>
        <p:blipFill>
          <a:blip r:embed="rId2"/>
          <a:srcRect l="16488" r="16488"/>
          <a:stretch>
            <a:fillRect/>
          </a:stretch>
        </p:blipFill>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26</cp:revision>
  <dcterms:created xsi:type="dcterms:W3CDTF">2026-01-24T04:48:24Z</dcterms:created>
  <dcterms:modified xsi:type="dcterms:W3CDTF">2026-02-07T08:14:45Z</dcterms:modified>
</cp:coreProperties>
</file>
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7"/>
    <p:sldId id="258" r:id="rId8"/>
    <p:sldId id="259" r:id="rId9"/>
    <p:sldId id="260"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7073"/>
    <p:restoredTop sz="94733"/>
  </p:normalViewPr>
  <p:slideViewPr>
    <p:cSldViewPr snapToGrid="0">
      <p:cViewPr varScale="1">
        <p:scale>
          <a:sx n="102" d="100"/>
          <a:sy n="102" d="100"/>
        </p:scale>
        <p:origin x="20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 GROWTH</c:v>
                </c:pt>
              </c:strCache>
            </c:strRef>
          </c:tx>
          <c:cat>
            <c:strRef>
              <c:f>Sheet1!$A$2:$A$5</c:f>
              <c:strCache>
                <c:ptCount val="4"/>
                <c:pt idx="0">
                  <c:v>2022</c:v>
                </c:pt>
                <c:pt idx="1">
                  <c:v>2023</c:v>
                </c:pt>
                <c:pt idx="2">
                  <c:v>2024</c:v>
                </c:pt>
                <c:pt idx="3">
                  <c:v>2025</c:v>
                </c:pt>
              </c:strCache>
            </c:strRef>
          </c:cat>
          <c:val>
            <c:numRef>
              <c:f>Sheet1!$B$2:$B$5</c:f>
              <c:numCache>
                <c:formatCode>General</c:formatCode>
                <c:ptCount val="4"/>
                <c:pt idx="0">
                  <c:v>68.2</c:v>
                </c:pt>
                <c:pt idx="1">
                  <c:v>253</c:v>
                </c:pt>
                <c:pt idx="2">
                  <c:v>611</c:v>
                </c:pt>
                <c:pt idx="3">
                  <c:v>959</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OWNERSHIP STRUCTURE</c:v>
                </c:pt>
              </c:strCache>
            </c:strRef>
          </c:tx>
          <c:cat>
            <c:strRef>
              <c:f>Sheet1!$A$2:$A$3</c:f>
              <c:strCache>
                <c:ptCount val="2"/>
                <c:pt idx="0">
                  <c:v>Promoters</c:v>
                </c:pt>
                <c:pt idx="1">
                  <c:v>Non-Promoters</c:v>
                </c:pt>
              </c:strCache>
            </c:strRef>
          </c:cat>
          <c:val>
            <c:numRef>
              <c:f>Sheet1!$B$2:$B$3</c:f>
              <c:numCache>
                <c:formatCode>General</c:formatCode>
                <c:ptCount val="2"/>
                <c:pt idx="0">
                  <c:v>70.1</c:v>
                </c:pt>
                <c:pt idx="1">
                  <c:v>29.9</c:v>
                </c:pt>
              </c:numCache>
            </c:numRef>
          </c:val>
        </c:ser>
        <c:dLbls>
          <c:dLblPos val="bestFit"/>
          <c:showLegendKey val="0"/>
          <c:showVal val="1"/>
          <c:showCatName val="1"/>
          <c:showSerName val="0"/>
          <c:showPercent val="0"/>
          <c:showBubbleSize val="0"/>
          <c:showLeaderLines val="1"/>
        </c:dLbls>
      </c:pieChart>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AND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295570"/>
            <a:ext cx="8137412"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54287" y="1282281"/>
            <a:ext cx="8129186" cy="29778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204426" y="4730679"/>
            <a:ext cx="8081252" cy="19088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68804" y="1368192"/>
            <a:ext cx="7361140" cy="2783825"/>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791129"/>
            <a:ext cx="7298353" cy="1692486"/>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620105"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CERTIFICATIONS/AWARDS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2657802"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676515" y="1354712"/>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662611" y="4778729"/>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
        <p:nvSpPr>
          <p:cNvPr id="28" name="Title 1">
            <a:extLst>
              <a:ext uri="{FF2B5EF4-FFF2-40B4-BE49-F238E27FC236}">
                <a16:creationId xmlns:a16="http://schemas.microsoft.com/office/drawing/2014/main" id="{D8F8B44A-7F85-77D9-2043-31575F8C454F}"/>
              </a:ext>
            </a:extLst>
          </p:cNvPr>
          <p:cNvSpPr>
            <a:spLocks noGrp="1"/>
          </p:cNvSpPr>
          <p:nvPr>
            <p:ph type="title" hasCustomPrompt="1"/>
          </p:nvPr>
        </p:nvSpPr>
        <p:spPr>
          <a:xfrm>
            <a:off x="154287" y="767310"/>
            <a:ext cx="8129173" cy="475937"/>
          </a:xfrm>
        </p:spPr>
        <p:txBody>
          <a:bodyPr/>
          <a:lstStyle>
            <a:lvl1pPr>
              <a:defRPr b="1">
                <a:solidFill>
                  <a:schemeClr val="tx1"/>
                </a:solidFill>
                <a:latin typeface="Arial" panose="020B0604020202020204" pitchFamily="34" charset="0"/>
                <a:cs typeface="Arial" panose="020B0604020202020204" pitchFamily="34" charset="0"/>
              </a:defRPr>
            </a:lvl1pPr>
          </a:lstStyle>
          <a:p>
            <a:r>
              <a:rPr lang="en-GB" dirty="0"/>
              <a:t>Overview</a:t>
            </a:r>
          </a:p>
        </p:txBody>
      </p:sp>
      <p:sp>
        <p:nvSpPr>
          <p:cNvPr id="29" name="Title 2">
            <a:extLst>
              <a:ext uri="{FF2B5EF4-FFF2-40B4-BE49-F238E27FC236}">
                <a16:creationId xmlns:a16="http://schemas.microsoft.com/office/drawing/2014/main" id="{720CF06B-9487-3D5C-484F-440F7D080F41}"/>
              </a:ext>
            </a:extLst>
          </p:cNvPr>
          <p:cNvSpPr txBox="1">
            <a:spLocks/>
          </p:cNvSpPr>
          <p:nvPr userDrawn="1"/>
        </p:nvSpPr>
        <p:spPr>
          <a:xfrm>
            <a:off x="146060" y="4277770"/>
            <a:ext cx="10075084" cy="1116106"/>
          </a:xfrm>
          <a:prstGeom prst="rect">
            <a:avLst/>
          </a:prstGeom>
        </p:spPr>
        <p:txBody>
          <a:bodyPr vert="horz" lIns="91440" tIns="45720" rIns="91440" bIns="45720" rtlCol="0" anchor="t" anchorCtr="0">
            <a:noAutofit/>
          </a:bodyPr>
          <a:lstStyle>
            <a:lvl1pPr algn="l" defTabSz="685800" rtl="0" eaLnBrk="1" latinLnBrk="0" hangingPunct="1">
              <a:spcBef>
                <a:spcPct val="0"/>
              </a:spcBef>
              <a:buNone/>
              <a:defRPr sz="2700" b="1" kern="1200">
                <a:solidFill>
                  <a:schemeClr val="tx1"/>
                </a:solidFill>
                <a:latin typeface="Arial" panose="020B0604020202020204" pitchFamily="34" charset="0"/>
                <a:ea typeface="+mj-ea"/>
                <a:cs typeface="Arial" panose="020B0604020202020204" pitchFamily="34" charset="0"/>
              </a:defRPr>
            </a:lvl1pPr>
          </a:lstStyle>
          <a:p>
            <a:r>
              <a:rPr lang="en-GB" dirty="0"/>
              <a:t>Portfolio</a:t>
            </a:r>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293423" y="780377"/>
            <a:ext cx="5500858" cy="28985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242480" y="4019724"/>
            <a:ext cx="5903625" cy="25463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IN" sz="2000" b="1" kern="1200" dirty="0">
              <a:solidFill>
                <a:schemeClr val="lt1"/>
              </a:solidFill>
              <a:effectLst/>
              <a:latin typeface="Arial" panose="020B06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92373" y="707336"/>
            <a:ext cx="5953732" cy="444203"/>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293423" y="3768347"/>
            <a:ext cx="5500858"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 name="Bar Graph">
            <a:extLst>
              <a:ext uri="{FF2B5EF4-FFF2-40B4-BE49-F238E27FC236}">
                <a16:creationId xmlns:a16="http://schemas.microsoft.com/office/drawing/2014/main" id="{314BFA5B-DA44-35AB-4230-666E47503CBA}"/>
              </a:ext>
            </a:extLst>
          </p:cNvPr>
          <p:cNvSpPr>
            <a:spLocks noGrp="1"/>
          </p:cNvSpPr>
          <p:nvPr>
            <p:ph type="chart" sz="quarter" idx="10"/>
          </p:nvPr>
        </p:nvSpPr>
        <p:spPr>
          <a:xfrm>
            <a:off x="258762" y="1212058"/>
            <a:ext cx="5850553" cy="2710656"/>
          </a:xfrm>
        </p:spPr>
        <p:txBody>
          <a:bodyPr/>
          <a:lstStyle/>
          <a:p>
            <a:endParaRPr lang="en-GB"/>
          </a:p>
        </p:txBody>
      </p:sp>
      <p:sp>
        <p:nvSpPr>
          <p:cNvPr id="12" name="Pie Graph">
            <a:extLst>
              <a:ext uri="{FF2B5EF4-FFF2-40B4-BE49-F238E27FC236}">
                <a16:creationId xmlns:a16="http://schemas.microsoft.com/office/drawing/2014/main" id="{4F4B5099-C250-429F-B035-D8FD2B9191E4}"/>
              </a:ext>
            </a:extLst>
          </p:cNvPr>
          <p:cNvSpPr>
            <a:spLocks noGrp="1"/>
          </p:cNvSpPr>
          <p:nvPr>
            <p:ph type="chart" sz="quarter" idx="11"/>
          </p:nvPr>
        </p:nvSpPr>
        <p:spPr>
          <a:xfrm>
            <a:off x="6293423" y="4203279"/>
            <a:ext cx="5752516" cy="2417016"/>
          </a:xfrm>
        </p:spPr>
        <p:txBody>
          <a:bodyPr/>
          <a:lstStyle/>
          <a:p>
            <a:endParaRPr lang="en-GB"/>
          </a:p>
        </p:txBody>
      </p:sp>
      <p:sp>
        <p:nvSpPr>
          <p:cNvPr id="14" name="Bar Chart Text">
            <a:extLst>
              <a:ext uri="{FF2B5EF4-FFF2-40B4-BE49-F238E27FC236}">
                <a16:creationId xmlns:a16="http://schemas.microsoft.com/office/drawing/2014/main" id="{2DFEA1BA-A093-DDF9-3DB8-B4A28E960CDA}"/>
              </a:ext>
            </a:extLst>
          </p:cNvPr>
          <p:cNvSpPr>
            <a:spLocks noGrp="1"/>
          </p:cNvSpPr>
          <p:nvPr>
            <p:ph type="body" sz="quarter" idx="12"/>
          </p:nvPr>
        </p:nvSpPr>
        <p:spPr>
          <a:xfrm>
            <a:off x="275046" y="4095066"/>
            <a:ext cx="5376865" cy="2367518"/>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6" name="Pie Chart Text">
            <a:extLst>
              <a:ext uri="{FF2B5EF4-FFF2-40B4-BE49-F238E27FC236}">
                <a16:creationId xmlns:a16="http://schemas.microsoft.com/office/drawing/2014/main" id="{A6C93ED4-1702-7B8D-5F36-E67260FB774A}"/>
              </a:ext>
            </a:extLst>
          </p:cNvPr>
          <p:cNvSpPr>
            <a:spLocks noGrp="1"/>
          </p:cNvSpPr>
          <p:nvPr>
            <p:ph type="body" sz="quarter" idx="13"/>
          </p:nvPr>
        </p:nvSpPr>
        <p:spPr>
          <a:xfrm>
            <a:off x="6392577" y="828316"/>
            <a:ext cx="4852072" cy="276082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e Icon">
            <a:extLst>
              <a:ext uri="{FF2B5EF4-FFF2-40B4-BE49-F238E27FC236}">
                <a16:creationId xmlns:a16="http://schemas.microsoft.com/office/drawing/2014/main" id="{50C145BC-849C-7BED-8D76-9D2CBB6027C8}"/>
              </a:ext>
            </a:extLst>
          </p:cNvPr>
          <p:cNvSpPr>
            <a:spLocks noGrp="1"/>
          </p:cNvSpPr>
          <p:nvPr>
            <p:ph type="pic" sz="quarter" idx="16"/>
          </p:nvPr>
        </p:nvSpPr>
        <p:spPr>
          <a:xfrm>
            <a:off x="11126680" y="3004938"/>
            <a:ext cx="560387" cy="584200"/>
          </a:xfrm>
        </p:spPr>
        <p:txBody>
          <a:bodyPr/>
          <a:lstStyle/>
          <a:p>
            <a:endParaRPr lang="en-GB"/>
          </a:p>
        </p:txBody>
      </p:sp>
      <p:sp>
        <p:nvSpPr>
          <p:cNvPr id="11" name="Bar Icon">
            <a:extLst>
              <a:ext uri="{FF2B5EF4-FFF2-40B4-BE49-F238E27FC236}">
                <a16:creationId xmlns:a16="http://schemas.microsoft.com/office/drawing/2014/main" id="{D8485975-C325-68AD-C16C-A6ED6801C253}"/>
              </a:ext>
            </a:extLst>
          </p:cNvPr>
          <p:cNvSpPr>
            <a:spLocks noGrp="1"/>
          </p:cNvSpPr>
          <p:nvPr>
            <p:ph type="pic" sz="quarter" idx="17"/>
          </p:nvPr>
        </p:nvSpPr>
        <p:spPr>
          <a:xfrm>
            <a:off x="5548929" y="5836401"/>
            <a:ext cx="560387" cy="584200"/>
          </a:xfrm>
        </p:spPr>
        <p:txBody>
          <a:bodyPr/>
          <a:lstStyle/>
          <a:p>
            <a:endParaRPr lang="en-GB"/>
          </a:p>
        </p:txBody>
      </p:sp>
      <p:sp>
        <p:nvSpPr>
          <p:cNvPr id="17" name="Bar Chart Title">
            <a:extLst>
              <a:ext uri="{FF2B5EF4-FFF2-40B4-BE49-F238E27FC236}">
                <a16:creationId xmlns:a16="http://schemas.microsoft.com/office/drawing/2014/main" id="{9D9991A1-48D6-46D4-FBFC-5B6D1DAEA7B5}"/>
              </a:ext>
            </a:extLst>
          </p:cNvPr>
          <p:cNvSpPr>
            <a:spLocks noGrp="1"/>
          </p:cNvSpPr>
          <p:nvPr>
            <p:ph type="body" sz="quarter" idx="18"/>
          </p:nvPr>
        </p:nvSpPr>
        <p:spPr>
          <a:xfrm>
            <a:off x="388286" y="767854"/>
            <a:ext cx="5511800" cy="271463"/>
          </a:xfrm>
        </p:spPr>
        <p:txBody>
          <a:bodyPr/>
          <a:lstStyle>
            <a:lvl1pPr>
              <a:defRPr sz="2000" b="1">
                <a:solidFill>
                  <a:schemeClr val="tx1"/>
                </a:solidFill>
                <a:latin typeface="Arial" panose="020B0604020202020204" pitchFamily="34" charset="0"/>
                <a:cs typeface="Arial" panose="020B0604020202020204" pitchFamily="34" charset="0"/>
              </a:defRPr>
            </a:lvl1pPr>
            <a:lvl2pPr>
              <a:defRPr sz="2000" b="1">
                <a:solidFill>
                  <a:schemeClr val="tx1"/>
                </a:solidFill>
                <a:latin typeface="Arial" panose="020B0604020202020204" pitchFamily="34" charset="0"/>
                <a:cs typeface="Arial" panose="020B0604020202020204" pitchFamily="34" charset="0"/>
              </a:defRPr>
            </a:lvl2pPr>
            <a:lvl3pPr>
              <a:defRPr sz="2000" b="1">
                <a:solidFill>
                  <a:schemeClr val="tx1"/>
                </a:solidFill>
                <a:latin typeface="Arial" panose="020B0604020202020204" pitchFamily="34" charset="0"/>
                <a:cs typeface="Arial" panose="020B0604020202020204" pitchFamily="34" charset="0"/>
              </a:defRPr>
            </a:lvl3pPr>
            <a:lvl4pPr>
              <a:defRPr sz="2000" b="1">
                <a:solidFill>
                  <a:schemeClr val="tx1"/>
                </a:solidFill>
                <a:latin typeface="Arial" panose="020B0604020202020204" pitchFamily="34" charset="0"/>
                <a:cs typeface="Arial" panose="020B0604020202020204" pitchFamily="34" charset="0"/>
              </a:defRPr>
            </a:lvl4pPr>
            <a:lvl5pPr>
              <a:defRPr sz="2000" b="1">
                <a:solidFill>
                  <a:schemeClr val="tx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e Chart Title">
            <a:extLst>
              <a:ext uri="{FF2B5EF4-FFF2-40B4-BE49-F238E27FC236}">
                <a16:creationId xmlns:a16="http://schemas.microsoft.com/office/drawing/2014/main" id="{3AA68E73-7E2F-1CA9-2535-55E22322272D}"/>
              </a:ext>
            </a:extLst>
          </p:cNvPr>
          <p:cNvSpPr>
            <a:spLocks noGrp="1"/>
          </p:cNvSpPr>
          <p:nvPr>
            <p:ph type="body" sz="quarter" idx="19"/>
          </p:nvPr>
        </p:nvSpPr>
        <p:spPr>
          <a:xfrm>
            <a:off x="6343529" y="3764130"/>
            <a:ext cx="5173662" cy="342900"/>
          </a:xfrm>
        </p:spPr>
        <p:txBody>
          <a:bodyPr/>
          <a:lstStyle>
            <a:lvl1pPr>
              <a:defRPr sz="2000" b="1">
                <a:solidFill>
                  <a:schemeClr val="tx1"/>
                </a:solidFill>
                <a:latin typeface="Arial" panose="020B0604020202020204" pitchFamily="34" charset="0"/>
                <a:cs typeface="Arial" panose="020B0604020202020204" pitchFamily="34" charset="0"/>
              </a:defRPr>
            </a:lvl1pPr>
            <a:lvl2pPr>
              <a:defRPr b="1">
                <a:solidFill>
                  <a:schemeClr val="tx1"/>
                </a:solidFill>
                <a:latin typeface="Arial" panose="020B0604020202020204" pitchFamily="34" charset="0"/>
                <a:cs typeface="Arial" panose="020B0604020202020204" pitchFamily="34" charset="0"/>
              </a:defRPr>
            </a:lvl2pPr>
            <a:lvl3pPr>
              <a:defRPr b="1">
                <a:solidFill>
                  <a:schemeClr val="tx1"/>
                </a:solidFill>
                <a:latin typeface="Arial" panose="020B0604020202020204" pitchFamily="34" charset="0"/>
                <a:cs typeface="Arial" panose="020B0604020202020204" pitchFamily="34" charset="0"/>
              </a:defRPr>
            </a:lvl3pPr>
            <a:lvl4pPr>
              <a:defRPr b="1">
                <a:solidFill>
                  <a:schemeClr val="tx1"/>
                </a:solidFill>
                <a:latin typeface="Arial" panose="020B0604020202020204" pitchFamily="34" charset="0"/>
                <a:cs typeface="Arial" panose="020B0604020202020204" pitchFamily="34" charset="0"/>
              </a:defRPr>
            </a:lvl4pPr>
            <a:lvl5pPr>
              <a:defRPr b="1">
                <a:solidFill>
                  <a:schemeClr val="tx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1" name="Title">
            <a:extLst>
              <a:ext uri="{FF2B5EF4-FFF2-40B4-BE49-F238E27FC236}">
                <a16:creationId xmlns:a16="http://schemas.microsoft.com/office/drawing/2014/main" id="{D99BE25C-6F4A-E4EC-288F-86E2C1351AFD}"/>
              </a:ext>
            </a:extLst>
          </p:cNvPr>
          <p:cNvSpPr>
            <a:spLocks noGrp="1"/>
          </p:cNvSpPr>
          <p:nvPr>
            <p:ph type="body" sz="quarter" idx="20"/>
          </p:nvPr>
        </p:nvSpPr>
        <p:spPr>
          <a:xfrm>
            <a:off x="192088" y="0"/>
            <a:ext cx="9063037" cy="476250"/>
          </a:xfrm>
        </p:spPr>
        <p:txBody>
          <a:bodyPr/>
          <a:lstStyle>
            <a:lvl1pPr>
              <a:defRPr sz="2000" b="1">
                <a:solidFill>
                  <a:schemeClr val="bg1"/>
                </a:solidFill>
                <a:latin typeface="Arial" panose="020B0604020202020204" pitchFamily="34" charset="0"/>
                <a:cs typeface="Arial" panose="020B0604020202020204" pitchFamily="34" charset="0"/>
              </a:defRPr>
            </a:lvl1pPr>
            <a:lvl2pPr>
              <a:defRPr sz="2000" b="1">
                <a:solidFill>
                  <a:schemeClr val="bg1"/>
                </a:solidFill>
                <a:latin typeface="Arial" panose="020B0604020202020204" pitchFamily="34" charset="0"/>
                <a:cs typeface="Arial" panose="020B0604020202020204" pitchFamily="34" charset="0"/>
              </a:defRPr>
            </a:lvl2pPr>
            <a:lvl3pPr>
              <a:defRPr sz="2000" b="1">
                <a:solidFill>
                  <a:schemeClr val="bg1"/>
                </a:solidFill>
                <a:latin typeface="Arial" panose="020B0604020202020204" pitchFamily="34" charset="0"/>
                <a:cs typeface="Arial" panose="020B0604020202020204" pitchFamily="34" charset="0"/>
              </a:defRPr>
            </a:lvl3pPr>
            <a:lvl4pPr>
              <a:defRPr sz="2000" b="1">
                <a:solidFill>
                  <a:schemeClr val="bg1"/>
                </a:solidFill>
                <a:latin typeface="Arial" panose="020B0604020202020204" pitchFamily="34" charset="0"/>
                <a:cs typeface="Arial" panose="020B0604020202020204" pitchFamily="34" charset="0"/>
              </a:defRPr>
            </a:lvl4pPr>
            <a:lvl5pPr>
              <a:defRPr sz="2000" b="1">
                <a:solidFill>
                  <a:schemeClr val="bg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2/7/26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Operates the </a:t>
            </a:r>
            <a:r>
              <a:rPr b="1"/>
              <a:t>ConnPlex</a:t>
            </a:r>
            <a:r>
              <a:rPr b="0"/>
              <a:t> brand, a fast-growing multiplex chain focused on premium yet affordable cinematic experiences.</a:t>
            </a:r>
          </a:p>
          <a:p>
            <a:r>
              <a:rPr b="0"/>
              <a:t>Utilizes a smart cinema model with </a:t>
            </a:r>
            <a:r>
              <a:rPr b="1"/>
              <a:t>88 screens</a:t>
            </a:r>
            <a:r>
              <a:rPr b="0"/>
              <a:t> and 7,307 ultra-comfort seats across a 25-city network.</a:t>
            </a:r>
          </a:p>
          <a:p>
            <a:r>
              <a:rPr b="0"/>
              <a:t>Revenue streams are diversified across </a:t>
            </a:r>
            <a:r>
              <a:rPr b="1"/>
              <a:t>box office sales, F&amp;B services, and high-margin screen advertising</a:t>
            </a:r>
            <a:r>
              <a:rPr b="0"/>
              <a:t>.</a:t>
            </a:r>
          </a:p>
          <a:p>
            <a:r>
              <a:rPr b="0"/>
              <a:t>Strategic expansion into the </a:t>
            </a:r>
            <a:r>
              <a:rPr b="1"/>
              <a:t>Canadian market</a:t>
            </a:r>
            <a:r>
              <a:rPr b="0"/>
              <a:t> highlights a global vision for the brand's scalability.</a:t>
            </a:r>
          </a:p>
          <a:p>
            <a:r>
              <a:rPr b="0"/>
              <a:t>Focuses on </a:t>
            </a:r>
            <a:r>
              <a:rPr b="1"/>
              <a:t>outsourced service models</a:t>
            </a:r>
            <a:r>
              <a:rPr b="0"/>
              <a:t> to maintain lean operations and maximize return on equity.</a:t>
            </a:r>
          </a:p>
        </p:txBody>
      </p:sp>
      <p:sp>
        <p:nvSpPr>
          <p:cNvPr id="3" name="Text Placeholder 2"/>
          <p:cNvSpPr>
            <a:spLocks noGrp="1"/>
          </p:cNvSpPr>
          <p:nvPr>
            <p:ph type="body" idx="11" sz="quarter"/>
          </p:nvPr>
        </p:nvSpPr>
        <p:spPr/>
        <p:txBody>
          <a:bodyPr/>
          <a:lstStyle/>
          <a:p>
            <a:r>
              <a:rPr b="1"/>
              <a:t>Premium Cinema Exhibition</a:t>
            </a:r>
            <a:r>
              <a:rPr b="0"/>
              <a:t>: High-end cinematic experiences delivered through the recognized </a:t>
            </a:r>
            <a:r>
              <a:rPr b="1"/>
              <a:t>ConnPlex</a:t>
            </a:r>
            <a:r>
              <a:rPr b="0"/>
              <a:t> brand identity.</a:t>
            </a:r>
          </a:p>
          <a:p>
            <a:r>
              <a:rPr b="1"/>
              <a:t>Integrated F&amp;B Services</a:t>
            </a:r>
            <a:r>
              <a:rPr b="0"/>
              <a:t>: Targeted food and beverage offerings with a rising spend per head of </a:t>
            </a:r>
            <a:r>
              <a:rPr b="1"/>
              <a:t>₹94</a:t>
            </a:r>
            <a:r>
              <a:rPr b="0"/>
              <a:t>.</a:t>
            </a:r>
          </a:p>
          <a:p>
            <a:r>
              <a:rPr b="1"/>
              <a:t>Comprehensive Management Solutions</a:t>
            </a:r>
            <a:r>
              <a:rPr b="0"/>
              <a:t>: Specialized services including box office management, digital marketing, and security.</a:t>
            </a:r>
          </a:p>
        </p:txBody>
      </p:sp>
      <p:pic>
        <p:nvPicPr>
          <p:cNvPr id="4" name="Picture Placeholder 3" descr="iso 9001.png"/>
          <p:cNvPicPr>
            <a:picLocks noGrp="1" noChangeAspect="1"/>
          </p:cNvPicPr>
          <p:nvPr>
            <p:ph type="pic" idx="12" sz="quarter"/>
          </p:nvPr>
        </p:nvPicPr>
        <p:blipFill>
          <a:blip r:embed="rId2"/>
          <a:srcRect t="3487" b="3487"/>
          <a:stretch>
            <a:fillRect/>
          </a:stretch>
        </p:blipFill>
        <p:spPr/>
      </p:pic>
      <p:sp>
        <p:nvSpPr>
          <p:cNvPr id="7" name="Text Placeholder 6"/>
          <p:cNvSpPr>
            <a:spLocks noGrp="1"/>
          </p:cNvSpPr>
          <p:nvPr>
            <p:ph type="body" idx="15" sz="quarter"/>
          </p:nvPr>
        </p:nvSpPr>
        <p:spPr/>
        <p:txBody>
          <a:bodyPr/>
          <a:lstStyle/>
          <a:p>
            <a:r>
              <a:rPr b="0"/>
              <a:t>Leading </a:t>
            </a:r>
            <a:r>
              <a:rPr b="1"/>
              <a:t>multiplex cinema operator</a:t>
            </a:r>
            <a:r>
              <a:rPr b="0"/>
              <a:t> with a footprint of 88 screens across 33 properties in 25 cities.</a:t>
            </a:r>
          </a:p>
          <a:p>
            <a:r>
              <a:rPr b="0"/>
              <a:t>Scalable, asset-light business model that achieved </a:t>
            </a:r>
            <a:r>
              <a:rPr b="1"/>
              <a:t>59% revenue growth</a:t>
            </a:r>
            <a:r>
              <a:rPr b="0"/>
              <a:t> and significant PAT expansion in FY25.</a:t>
            </a:r>
          </a:p>
        </p:txBody>
      </p:sp>
      <p:pic>
        <p:nvPicPr>
          <p:cNvPr id="8" name="Picture Placeholder 7" descr="Graph_Growth.png"/>
          <p:cNvPicPr>
            <a:picLocks noGrp="1" noChangeAspect="1"/>
          </p:cNvPicPr>
          <p:nvPr>
            <p:ph type="pic" idx="16" sz="quarter"/>
          </p:nvPr>
        </p:nvPicPr>
        <p:blipFill>
          <a:blip r:embed="rId3"/>
          <a:srcRect l="2038" r="2038"/>
          <a:stretch>
            <a:fillRect/>
          </a:stretch>
        </p:blipFill>
        <p:spPr/>
      </p:pic>
      <p:pic>
        <p:nvPicPr>
          <p:cNvPr id="9" name="Picture Placeholder 8" descr="Restaurant_Food.png"/>
          <p:cNvPicPr>
            <a:picLocks noGrp="1" noChangeAspect="1"/>
          </p:cNvPicPr>
          <p:nvPr>
            <p:ph type="pic" idx="17" sz="quarter"/>
          </p:nvPr>
        </p:nvPicPr>
        <p:blipFill>
          <a:blip r:embed="rId4"/>
          <a:srcRect l="2038" r="2038"/>
          <a:stretch>
            <a:fillRect/>
          </a:stretch>
        </p:blipFill>
        <p:spPr/>
      </p:pic>
      <p:pic>
        <p:nvPicPr>
          <p:cNvPr id="10" name="Picture Placeholder 9" descr="Global_Internet.png"/>
          <p:cNvPicPr>
            <a:picLocks noGrp="1" noChangeAspect="1"/>
          </p:cNvPicPr>
          <p:nvPr>
            <p:ph type="pic" idx="18" sz="quarter"/>
          </p:nvPr>
        </p:nvPicPr>
        <p:blipFill>
          <a:blip r:embed="rId5"/>
          <a:srcRect l="2038" r="2038"/>
          <a:stretch>
            <a:fillRect/>
          </a:stretch>
        </p:blipFill>
        <p:spPr/>
      </p:pic>
      <p:sp>
        <p:nvSpPr>
          <p:cNvPr id="11" name="Title 10"/>
          <p:cNvSpPr>
            <a:spLocks noGrp="1"/>
          </p:cNvSpPr>
          <p:nvPr>
            <p:ph type="title"/>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2" sz="quarter"/>
          </p:nvPr>
        </p:nvSpPr>
        <p:spPr/>
        <p:txBody>
          <a:bodyPr/>
          <a:lstStyle/>
          <a:p>
            <a:r>
              <a:rPr b="0"/>
              <a:t>The Company has achieved a </a:t>
            </a:r>
            <a:r>
              <a:rPr b="1"/>
              <a:t>triple-digit CAGR</a:t>
            </a:r>
            <a:r>
              <a:rPr b="0"/>
              <a:t> in revenue operations over the last three years.</a:t>
            </a:r>
          </a:p>
          <a:p>
            <a:r>
              <a:rPr b="0"/>
              <a:t>Revenue reached </a:t>
            </a:r>
            <a:r>
              <a:rPr b="1"/>
              <a:t>₹959 million</a:t>
            </a:r>
            <a:r>
              <a:rPr b="0"/>
              <a:t> in FY25, up from ₹611 million in the previous fiscal year.</a:t>
            </a:r>
          </a:p>
          <a:p>
            <a:r>
              <a:rPr b="0"/>
              <a:t>Consistent growth is driven by aggressive </a:t>
            </a:r>
            <a:r>
              <a:rPr b="1"/>
              <a:t>screen additions</a:t>
            </a:r>
            <a:r>
              <a:rPr b="0"/>
              <a:t> and geographic diversification.</a:t>
            </a:r>
          </a:p>
          <a:p>
            <a:r>
              <a:rPr b="0"/>
              <a:t>Operational scale is accelerating as the Company matures in its </a:t>
            </a:r>
            <a:r>
              <a:rPr b="1"/>
              <a:t>tier-2 and tier-3</a:t>
            </a:r>
            <a:r>
              <a:rPr b="0"/>
              <a:t> target markets.</a:t>
            </a:r>
          </a:p>
          <a:p>
            <a:r>
              <a:rPr b="0"/>
              <a:t>Future projections remain strong based on a pipeline of </a:t>
            </a:r>
            <a:r>
              <a:rPr b="1"/>
              <a:t>new multiplex locations</a:t>
            </a:r>
            <a:r>
              <a:rPr b="0"/>
              <a:t>.</a:t>
            </a:r>
          </a:p>
        </p:txBody>
      </p:sp>
      <p:sp>
        <p:nvSpPr>
          <p:cNvPr id="5" name="Text Placeholder 4"/>
          <p:cNvSpPr>
            <a:spLocks noGrp="1"/>
          </p:cNvSpPr>
          <p:nvPr>
            <p:ph type="body" idx="13" sz="quarter"/>
          </p:nvPr>
        </p:nvSpPr>
        <p:spPr/>
        <p:txBody>
          <a:bodyPr/>
          <a:lstStyle/>
          <a:p>
            <a:r>
              <a:rPr b="0"/>
              <a:t>The ownership structure is anchored by a stable </a:t>
            </a:r>
            <a:r>
              <a:rPr b="1"/>
              <a:t>70.1% promoter holding</a:t>
            </a:r>
            <a:r>
              <a:rPr b="0"/>
              <a:t>.</a:t>
            </a:r>
          </a:p>
          <a:p>
            <a:r>
              <a:rPr b="0"/>
              <a:t>High promoter equity signifies strong </a:t>
            </a:r>
            <a:r>
              <a:rPr b="1"/>
              <a:t>internal confidence</a:t>
            </a:r>
            <a:r>
              <a:rPr b="0"/>
              <a:t> and long-term strategic commitment.</a:t>
            </a:r>
          </a:p>
          <a:p>
            <a:r>
              <a:rPr b="0"/>
              <a:t>The 29.9% non-promoter block includes various </a:t>
            </a:r>
            <a:r>
              <a:rPr b="1"/>
              <a:t>equity funds and institutional interests</a:t>
            </a:r>
            <a:r>
              <a:rPr b="0"/>
              <a:t>.</a:t>
            </a:r>
          </a:p>
          <a:p>
            <a:r>
              <a:rPr b="0"/>
              <a:t>Balanced capital structure provides flexibility for future </a:t>
            </a:r>
            <a:r>
              <a:rPr b="1"/>
              <a:t>equity-based growth rounds</a:t>
            </a:r>
            <a:r>
              <a:rPr b="0"/>
              <a:t>.</a:t>
            </a:r>
          </a:p>
          <a:p>
            <a:r>
              <a:rPr b="0"/>
              <a:t>The Company maintains a lean debt profile relative to its </a:t>
            </a:r>
            <a:r>
              <a:rPr b="1"/>
              <a:t>total equity base</a:t>
            </a:r>
            <a:r>
              <a:rPr b="0"/>
              <a:t>.</a:t>
            </a:r>
          </a:p>
        </p:txBody>
      </p:sp>
      <p:sp>
        <p:nvSpPr>
          <p:cNvPr id="8" name="Text Placeholder 7"/>
          <p:cNvSpPr>
            <a:spLocks noGrp="1"/>
          </p:cNvSpPr>
          <p:nvPr>
            <p:ph type="body" idx="18" sz="quarter"/>
          </p:nvPr>
        </p:nvSpPr>
        <p:spPr/>
        <p:txBody>
          <a:bodyPr/>
          <a:lstStyle/>
          <a:p>
            <a:r>
              <a:rPr b="1"/>
              <a:t>REVENUE TRENDS</a:t>
            </a:r>
          </a:p>
        </p:txBody>
      </p:sp>
      <p:sp>
        <p:nvSpPr>
          <p:cNvPr id="9" name="Text Placeholder 8"/>
          <p:cNvSpPr>
            <a:spLocks noGrp="1"/>
          </p:cNvSpPr>
          <p:nvPr>
            <p:ph type="body" idx="19" sz="quarter"/>
          </p:nvPr>
        </p:nvSpPr>
        <p:spPr/>
        <p:txBody>
          <a:bodyPr/>
          <a:lstStyle/>
          <a:p>
            <a:r>
              <a:rPr b="1"/>
              <a:t>EQUITY DISTRIBUTION</a:t>
            </a:r>
          </a:p>
        </p:txBody>
      </p:sp>
      <p:sp>
        <p:nvSpPr>
          <p:cNvPr id="10" name="Text Placeholder 9"/>
          <p:cNvSpPr>
            <a:spLocks noGrp="1"/>
          </p:cNvSpPr>
          <p:nvPr>
            <p:ph type="body" idx="20" sz="quarter"/>
          </p:nvPr>
        </p:nvSpPr>
        <p:spPr/>
        <p:txBody>
          <a:bodyPr/>
          <a:lstStyle/>
          <a:p>
            <a:r>
              <a:rPr b="0"/>
              <a:t>FINANCIAL SCALABILITY AND MARGIN EXPANSION</a:t>
            </a:r>
          </a:p>
        </p:txBody>
      </p:sp>
      <p:graphicFrame>
        <p:nvGraphicFramePr>
          <p:cNvPr id="11" name="Chart 10"/>
          <p:cNvGraphicFramePr>
            <a:graphicFrameLocks noGrp="1"/>
          </p:cNvGraphicFramePr>
          <p:nvPr/>
        </p:nvGraphicFramePr>
        <p:xfrm>
          <a:off x="258762" y="1212058"/>
          <a:ext cx="5850553" cy="2710656"/>
        </p:xfrm>
        <a:graphic>
          <a:graphicData uri="http://schemas.openxmlformats.org/drawingml/2006/chart">
            <c:chart xmlns:c="http://schemas.openxmlformats.org/drawingml/2006/chart" r:id="rId2"/>
          </a:graphicData>
        </a:graphic>
      </p:graphicFrame>
      <p:graphicFrame>
        <p:nvGraphicFramePr>
          <p:cNvPr id="12" name="Chart 11"/>
          <p:cNvGraphicFramePr>
            <a:graphicFrameLocks noGrp="1"/>
          </p:cNvGraphicFramePr>
          <p:nvPr/>
        </p:nvGraphicFramePr>
        <p:xfrm>
          <a:off x="6293423" y="4203279"/>
          <a:ext cx="5752516" cy="2417016"/>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High Brand Loyalty</a:t>
            </a:r>
            <a:r>
              <a:rPr b="0"/>
              <a:t>: Awarded 'Best Cinema Theatre' for innovation and premium tier-2 market positioning.</a:t>
            </a:r>
          </a:p>
        </p:txBody>
      </p:sp>
      <p:sp>
        <p:nvSpPr>
          <p:cNvPr id="3" name="Text Placeholder 2"/>
          <p:cNvSpPr>
            <a:spLocks noGrp="1"/>
          </p:cNvSpPr>
          <p:nvPr>
            <p:ph type="body" idx="11" sz="quarter"/>
          </p:nvPr>
        </p:nvSpPr>
        <p:spPr/>
        <p:txBody>
          <a:bodyPr/>
          <a:lstStyle/>
          <a:p>
            <a:r>
              <a:rPr b="1"/>
              <a:t>Explosive Profitability</a:t>
            </a:r>
            <a:r>
              <a:rPr b="0"/>
              <a:t>: PAT grew by </a:t>
            </a:r>
            <a:r>
              <a:rPr b="1"/>
              <a:t>365% YoY</a:t>
            </a:r>
            <a:r>
              <a:rPr b="0"/>
              <a:t>, rising from ₹4.09 crores to ₹19.01 crores in FY25.</a:t>
            </a:r>
          </a:p>
        </p:txBody>
      </p:sp>
      <p:sp>
        <p:nvSpPr>
          <p:cNvPr id="4" name="Text Placeholder 3"/>
          <p:cNvSpPr>
            <a:spLocks noGrp="1"/>
          </p:cNvSpPr>
          <p:nvPr>
            <p:ph type="body" idx="12" sz="quarter"/>
          </p:nvPr>
        </p:nvSpPr>
        <p:spPr/>
        <p:txBody>
          <a:bodyPr/>
          <a:lstStyle/>
          <a:p>
            <a:r>
              <a:rPr b="1"/>
              <a:t>Improving Unit Economics</a:t>
            </a:r>
            <a:r>
              <a:rPr b="0"/>
              <a:t>: Average Ticket Price reached </a:t>
            </a:r>
            <a:r>
              <a:rPr b="1"/>
              <a:t>₹243</a:t>
            </a:r>
            <a:r>
              <a:rPr b="0"/>
              <a:t>, representing a 6% YoY growth trend.</a:t>
            </a:r>
          </a:p>
        </p:txBody>
      </p:sp>
      <p:sp>
        <p:nvSpPr>
          <p:cNvPr id="5" name="Text Placeholder 4"/>
          <p:cNvSpPr>
            <a:spLocks noGrp="1"/>
          </p:cNvSpPr>
          <p:nvPr>
            <p:ph type="body" idx="13" sz="quarter"/>
          </p:nvPr>
        </p:nvSpPr>
        <p:spPr/>
        <p:txBody>
          <a:bodyPr/>
          <a:lstStyle/>
          <a:p>
            <a:r>
              <a:rPr b="1"/>
              <a:t>Aggressive Market Whitespace</a:t>
            </a:r>
            <a:r>
              <a:rPr b="0"/>
              <a:t>: Rapidly expanding into 20 states to capture high demand for urban entertainment.</a:t>
            </a:r>
          </a:p>
        </p:txBody>
      </p:sp>
      <p:sp>
        <p:nvSpPr>
          <p:cNvPr id="6" name="Text Placeholder 5"/>
          <p:cNvSpPr>
            <a:spLocks noGrp="1"/>
          </p:cNvSpPr>
          <p:nvPr>
            <p:ph type="body" idx="14" sz="quarter"/>
          </p:nvPr>
        </p:nvSpPr>
        <p:spPr/>
        <p:txBody>
          <a:bodyPr/>
          <a:lstStyle/>
          <a:p>
            <a:r>
              <a:rPr b="1"/>
              <a:t>High-Growth Ad Revenue</a:t>
            </a:r>
            <a:r>
              <a:rPr b="0"/>
              <a:t>: Advertising income surged </a:t>
            </a:r>
            <a:r>
              <a:rPr b="1"/>
              <a:t>107% YoY</a:t>
            </a:r>
            <a:r>
              <a:rPr b="0"/>
              <a:t>, demonstrating high platform value for brands.</a:t>
            </a:r>
          </a:p>
        </p:txBody>
      </p:sp>
      <p:sp>
        <p:nvSpPr>
          <p:cNvPr id="7" name="Text Placeholder 6"/>
          <p:cNvSpPr>
            <a:spLocks noGrp="1"/>
          </p:cNvSpPr>
          <p:nvPr>
            <p:ph type="body" idx="15" sz="quarter"/>
          </p:nvPr>
        </p:nvSpPr>
        <p:spPr/>
        <p:txBody>
          <a:bodyPr/>
          <a:lstStyle/>
          <a:p>
            <a:r>
              <a:rPr b="1"/>
              <a:t>Asset-Light Scalability</a:t>
            </a:r>
            <a:r>
              <a:rPr b="0"/>
              <a:t>: Proven franchise model allowing the network to surpass </a:t>
            </a:r>
            <a:r>
              <a:rPr b="1"/>
              <a:t>100 screens</a:t>
            </a:r>
            <a:r>
              <a:rPr b="0"/>
              <a:t> with minimal capex.</a:t>
            </a:r>
          </a:p>
        </p:txBody>
      </p:sp>
      <p:pic>
        <p:nvPicPr>
          <p:cNvPr id="8" name="Picture Placeholder 7" descr="Industry.jpeg"/>
          <p:cNvPicPr>
            <a:picLocks noGrp="1" noChangeAspect="1"/>
          </p:cNvPicPr>
          <p:nvPr>
            <p:ph type="pic" idx="16" sz="quarter"/>
          </p:nvPr>
        </p:nvPicPr>
        <p:blipFill>
          <a:blip r:embed="rId2"/>
          <a:srcRect l="7725" r="7725"/>
          <a:stretch>
            <a:fillRect/>
          </a:stretch>
        </p:blipFill>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542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Sambit Mallik</cp:lastModifiedBy>
  <cp:revision>25</cp:revision>
  <dcterms:created xsi:type="dcterms:W3CDTF">2026-01-24T04:48:24Z</dcterms:created>
  <dcterms:modified xsi:type="dcterms:W3CDTF">2026-02-07T08:08:41Z</dcterms:modified>
</cp:coreProperties>
</file>
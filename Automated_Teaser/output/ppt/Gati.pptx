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3.svg" ContentType="image/svg+xml"/>
  <Override PartName="/ppt/media/image5.svg" ContentType="image/svg+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7"/>
    <p:sldId id="258" r:id="rId8"/>
    <p:sldId id="259" r:id="rId9"/>
    <p:sldId id="260" r:id="rId10"/>
    <p:sldId id="26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7B6"/>
    <a:srgbClr val="6FACFF"/>
    <a:srgbClr val="90E0EF"/>
    <a:srgbClr val="FB712C"/>
    <a:srgbClr val="F04C7A"/>
    <a:srgbClr val="A31D63"/>
    <a:srgbClr val="2A06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7073"/>
    <p:restoredTop sz="94733"/>
  </p:normalViewPr>
  <p:slideViewPr>
    <p:cSldViewPr snapToGrid="0">
      <p:cViewPr varScale="1">
        <p:scale>
          <a:sx n="102" d="100"/>
          <a:sy n="102" d="100"/>
        </p:scale>
        <p:origin x="20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VOLUME GROWTH</c:v>
                </c:pt>
              </c:strCache>
            </c:strRef>
          </c:tx>
          <c:cat>
            <c:strRef>
              <c:f>Sheet1!$A$2:$A$4</c:f>
              <c:strCache>
                <c:ptCount val="3"/>
                <c:pt idx="0">
                  <c:v>Jan-25</c:v>
                </c:pt>
                <c:pt idx="1">
                  <c:v>Feb-25</c:v>
                </c:pt>
                <c:pt idx="2">
                  <c:v>Mar-25</c:v>
                </c:pt>
              </c:strCache>
            </c:strRef>
          </c:cat>
          <c:val>
            <c:numRef>
              <c:f>Sheet1!$B$2:$B$4</c:f>
              <c:numCache>
                <c:formatCode>General</c:formatCode>
                <c:ptCount val="3"/>
                <c:pt idx="0">
                  <c:v>99</c:v>
                </c:pt>
                <c:pt idx="1">
                  <c:v>95</c:v>
                </c:pt>
                <c:pt idx="2">
                  <c:v>105</c:v>
                </c:pt>
              </c:numCache>
            </c:numRef>
          </c:val>
        </c:ser>
        <c:dLbls>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REVENUE MIX</c:v>
                </c:pt>
              </c:strCache>
            </c:strRef>
          </c:tx>
          <c:cat>
            <c:strRef>
              <c:f>Sheet1!$A$2:$A$3</c:f>
              <c:strCache>
                <c:ptCount val="2"/>
                <c:pt idx="0">
                  <c:v>Surface Express</c:v>
                </c:pt>
                <c:pt idx="1">
                  <c:v>Other Services</c:v>
                </c:pt>
              </c:strCache>
            </c:strRef>
          </c:cat>
          <c:val>
            <c:numRef>
              <c:f>Sheet1!$B$2:$B$3</c:f>
              <c:numCache>
                <c:formatCode>General</c:formatCode>
                <c:ptCount val="2"/>
                <c:pt idx="0">
                  <c:v>91.1</c:v>
                </c:pt>
                <c:pt idx="1">
                  <c:v>8.9</c:v>
                </c:pt>
              </c:numCache>
            </c:numRef>
          </c:val>
        </c:ser>
        <c:dLbls>
          <c:dLblPos val="bestFit"/>
          <c:showLegendKey val="0"/>
          <c:showVal val="1"/>
          <c:showCatName val="1"/>
          <c:showSerName val="0"/>
          <c:showPercent val="0"/>
          <c:showBubbleSize val="0"/>
          <c:showLeaderLines val="1"/>
        </c:dLbls>
      </c:pieChart>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_Slide">
    <p:bg>
      <p:bgPr>
        <a:solidFill>
          <a:srgbClr val="2A063F"/>
        </a:solidFill>
        <a:effectLst/>
      </p:bgPr>
    </p:bg>
    <p:spTree>
      <p:nvGrpSpPr>
        <p:cNvPr id="1" name=""/>
        <p:cNvGrpSpPr/>
        <p:nvPr/>
      </p:nvGrpSpPr>
      <p:grpSpPr>
        <a:xfrm>
          <a:off x="0" y="0"/>
          <a:ext cx="0" cy="0"/>
          <a:chOff x="0" y="0"/>
          <a:chExt cx="0" cy="0"/>
        </a:xfrm>
      </p:grpSpPr>
      <p:pic>
        <p:nvPicPr>
          <p:cNvPr id="1028" name="Picture 4" descr="Geometric pattern Images - Free ...">
            <a:extLst>
              <a:ext uri="{FF2B5EF4-FFF2-40B4-BE49-F238E27FC236}">
                <a16:creationId xmlns:a16="http://schemas.microsoft.com/office/drawing/2014/main" id="{E6657D50-4ACA-29E0-6C6A-CCAD9432118A}"/>
              </a:ext>
            </a:extLst>
          </p:cNvPr>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376660" y="-185963"/>
            <a:ext cx="13091817" cy="6726099"/>
          </a:xfrm>
          <a:prstGeom prst="rect">
            <a:avLst/>
          </a:prstGeom>
          <a:noFill/>
          <a:extLst>
            <a:ext uri="{909E8E84-426E-40DD-AFC4-6F175D3DCCD1}">
              <a14:hiddenFill xmlns:a14="http://schemas.microsoft.com/office/drawing/2010/main">
                <a:solidFill>
                  <a:srgbClr val="FFFFFF"/>
                </a:solidFill>
              </a14:hiddenFill>
            </a:ext>
          </a:extLst>
        </p:spPr>
      </p:pic>
      <p:sp>
        <p:nvSpPr>
          <p:cNvPr id="41" name="Freeform 4">
            <a:extLst>
              <a:ext uri="{FF2B5EF4-FFF2-40B4-BE49-F238E27FC236}">
                <a16:creationId xmlns:a16="http://schemas.microsoft.com/office/drawing/2014/main" id="{1B9AF06B-B946-100D-8E6B-B35C454030EE}"/>
              </a:ext>
              <a:ext uri="{C183D7F6-B498-43B3-948B-1728B52AA6E4}">
                <adec:decorative xmlns:adec="http://schemas.microsoft.com/office/drawing/2017/decorative" val="1"/>
              </a:ext>
            </a:extLst>
          </p:cNvPr>
          <p:cNvSpPr/>
          <p:nvPr userDrawn="1"/>
        </p:nvSpPr>
        <p:spPr>
          <a:xfrm>
            <a:off x="2221680" y="5033953"/>
            <a:ext cx="4458815"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2" name="Freeform 2">
            <a:extLst>
              <a:ext uri="{FF2B5EF4-FFF2-40B4-BE49-F238E27FC236}">
                <a16:creationId xmlns:a16="http://schemas.microsoft.com/office/drawing/2014/main" id="{A712A287-3087-1DF3-F43D-A56A53B980B4}"/>
              </a:ext>
              <a:ext uri="{C183D7F6-B498-43B3-948B-1728B52AA6E4}">
                <adec:decorative xmlns:adec="http://schemas.microsoft.com/office/drawing/2017/decorative" val="1"/>
              </a:ext>
            </a:extLst>
          </p:cNvPr>
          <p:cNvSpPr/>
          <p:nvPr userDrawn="1"/>
        </p:nvSpPr>
        <p:spPr>
          <a:xfrm>
            <a:off x="-863173" y="-153887"/>
            <a:ext cx="2466586"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3" name="Freeform 5">
            <a:extLst>
              <a:ext uri="{FF2B5EF4-FFF2-40B4-BE49-F238E27FC236}">
                <a16:creationId xmlns:a16="http://schemas.microsoft.com/office/drawing/2014/main" id="{2A160F13-8764-D059-9923-6D95B47B175D}"/>
              </a:ext>
              <a:ext uri="{C183D7F6-B498-43B3-948B-1728B52AA6E4}">
                <adec:decorative xmlns:adec="http://schemas.microsoft.com/office/drawing/2017/decorative" val="1"/>
              </a:ext>
            </a:extLst>
          </p:cNvPr>
          <p:cNvSpPr/>
          <p:nvPr userDrawn="1"/>
        </p:nvSpPr>
        <p:spPr>
          <a:xfrm rot="21445884">
            <a:off x="4804637" y="-750786"/>
            <a:ext cx="2729224" cy="2735166"/>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4" name="Freeform 4">
            <a:extLst>
              <a:ext uri="{FF2B5EF4-FFF2-40B4-BE49-F238E27FC236}">
                <a16:creationId xmlns:a16="http://schemas.microsoft.com/office/drawing/2014/main" id="{50B8F49F-8D86-DC2D-37F0-946BC7888B85}"/>
              </a:ext>
              <a:ext uri="{C183D7F6-B498-43B3-948B-1728B52AA6E4}">
                <adec:decorative xmlns:adec="http://schemas.microsoft.com/office/drawing/2017/decorative" val="1"/>
              </a:ext>
            </a:extLst>
          </p:cNvPr>
          <p:cNvSpPr/>
          <p:nvPr userDrawn="1"/>
        </p:nvSpPr>
        <p:spPr>
          <a:xfrm>
            <a:off x="2207259" y="670876"/>
            <a:ext cx="4170792"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sz="1350"/>
          </a:p>
        </p:txBody>
      </p:sp>
      <p:sp>
        <p:nvSpPr>
          <p:cNvPr id="35" name="Freeform 5">
            <a:extLst>
              <a:ext uri="{FF2B5EF4-FFF2-40B4-BE49-F238E27FC236}">
                <a16:creationId xmlns:a16="http://schemas.microsoft.com/office/drawing/2014/main" id="{0E270C24-0873-5229-B9F8-0748D3B0295E}"/>
              </a:ext>
              <a:ext uri="{C183D7F6-B498-43B3-948B-1728B52AA6E4}">
                <adec:decorative xmlns:adec="http://schemas.microsoft.com/office/drawing/2017/decorative" val="1"/>
              </a:ext>
            </a:extLst>
          </p:cNvPr>
          <p:cNvSpPr/>
          <p:nvPr userDrawn="1"/>
        </p:nvSpPr>
        <p:spPr>
          <a:xfrm>
            <a:off x="4698766" y="3400034"/>
            <a:ext cx="3019835" cy="2848398"/>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sz="1350" dirty="0"/>
          </a:p>
        </p:txBody>
      </p:sp>
      <p:sp>
        <p:nvSpPr>
          <p:cNvPr id="36" name="Freeform 2">
            <a:extLst>
              <a:ext uri="{FF2B5EF4-FFF2-40B4-BE49-F238E27FC236}">
                <a16:creationId xmlns:a16="http://schemas.microsoft.com/office/drawing/2014/main" id="{F08BCC40-8EF1-E663-8913-1862FCE00F6E}"/>
              </a:ext>
              <a:ext uri="{C183D7F6-B498-43B3-948B-1728B52AA6E4}">
                <adec:decorative xmlns:adec="http://schemas.microsoft.com/office/drawing/2017/decorative" val="1"/>
              </a:ext>
            </a:extLst>
          </p:cNvPr>
          <p:cNvSpPr/>
          <p:nvPr userDrawn="1"/>
        </p:nvSpPr>
        <p:spPr>
          <a:xfrm>
            <a:off x="10009050" y="3550743"/>
            <a:ext cx="2616847" cy="3540610"/>
          </a:xfrm>
          <a:custGeom>
            <a:avLst/>
            <a:gdLst/>
            <a:ahLst/>
            <a:cxnLst/>
            <a:rect l="l" t="t" r="r" b="b"/>
            <a:pathLst>
              <a:path w="4549062" h="6780444">
                <a:moveTo>
                  <a:pt x="0" y="0"/>
                </a:moveTo>
                <a:lnTo>
                  <a:pt x="4549062" y="0"/>
                </a:lnTo>
                <a:lnTo>
                  <a:pt x="4549062" y="6780444"/>
                </a:lnTo>
                <a:lnTo>
                  <a:pt x="0" y="678044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sz="1350" dirty="0"/>
          </a:p>
        </p:txBody>
      </p:sp>
      <p:sp>
        <p:nvSpPr>
          <p:cNvPr id="37" name="Rectangle 36">
            <a:extLst>
              <a:ext uri="{FF2B5EF4-FFF2-40B4-BE49-F238E27FC236}">
                <a16:creationId xmlns:a16="http://schemas.microsoft.com/office/drawing/2014/main" id="{15DD37F5-790C-EFF8-893A-97E9CC3AC34C}"/>
              </a:ext>
            </a:extLst>
          </p:cNvPr>
          <p:cNvSpPr/>
          <p:nvPr userDrawn="1"/>
        </p:nvSpPr>
        <p:spPr>
          <a:xfrm rot="16200000">
            <a:off x="5644041" y="334942"/>
            <a:ext cx="903921" cy="12192003"/>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1350"/>
          </a:p>
        </p:txBody>
      </p:sp>
      <p:sp>
        <p:nvSpPr>
          <p:cNvPr id="42" name="TextBox 41">
            <a:extLst>
              <a:ext uri="{FF2B5EF4-FFF2-40B4-BE49-F238E27FC236}">
                <a16:creationId xmlns:a16="http://schemas.microsoft.com/office/drawing/2014/main" id="{BD71EE71-6D3D-DE57-F03B-FAAAB2CDE9D3}"/>
              </a:ext>
            </a:extLst>
          </p:cNvPr>
          <p:cNvSpPr txBox="1"/>
          <p:nvPr userDrawn="1"/>
        </p:nvSpPr>
        <p:spPr>
          <a:xfrm>
            <a:off x="64072" y="6077001"/>
            <a:ext cx="5464885" cy="553998"/>
          </a:xfrm>
          <a:prstGeom prst="rect">
            <a:avLst/>
          </a:prstGeom>
          <a:noFill/>
        </p:spPr>
        <p:txBody>
          <a:bodyPr wrap="square" rtlCol="0">
            <a:spAutoFit/>
          </a:bodyPr>
          <a:lstStyle/>
          <a:p>
            <a:r>
              <a:rPr lang="en-US" sz="1500" b="1" dirty="0">
                <a:solidFill>
                  <a:schemeClr val="tx1"/>
                </a:solidFill>
                <a:latin typeface="Arial" panose="020B0604020202020204" pitchFamily="34" charset="0"/>
                <a:cs typeface="Arial" panose="020B0604020202020204" pitchFamily="34" charset="0"/>
              </a:rPr>
              <a:t>Investment Brief</a:t>
            </a:r>
          </a:p>
          <a:p>
            <a:r>
              <a:rPr lang="en-US" sz="1500" i="1" dirty="0" err="1">
                <a:solidFill>
                  <a:schemeClr val="tx1"/>
                </a:solidFill>
                <a:latin typeface="Arial" panose="020B0604020202020204" pitchFamily="34" charset="0"/>
                <a:cs typeface="Arial" panose="020B0604020202020204" pitchFamily="34" charset="0"/>
              </a:rPr>
              <a:t>kelpglobal.com</a:t>
            </a:r>
            <a:endParaRPr lang="en-US" sz="1500" i="1" dirty="0">
              <a:solidFill>
                <a:schemeClr val="tx1"/>
              </a:solidFill>
              <a:latin typeface="Arial" panose="020B0604020202020204" pitchFamily="34" charset="0"/>
              <a:cs typeface="Arial" panose="020B0604020202020204" pitchFamily="34" charset="0"/>
            </a:endParaRPr>
          </a:p>
        </p:txBody>
      </p:sp>
      <p:pic>
        <p:nvPicPr>
          <p:cNvPr id="43" name="Picture 42" descr="A white letter on a black background&#10;&#10;AI-generated content may be incorrect.">
            <a:extLst>
              <a:ext uri="{FF2B5EF4-FFF2-40B4-BE49-F238E27FC236}">
                <a16:creationId xmlns:a16="http://schemas.microsoft.com/office/drawing/2014/main" id="{D49EF3F4-51EF-4606-B7A3-3504870972F4}"/>
              </a:ext>
            </a:extLst>
          </p:cNvPr>
          <p:cNvPicPr>
            <a:picLocks noChangeAspect="1"/>
          </p:cNvPicPr>
          <p:nvPr userDrawn="1"/>
        </p:nvPicPr>
        <p:blipFill>
          <a:blip r:embed="rId9"/>
          <a:stretch>
            <a:fillRect/>
          </a:stretch>
        </p:blipFill>
        <p:spPr>
          <a:xfrm>
            <a:off x="9910007" y="246908"/>
            <a:ext cx="1911873" cy="7267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lide_1">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7C7B3B-35A8-CB14-7DE6-7597AE5727BB}"/>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panose="020B0604020202020204" pitchFamily="34" charset="0"/>
                <a:cs typeface="Arial" panose="020B0604020202020204" pitchFamily="34" charset="0"/>
              </a:rPr>
              <a:t>BUSINESS PROFILE AND INFRASTRUCTURE</a:t>
            </a:r>
            <a:endParaRPr sz="2000" b="1" dirty="0">
              <a:solidFill>
                <a:srgbClr val="FFFFFF"/>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E1E57ECB-C669-1AC2-3C5E-2B9B86C530B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8" name="Picture 7" descr="A white letter on a black background&#10;&#10;AI-generated content may be incorrect.">
            <a:extLst>
              <a:ext uri="{FF2B5EF4-FFF2-40B4-BE49-F238E27FC236}">
                <a16:creationId xmlns:a16="http://schemas.microsoft.com/office/drawing/2014/main" id="{40F6C2CA-BED1-72A7-775A-CD3062FAC359}"/>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4" name="TextBox 3">
            <a:extLst>
              <a:ext uri="{FF2B5EF4-FFF2-40B4-BE49-F238E27FC236}">
                <a16:creationId xmlns:a16="http://schemas.microsoft.com/office/drawing/2014/main" id="{2B57153E-0761-147E-9F8E-CD5A48F6BBA5}"/>
              </a:ext>
            </a:extLst>
          </p:cNvPr>
          <p:cNvSpPr txBox="1"/>
          <p:nvPr userDrawn="1"/>
        </p:nvSpPr>
        <p:spPr>
          <a:xfrm>
            <a:off x="146060" y="4295570"/>
            <a:ext cx="8137412" cy="414371"/>
          </a:xfrm>
          <a:prstGeom prst="rect">
            <a:avLst/>
          </a:prstGeom>
          <a:solidFill>
            <a:srgbClr val="0077B6">
              <a:alpha val="41961"/>
            </a:srgbClr>
          </a:solidFill>
        </p:spPr>
        <p:txBody>
          <a:bodyPr wrap="square" rtlCol="0">
            <a:spAutoFit/>
          </a:bodyPr>
          <a:lstStyle/>
          <a:p>
            <a:endParaRPr lang="en-GB" dirty="0"/>
          </a:p>
        </p:txBody>
      </p:sp>
      <p:sp>
        <p:nvSpPr>
          <p:cNvPr id="10" name="Rectangle 9">
            <a:extLst>
              <a:ext uri="{FF2B5EF4-FFF2-40B4-BE49-F238E27FC236}">
                <a16:creationId xmlns:a16="http://schemas.microsoft.com/office/drawing/2014/main" id="{FD12A1B1-2F44-EBD9-7484-072B4B7A20C0}"/>
              </a:ext>
            </a:extLst>
          </p:cNvPr>
          <p:cNvSpPr/>
          <p:nvPr userDrawn="1"/>
        </p:nvSpPr>
        <p:spPr>
          <a:xfrm>
            <a:off x="154287" y="1282281"/>
            <a:ext cx="8129186" cy="29778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1" name="TextBox 10">
            <a:extLst>
              <a:ext uri="{FF2B5EF4-FFF2-40B4-BE49-F238E27FC236}">
                <a16:creationId xmlns:a16="http://schemas.microsoft.com/office/drawing/2014/main" id="{67E60B4F-D735-2076-55BD-B7B41AD03D44}"/>
              </a:ext>
            </a:extLst>
          </p:cNvPr>
          <p:cNvSpPr txBox="1"/>
          <p:nvPr userDrawn="1"/>
        </p:nvSpPr>
        <p:spPr>
          <a:xfrm>
            <a:off x="154287" y="798749"/>
            <a:ext cx="8115271" cy="414372"/>
          </a:xfrm>
          <a:prstGeom prst="rect">
            <a:avLst/>
          </a:prstGeom>
          <a:solidFill>
            <a:srgbClr val="6FACFF">
              <a:alpha val="41961"/>
            </a:srgbClr>
          </a:solidFill>
        </p:spPr>
        <p:txBody>
          <a:bodyPr wrap="square" rtlCol="0">
            <a:spAutoFit/>
          </a:bodyPr>
          <a:lstStyle/>
          <a:p>
            <a:endParaRPr lang="en-GB" dirty="0"/>
          </a:p>
        </p:txBody>
      </p:sp>
      <p:sp>
        <p:nvSpPr>
          <p:cNvPr id="12" name="TextBox 11">
            <a:extLst>
              <a:ext uri="{FF2B5EF4-FFF2-40B4-BE49-F238E27FC236}">
                <a16:creationId xmlns:a16="http://schemas.microsoft.com/office/drawing/2014/main" id="{DEA8438F-5D82-EB08-3BF9-9C884B9375DA}"/>
              </a:ext>
            </a:extLst>
          </p:cNvPr>
          <p:cNvSpPr txBox="1"/>
          <p:nvPr userDrawn="1"/>
        </p:nvSpPr>
        <p:spPr>
          <a:xfrm>
            <a:off x="8571893" y="3845798"/>
            <a:ext cx="3474046" cy="414371"/>
          </a:xfrm>
          <a:prstGeom prst="rect">
            <a:avLst/>
          </a:prstGeom>
          <a:solidFill>
            <a:srgbClr val="0077B6">
              <a:alpha val="42745"/>
            </a:srgbClr>
          </a:solidFill>
        </p:spPr>
        <p:txBody>
          <a:bodyPr wrap="square" rtlCol="0">
            <a:spAutoFit/>
          </a:bodyPr>
          <a:lstStyle/>
          <a:p>
            <a:endParaRPr lang="en-GB" dirty="0"/>
          </a:p>
        </p:txBody>
      </p:sp>
      <p:cxnSp>
        <p:nvCxnSpPr>
          <p:cNvPr id="13" name="Straight Connector 12">
            <a:extLst>
              <a:ext uri="{FF2B5EF4-FFF2-40B4-BE49-F238E27FC236}">
                <a16:creationId xmlns:a16="http://schemas.microsoft.com/office/drawing/2014/main" id="{02AF2439-D35F-B769-B7D1-D7E48C243F13}"/>
              </a:ext>
            </a:extLst>
          </p:cNvPr>
          <p:cNvCxnSpPr>
            <a:cxnSpLocks/>
          </p:cNvCxnSpPr>
          <p:nvPr userDrawn="1"/>
        </p:nvCxnSpPr>
        <p:spPr>
          <a:xfrm>
            <a:off x="8389194" y="631993"/>
            <a:ext cx="0" cy="6226007"/>
          </a:xfrm>
          <a:prstGeom prst="line">
            <a:avLst/>
          </a:prstGeom>
          <a:ln w="12700">
            <a:solidFill>
              <a:schemeClr val="bg1">
                <a:lumMod val="75000"/>
              </a:schemeClr>
            </a:solidFill>
            <a:prstDash val="lgDash"/>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162F7883-A476-5852-F143-B3DFA7053835}"/>
              </a:ext>
            </a:extLst>
          </p:cNvPr>
          <p:cNvSpPr/>
          <p:nvPr userDrawn="1"/>
        </p:nvSpPr>
        <p:spPr>
          <a:xfrm>
            <a:off x="8571893" y="1395641"/>
            <a:ext cx="3431797" cy="228107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TextBox 16">
            <a:extLst>
              <a:ext uri="{FF2B5EF4-FFF2-40B4-BE49-F238E27FC236}">
                <a16:creationId xmlns:a16="http://schemas.microsoft.com/office/drawing/2014/main" id="{9B693A0E-7104-1EF4-C199-ABE4EA9337B0}"/>
              </a:ext>
            </a:extLst>
          </p:cNvPr>
          <p:cNvSpPr txBox="1"/>
          <p:nvPr userDrawn="1"/>
        </p:nvSpPr>
        <p:spPr>
          <a:xfrm>
            <a:off x="8508829" y="828876"/>
            <a:ext cx="3474046" cy="414371"/>
          </a:xfrm>
          <a:prstGeom prst="rect">
            <a:avLst/>
          </a:prstGeom>
          <a:solidFill>
            <a:srgbClr val="6FACFF">
              <a:alpha val="42745"/>
            </a:srgbClr>
          </a:solidFill>
        </p:spPr>
        <p:txBody>
          <a:bodyPr wrap="square" rtlCol="0">
            <a:spAutoFit/>
          </a:bodyPr>
          <a:lstStyle/>
          <a:p>
            <a:endParaRPr lang="en-GB" dirty="0"/>
          </a:p>
        </p:txBody>
      </p:sp>
      <p:sp>
        <p:nvSpPr>
          <p:cNvPr id="18" name="Rectangle 17">
            <a:extLst>
              <a:ext uri="{FF2B5EF4-FFF2-40B4-BE49-F238E27FC236}">
                <a16:creationId xmlns:a16="http://schemas.microsoft.com/office/drawing/2014/main" id="{0CD2EF22-2305-CBCF-7392-90504AAC5F5D}"/>
              </a:ext>
            </a:extLst>
          </p:cNvPr>
          <p:cNvSpPr/>
          <p:nvPr userDrawn="1"/>
        </p:nvSpPr>
        <p:spPr>
          <a:xfrm>
            <a:off x="204426" y="4730679"/>
            <a:ext cx="8081252" cy="190884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ext Placeholder 2">
            <a:extLst>
              <a:ext uri="{FF2B5EF4-FFF2-40B4-BE49-F238E27FC236}">
                <a16:creationId xmlns:a16="http://schemas.microsoft.com/office/drawing/2014/main" id="{13C21514-8574-AB3F-FED4-0D5790A63814}"/>
              </a:ext>
            </a:extLst>
          </p:cNvPr>
          <p:cNvSpPr>
            <a:spLocks noGrp="1"/>
          </p:cNvSpPr>
          <p:nvPr>
            <p:ph type="body" sz="quarter" idx="10"/>
          </p:nvPr>
        </p:nvSpPr>
        <p:spPr>
          <a:xfrm>
            <a:off x="268804" y="1368192"/>
            <a:ext cx="7361140" cy="2783825"/>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Text Placeholder 8">
            <a:extLst>
              <a:ext uri="{FF2B5EF4-FFF2-40B4-BE49-F238E27FC236}">
                <a16:creationId xmlns:a16="http://schemas.microsoft.com/office/drawing/2014/main" id="{48EB1D40-3674-BBC3-BA3D-593FBC536801}"/>
              </a:ext>
            </a:extLst>
          </p:cNvPr>
          <p:cNvSpPr>
            <a:spLocks noGrp="1"/>
          </p:cNvSpPr>
          <p:nvPr>
            <p:ph type="body" sz="quarter" idx="11"/>
          </p:nvPr>
        </p:nvSpPr>
        <p:spPr>
          <a:xfrm>
            <a:off x="301578" y="4791129"/>
            <a:ext cx="7298353" cy="1692486"/>
          </a:xfrm>
        </p:spPr>
        <p:txBody>
          <a:bodyPr>
            <a:normAutofit/>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5" name="TextBox 4">
            <a:extLst>
              <a:ext uri="{FF2B5EF4-FFF2-40B4-BE49-F238E27FC236}">
                <a16:creationId xmlns:a16="http://schemas.microsoft.com/office/drawing/2014/main" id="{A954834B-3DF1-23D9-5C4D-4A6C8E23F765}"/>
              </a:ext>
            </a:extLst>
          </p:cNvPr>
          <p:cNvSpPr txBox="1"/>
          <p:nvPr userDrawn="1"/>
        </p:nvSpPr>
        <p:spPr>
          <a:xfrm>
            <a:off x="8571893" y="3868317"/>
            <a:ext cx="3620105"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CERTIFICATIONS/AWARDS</a:t>
            </a:r>
          </a:p>
        </p:txBody>
      </p:sp>
      <p:sp>
        <p:nvSpPr>
          <p:cNvPr id="20" name="Picture Placeholder 19">
            <a:extLst>
              <a:ext uri="{FF2B5EF4-FFF2-40B4-BE49-F238E27FC236}">
                <a16:creationId xmlns:a16="http://schemas.microsoft.com/office/drawing/2014/main" id="{F701B351-9295-2343-7729-22B37578850C}"/>
              </a:ext>
            </a:extLst>
          </p:cNvPr>
          <p:cNvSpPr>
            <a:spLocks noGrp="1"/>
          </p:cNvSpPr>
          <p:nvPr>
            <p:ph type="pic" sz="quarter" idx="12"/>
          </p:nvPr>
        </p:nvSpPr>
        <p:spPr>
          <a:xfrm>
            <a:off x="9701086" y="4479735"/>
            <a:ext cx="1089531" cy="991109"/>
          </a:xfrm>
        </p:spPr>
        <p:txBody>
          <a:bodyPr/>
          <a:lstStyle/>
          <a:p>
            <a:endParaRPr lang="en-GB"/>
          </a:p>
        </p:txBody>
      </p:sp>
      <p:sp>
        <p:nvSpPr>
          <p:cNvPr id="21" name="Picture Placeholder 19">
            <a:extLst>
              <a:ext uri="{FF2B5EF4-FFF2-40B4-BE49-F238E27FC236}">
                <a16:creationId xmlns:a16="http://schemas.microsoft.com/office/drawing/2014/main" id="{E5F74BA3-8C7A-8938-B580-623C8CA528D7}"/>
              </a:ext>
            </a:extLst>
          </p:cNvPr>
          <p:cNvSpPr>
            <a:spLocks noGrp="1"/>
          </p:cNvSpPr>
          <p:nvPr>
            <p:ph type="pic" sz="quarter" idx="13"/>
          </p:nvPr>
        </p:nvSpPr>
        <p:spPr>
          <a:xfrm>
            <a:off x="8826504" y="5574632"/>
            <a:ext cx="1089535" cy="908983"/>
          </a:xfrm>
        </p:spPr>
        <p:txBody>
          <a:bodyPr/>
          <a:lstStyle/>
          <a:p>
            <a:endParaRPr lang="en-GB"/>
          </a:p>
        </p:txBody>
      </p:sp>
      <p:sp>
        <p:nvSpPr>
          <p:cNvPr id="22" name="Picture Placeholder 19">
            <a:extLst>
              <a:ext uri="{FF2B5EF4-FFF2-40B4-BE49-F238E27FC236}">
                <a16:creationId xmlns:a16="http://schemas.microsoft.com/office/drawing/2014/main" id="{EFC57E91-D73D-F1D4-2CD5-581EA200A756}"/>
              </a:ext>
            </a:extLst>
          </p:cNvPr>
          <p:cNvSpPr>
            <a:spLocks noGrp="1"/>
          </p:cNvSpPr>
          <p:nvPr>
            <p:ph type="pic" sz="quarter" idx="14"/>
          </p:nvPr>
        </p:nvSpPr>
        <p:spPr>
          <a:xfrm>
            <a:off x="10548962" y="5596364"/>
            <a:ext cx="1089532" cy="887251"/>
          </a:xfrm>
        </p:spPr>
        <p:txBody>
          <a:bodyPr/>
          <a:lstStyle/>
          <a:p>
            <a:endParaRPr lang="en-GB"/>
          </a:p>
        </p:txBody>
      </p:sp>
      <p:sp>
        <p:nvSpPr>
          <p:cNvPr id="23" name="TextBox 22">
            <a:extLst>
              <a:ext uri="{FF2B5EF4-FFF2-40B4-BE49-F238E27FC236}">
                <a16:creationId xmlns:a16="http://schemas.microsoft.com/office/drawing/2014/main" id="{D0F51ADC-19AC-CC4C-101E-F9EA157D172C}"/>
              </a:ext>
            </a:extLst>
          </p:cNvPr>
          <p:cNvSpPr txBox="1"/>
          <p:nvPr userDrawn="1"/>
        </p:nvSpPr>
        <p:spPr>
          <a:xfrm>
            <a:off x="8541487" y="850054"/>
            <a:ext cx="3097014" cy="400110"/>
          </a:xfrm>
          <a:prstGeom prst="rect">
            <a:avLst/>
          </a:prstGeom>
          <a:noFill/>
        </p:spPr>
        <p:txBody>
          <a:bodyPr wrap="square" rtlCol="0">
            <a:spAutoFit/>
          </a:bodyPr>
          <a:lstStyle/>
          <a:p>
            <a:r>
              <a:rPr lang="en-GB" sz="2000" b="1" dirty="0">
                <a:latin typeface="Arial" panose="020B0604020202020204" pitchFamily="34" charset="0"/>
                <a:cs typeface="Arial" panose="020B0604020202020204" pitchFamily="34" charset="0"/>
              </a:rPr>
              <a:t>AT A GLANCE</a:t>
            </a:r>
          </a:p>
        </p:txBody>
      </p:sp>
      <p:sp>
        <p:nvSpPr>
          <p:cNvPr id="25" name="Text Placeholder 24">
            <a:extLst>
              <a:ext uri="{FF2B5EF4-FFF2-40B4-BE49-F238E27FC236}">
                <a16:creationId xmlns:a16="http://schemas.microsoft.com/office/drawing/2014/main" id="{79C7AF37-8E24-7EC6-C84D-1E144C153BAA}"/>
              </a:ext>
            </a:extLst>
          </p:cNvPr>
          <p:cNvSpPr>
            <a:spLocks noGrp="1"/>
          </p:cNvSpPr>
          <p:nvPr>
            <p:ph type="body" sz="quarter" idx="15"/>
          </p:nvPr>
        </p:nvSpPr>
        <p:spPr>
          <a:xfrm>
            <a:off x="8674226" y="1479907"/>
            <a:ext cx="2657802" cy="2219325"/>
          </a:xfrm>
        </p:spPr>
        <p:txBody>
          <a:bodyPr/>
          <a:lstStyle>
            <a:lvl1pPr>
              <a:defRPr sz="1200">
                <a:solidFill>
                  <a:schemeClr val="tx1">
                    <a:lumMod val="50000"/>
                    <a:lumOff val="50000"/>
                  </a:schemeClr>
                </a:solidFill>
                <a:latin typeface="Arial" panose="020B0604020202020204" pitchFamily="34" charset="0"/>
                <a:cs typeface="Arial" panose="020B0604020202020204" pitchFamily="34" charset="0"/>
              </a:defRPr>
            </a:lvl1pPr>
            <a:lvl2pPr>
              <a:defRPr sz="1200">
                <a:solidFill>
                  <a:schemeClr val="tx1">
                    <a:lumMod val="50000"/>
                    <a:lumOff val="50000"/>
                  </a:schemeClr>
                </a:solidFill>
                <a:latin typeface="Arial" panose="020B0604020202020204" pitchFamily="34" charset="0"/>
                <a:cs typeface="Arial" panose="020B0604020202020204" pitchFamily="34" charset="0"/>
              </a:defRPr>
            </a:lvl2pPr>
            <a:lvl3pPr>
              <a:defRPr sz="1200">
                <a:solidFill>
                  <a:schemeClr val="tx1">
                    <a:lumMod val="50000"/>
                    <a:lumOff val="50000"/>
                  </a:schemeClr>
                </a:solidFill>
                <a:latin typeface="Arial" panose="020B0604020202020204" pitchFamily="34" charset="0"/>
                <a:cs typeface="Arial" panose="020B0604020202020204" pitchFamily="34" charset="0"/>
              </a:defRPr>
            </a:lvl3pPr>
            <a:lvl4pPr>
              <a:defRPr sz="1200">
                <a:solidFill>
                  <a:schemeClr val="tx1">
                    <a:lumMod val="50000"/>
                    <a:lumOff val="50000"/>
                  </a:schemeClr>
                </a:solidFill>
                <a:latin typeface="Arial" panose="020B0604020202020204" pitchFamily="34" charset="0"/>
                <a:cs typeface="Arial" panose="020B0604020202020204" pitchFamily="34" charset="0"/>
              </a:defRPr>
            </a:lvl4pPr>
            <a:lvl5pPr>
              <a:defRPr sz="1200">
                <a:solidFill>
                  <a:schemeClr val="tx1">
                    <a:lumMod val="50000"/>
                    <a:lumOff val="50000"/>
                  </a:schemeClr>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cture Placeholder 18">
            <a:extLst>
              <a:ext uri="{FF2B5EF4-FFF2-40B4-BE49-F238E27FC236}">
                <a16:creationId xmlns:a16="http://schemas.microsoft.com/office/drawing/2014/main" id="{FAD83EC9-39E7-8960-FB4A-66247F4FE61D}"/>
              </a:ext>
            </a:extLst>
          </p:cNvPr>
          <p:cNvSpPr>
            <a:spLocks noGrp="1"/>
          </p:cNvSpPr>
          <p:nvPr>
            <p:ph type="pic" sz="quarter" idx="16"/>
          </p:nvPr>
        </p:nvSpPr>
        <p:spPr>
          <a:xfrm>
            <a:off x="7676515" y="1354712"/>
            <a:ext cx="560387" cy="584200"/>
          </a:xfrm>
        </p:spPr>
        <p:txBody>
          <a:bodyPr/>
          <a:lstStyle/>
          <a:p>
            <a:endParaRPr lang="en-GB"/>
          </a:p>
        </p:txBody>
      </p:sp>
      <p:sp>
        <p:nvSpPr>
          <p:cNvPr id="24" name="Picture Placeholder 18">
            <a:extLst>
              <a:ext uri="{FF2B5EF4-FFF2-40B4-BE49-F238E27FC236}">
                <a16:creationId xmlns:a16="http://schemas.microsoft.com/office/drawing/2014/main" id="{79B0485E-332F-E3ED-5180-4C38D7877684}"/>
              </a:ext>
            </a:extLst>
          </p:cNvPr>
          <p:cNvSpPr>
            <a:spLocks noGrp="1"/>
          </p:cNvSpPr>
          <p:nvPr>
            <p:ph type="pic" sz="quarter" idx="17"/>
          </p:nvPr>
        </p:nvSpPr>
        <p:spPr>
          <a:xfrm>
            <a:off x="7662611" y="4778729"/>
            <a:ext cx="560387" cy="584200"/>
          </a:xfrm>
        </p:spPr>
        <p:txBody>
          <a:bodyPr/>
          <a:lstStyle/>
          <a:p>
            <a:endParaRPr lang="en-GB"/>
          </a:p>
        </p:txBody>
      </p:sp>
      <p:sp>
        <p:nvSpPr>
          <p:cNvPr id="26" name="Picture Placeholder 18">
            <a:extLst>
              <a:ext uri="{FF2B5EF4-FFF2-40B4-BE49-F238E27FC236}">
                <a16:creationId xmlns:a16="http://schemas.microsoft.com/office/drawing/2014/main" id="{17DCE210-3387-3CE1-1570-6E59B39B6E98}"/>
              </a:ext>
            </a:extLst>
          </p:cNvPr>
          <p:cNvSpPr>
            <a:spLocks noGrp="1"/>
          </p:cNvSpPr>
          <p:nvPr>
            <p:ph type="pic" sz="quarter" idx="18"/>
          </p:nvPr>
        </p:nvSpPr>
        <p:spPr>
          <a:xfrm>
            <a:off x="11362809" y="1522913"/>
            <a:ext cx="560387" cy="584200"/>
          </a:xfrm>
        </p:spPr>
        <p:txBody>
          <a:bodyPr/>
          <a:lstStyle/>
          <a:p>
            <a:endParaRPr lang="en-GB"/>
          </a:p>
        </p:txBody>
      </p:sp>
      <p:sp>
        <p:nvSpPr>
          <p:cNvPr id="28" name="Title 1">
            <a:extLst>
              <a:ext uri="{FF2B5EF4-FFF2-40B4-BE49-F238E27FC236}">
                <a16:creationId xmlns:a16="http://schemas.microsoft.com/office/drawing/2014/main" id="{D8F8B44A-7F85-77D9-2043-31575F8C454F}"/>
              </a:ext>
            </a:extLst>
          </p:cNvPr>
          <p:cNvSpPr>
            <a:spLocks noGrp="1"/>
          </p:cNvSpPr>
          <p:nvPr>
            <p:ph type="title" hasCustomPrompt="1"/>
          </p:nvPr>
        </p:nvSpPr>
        <p:spPr>
          <a:xfrm>
            <a:off x="154287" y="767310"/>
            <a:ext cx="8129173" cy="475937"/>
          </a:xfrm>
        </p:spPr>
        <p:txBody>
          <a:bodyPr/>
          <a:lstStyle>
            <a:lvl1pPr>
              <a:defRPr b="1">
                <a:solidFill>
                  <a:schemeClr val="tx1"/>
                </a:solidFill>
                <a:latin typeface="Arial" panose="020B0604020202020204" pitchFamily="34" charset="0"/>
                <a:cs typeface="Arial" panose="020B0604020202020204" pitchFamily="34" charset="0"/>
              </a:defRPr>
            </a:lvl1pPr>
          </a:lstStyle>
          <a:p>
            <a:r>
              <a:rPr lang="en-GB" dirty="0"/>
              <a:t>Overview</a:t>
            </a:r>
          </a:p>
        </p:txBody>
      </p:sp>
      <p:sp>
        <p:nvSpPr>
          <p:cNvPr id="29" name="Title 2">
            <a:extLst>
              <a:ext uri="{FF2B5EF4-FFF2-40B4-BE49-F238E27FC236}">
                <a16:creationId xmlns:a16="http://schemas.microsoft.com/office/drawing/2014/main" id="{720CF06B-9487-3D5C-484F-440F7D080F41}"/>
              </a:ext>
            </a:extLst>
          </p:cNvPr>
          <p:cNvSpPr txBox="1">
            <a:spLocks/>
          </p:cNvSpPr>
          <p:nvPr userDrawn="1"/>
        </p:nvSpPr>
        <p:spPr>
          <a:xfrm>
            <a:off x="146060" y="4277770"/>
            <a:ext cx="10075084" cy="1116106"/>
          </a:xfrm>
          <a:prstGeom prst="rect">
            <a:avLst/>
          </a:prstGeom>
        </p:spPr>
        <p:txBody>
          <a:bodyPr vert="horz" lIns="91440" tIns="45720" rIns="91440" bIns="45720" rtlCol="0" anchor="t" anchorCtr="0">
            <a:noAutofit/>
          </a:bodyPr>
          <a:lstStyle>
            <a:lvl1pPr algn="l" defTabSz="685800" rtl="0" eaLnBrk="1" latinLnBrk="0" hangingPunct="1">
              <a:spcBef>
                <a:spcPct val="0"/>
              </a:spcBef>
              <a:buNone/>
              <a:defRPr sz="2700" b="1" kern="1200">
                <a:solidFill>
                  <a:schemeClr val="tx1"/>
                </a:solidFill>
                <a:latin typeface="Arial" panose="020B0604020202020204" pitchFamily="34" charset="0"/>
                <a:ea typeface="+mj-ea"/>
                <a:cs typeface="Arial" panose="020B0604020202020204" pitchFamily="34" charset="0"/>
              </a:defRPr>
            </a:lvl1pPr>
          </a:lstStyle>
          <a:p>
            <a:r>
              <a:rPr lang="en-GB" dirty="0"/>
              <a:t>Portfolio</a:t>
            </a:r>
          </a:p>
        </p:txBody>
      </p:sp>
    </p:spTree>
    <p:extLst>
      <p:ext uri="{BB962C8B-B14F-4D97-AF65-F5344CB8AC3E}">
        <p14:creationId xmlns:p14="http://schemas.microsoft.com/office/powerpoint/2010/main" val="26873240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_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2318C7D-B421-4556-7BFD-CC04951D942A}"/>
              </a:ext>
            </a:extLst>
          </p:cNvPr>
          <p:cNvSpPr/>
          <p:nvPr userDrawn="1"/>
        </p:nvSpPr>
        <p:spPr>
          <a:xfrm>
            <a:off x="6293423" y="780377"/>
            <a:ext cx="5500858" cy="28985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Rectangle 6">
            <a:extLst>
              <a:ext uri="{FF2B5EF4-FFF2-40B4-BE49-F238E27FC236}">
                <a16:creationId xmlns:a16="http://schemas.microsoft.com/office/drawing/2014/main" id="{0517C9D5-49AC-9CA1-E5F3-5A1A806A33F8}"/>
              </a:ext>
            </a:extLst>
          </p:cNvPr>
          <p:cNvSpPr/>
          <p:nvPr userDrawn="1"/>
        </p:nvSpPr>
        <p:spPr>
          <a:xfrm>
            <a:off x="242480" y="4019724"/>
            <a:ext cx="5903625" cy="25463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 name="Rectangle 4">
            <a:extLst>
              <a:ext uri="{FF2B5EF4-FFF2-40B4-BE49-F238E27FC236}">
                <a16:creationId xmlns:a16="http://schemas.microsoft.com/office/drawing/2014/main" id="{842A2C26-E205-E6B7-3924-B3F00935BC4F}"/>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endParaRPr lang="en-IN" sz="2000" b="1" kern="1200" dirty="0">
              <a:solidFill>
                <a:schemeClr val="lt1"/>
              </a:solidFill>
              <a:effectLst/>
              <a:latin typeface="Arial" panose="020B0604020202020204" pitchFamily="34" charset="0"/>
              <a:ea typeface="+mn-ea"/>
              <a:cs typeface="Arial" panose="020B0604020202020204" pitchFamily="34" charset="0"/>
            </a:endParaRPr>
          </a:p>
        </p:txBody>
      </p:sp>
      <p:sp>
        <p:nvSpPr>
          <p:cNvPr id="3" name="TextBox 2">
            <a:extLst>
              <a:ext uri="{FF2B5EF4-FFF2-40B4-BE49-F238E27FC236}">
                <a16:creationId xmlns:a16="http://schemas.microsoft.com/office/drawing/2014/main" id="{EF2B70FC-EA3A-9BC1-136F-70C24143B8A4}"/>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4" name="Picture 3" descr="A white letter on a black background&#10;&#10;AI-generated content may be incorrect.">
            <a:extLst>
              <a:ext uri="{FF2B5EF4-FFF2-40B4-BE49-F238E27FC236}">
                <a16:creationId xmlns:a16="http://schemas.microsoft.com/office/drawing/2014/main" id="{8405219B-631A-B6C2-078E-01EE365BF882}"/>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2" name="TextBox 153">
            <a:extLst>
              <a:ext uri="{FF2B5EF4-FFF2-40B4-BE49-F238E27FC236}">
                <a16:creationId xmlns:a16="http://schemas.microsoft.com/office/drawing/2014/main" id="{A7B5FD41-65CC-DCFC-EEA0-2E9BD7A03752}"/>
              </a:ext>
            </a:extLst>
          </p:cNvPr>
          <p:cNvSpPr txBox="1"/>
          <p:nvPr userDrawn="1"/>
        </p:nvSpPr>
        <p:spPr>
          <a:xfrm>
            <a:off x="192373" y="707336"/>
            <a:ext cx="5953732" cy="444203"/>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6" name="TextBox 153">
            <a:extLst>
              <a:ext uri="{FF2B5EF4-FFF2-40B4-BE49-F238E27FC236}">
                <a16:creationId xmlns:a16="http://schemas.microsoft.com/office/drawing/2014/main" id="{C757E7BD-409D-85E9-63ED-AF7F5EEECDC8}"/>
              </a:ext>
            </a:extLst>
          </p:cNvPr>
          <p:cNvSpPr txBox="1"/>
          <p:nvPr userDrawn="1"/>
        </p:nvSpPr>
        <p:spPr>
          <a:xfrm>
            <a:off x="6293423" y="3768347"/>
            <a:ext cx="5500858" cy="345556"/>
          </a:xfrm>
          <a:prstGeom prst="roundRect">
            <a:avLst/>
          </a:prstGeom>
          <a:solidFill>
            <a:srgbClr val="0077B6">
              <a:alpha val="42000"/>
            </a:srgbClr>
          </a:solidFill>
          <a:ln>
            <a:noFill/>
          </a:ln>
          <a:effectLst/>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300"/>
              </a:spcAft>
              <a:buClrTx/>
              <a:buSzTx/>
              <a:buFontTx/>
              <a:buNone/>
              <a:tabLst/>
              <a:defRPr/>
            </a:pPr>
            <a:endParaRPr kumimoji="0" lang="en-GB" sz="2000" b="1" i="0" u="none" strike="noStrike" kern="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endParaRPr>
          </a:p>
        </p:txBody>
      </p:sp>
      <p:sp>
        <p:nvSpPr>
          <p:cNvPr id="10" name="Bar Graph">
            <a:extLst>
              <a:ext uri="{FF2B5EF4-FFF2-40B4-BE49-F238E27FC236}">
                <a16:creationId xmlns:a16="http://schemas.microsoft.com/office/drawing/2014/main" id="{314BFA5B-DA44-35AB-4230-666E47503CBA}"/>
              </a:ext>
            </a:extLst>
          </p:cNvPr>
          <p:cNvSpPr>
            <a:spLocks noGrp="1"/>
          </p:cNvSpPr>
          <p:nvPr>
            <p:ph type="chart" sz="quarter" idx="10"/>
          </p:nvPr>
        </p:nvSpPr>
        <p:spPr>
          <a:xfrm>
            <a:off x="258762" y="1212058"/>
            <a:ext cx="5850553" cy="2710656"/>
          </a:xfrm>
        </p:spPr>
        <p:txBody>
          <a:bodyPr/>
          <a:lstStyle/>
          <a:p>
            <a:endParaRPr lang="en-GB"/>
          </a:p>
        </p:txBody>
      </p:sp>
      <p:sp>
        <p:nvSpPr>
          <p:cNvPr id="12" name="Pie Graph">
            <a:extLst>
              <a:ext uri="{FF2B5EF4-FFF2-40B4-BE49-F238E27FC236}">
                <a16:creationId xmlns:a16="http://schemas.microsoft.com/office/drawing/2014/main" id="{4F4B5099-C250-429F-B035-D8FD2B9191E4}"/>
              </a:ext>
            </a:extLst>
          </p:cNvPr>
          <p:cNvSpPr>
            <a:spLocks noGrp="1"/>
          </p:cNvSpPr>
          <p:nvPr>
            <p:ph type="chart" sz="quarter" idx="11"/>
          </p:nvPr>
        </p:nvSpPr>
        <p:spPr>
          <a:xfrm>
            <a:off x="6293423" y="4203279"/>
            <a:ext cx="5752516" cy="2417016"/>
          </a:xfrm>
        </p:spPr>
        <p:txBody>
          <a:bodyPr/>
          <a:lstStyle/>
          <a:p>
            <a:endParaRPr lang="en-GB"/>
          </a:p>
        </p:txBody>
      </p:sp>
      <p:sp>
        <p:nvSpPr>
          <p:cNvPr id="14" name="Bar Chart Text">
            <a:extLst>
              <a:ext uri="{FF2B5EF4-FFF2-40B4-BE49-F238E27FC236}">
                <a16:creationId xmlns:a16="http://schemas.microsoft.com/office/drawing/2014/main" id="{2DFEA1BA-A093-DDF9-3DB8-B4A28E960CDA}"/>
              </a:ext>
            </a:extLst>
          </p:cNvPr>
          <p:cNvSpPr>
            <a:spLocks noGrp="1"/>
          </p:cNvSpPr>
          <p:nvPr>
            <p:ph type="body" sz="quarter" idx="12"/>
          </p:nvPr>
        </p:nvSpPr>
        <p:spPr>
          <a:xfrm>
            <a:off x="275046" y="4095066"/>
            <a:ext cx="5376865" cy="2367518"/>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6" name="Pie Chart Text">
            <a:extLst>
              <a:ext uri="{FF2B5EF4-FFF2-40B4-BE49-F238E27FC236}">
                <a16:creationId xmlns:a16="http://schemas.microsoft.com/office/drawing/2014/main" id="{A6C93ED4-1702-7B8D-5F36-E67260FB774A}"/>
              </a:ext>
            </a:extLst>
          </p:cNvPr>
          <p:cNvSpPr>
            <a:spLocks noGrp="1"/>
          </p:cNvSpPr>
          <p:nvPr>
            <p:ph type="body" sz="quarter" idx="13"/>
          </p:nvPr>
        </p:nvSpPr>
        <p:spPr>
          <a:xfrm>
            <a:off x="6392577" y="828316"/>
            <a:ext cx="4852072" cy="2760822"/>
          </a:xfrm>
        </p:spPr>
        <p:txBody>
          <a:bodyPr/>
          <a:lstStyle>
            <a:lvl1pPr>
              <a:defRPr sz="1200">
                <a:latin typeface="Arial" panose="020B0604020202020204" pitchFamily="34" charset="0"/>
                <a:cs typeface="Arial" panose="020B0604020202020204" pitchFamily="34" charset="0"/>
              </a:defRPr>
            </a:lvl1pPr>
            <a:lvl2pPr>
              <a:defRPr sz="1200"/>
            </a:lvl2pPr>
            <a:lvl3pPr>
              <a:defRPr sz="1200"/>
            </a:lvl3pPr>
            <a:lvl4pPr>
              <a:defRPr sz="1200"/>
            </a:lvl4pPr>
            <a:lvl5pPr>
              <a:defRPr sz="1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9" name="Pie Icon">
            <a:extLst>
              <a:ext uri="{FF2B5EF4-FFF2-40B4-BE49-F238E27FC236}">
                <a16:creationId xmlns:a16="http://schemas.microsoft.com/office/drawing/2014/main" id="{50C145BC-849C-7BED-8D76-9D2CBB6027C8}"/>
              </a:ext>
            </a:extLst>
          </p:cNvPr>
          <p:cNvSpPr>
            <a:spLocks noGrp="1"/>
          </p:cNvSpPr>
          <p:nvPr>
            <p:ph type="pic" sz="quarter" idx="16"/>
          </p:nvPr>
        </p:nvSpPr>
        <p:spPr>
          <a:xfrm>
            <a:off x="11126680" y="3004938"/>
            <a:ext cx="560387" cy="584200"/>
          </a:xfrm>
        </p:spPr>
        <p:txBody>
          <a:bodyPr/>
          <a:lstStyle/>
          <a:p>
            <a:endParaRPr lang="en-GB"/>
          </a:p>
        </p:txBody>
      </p:sp>
      <p:sp>
        <p:nvSpPr>
          <p:cNvPr id="11" name="Bar Icon">
            <a:extLst>
              <a:ext uri="{FF2B5EF4-FFF2-40B4-BE49-F238E27FC236}">
                <a16:creationId xmlns:a16="http://schemas.microsoft.com/office/drawing/2014/main" id="{D8485975-C325-68AD-C16C-A6ED6801C253}"/>
              </a:ext>
            </a:extLst>
          </p:cNvPr>
          <p:cNvSpPr>
            <a:spLocks noGrp="1"/>
          </p:cNvSpPr>
          <p:nvPr>
            <p:ph type="pic" sz="quarter" idx="17"/>
          </p:nvPr>
        </p:nvSpPr>
        <p:spPr>
          <a:xfrm>
            <a:off x="5548929" y="5836401"/>
            <a:ext cx="560387" cy="584200"/>
          </a:xfrm>
        </p:spPr>
        <p:txBody>
          <a:bodyPr/>
          <a:lstStyle/>
          <a:p>
            <a:endParaRPr lang="en-GB"/>
          </a:p>
        </p:txBody>
      </p:sp>
      <p:sp>
        <p:nvSpPr>
          <p:cNvPr id="17" name="Bar Chart Title">
            <a:extLst>
              <a:ext uri="{FF2B5EF4-FFF2-40B4-BE49-F238E27FC236}">
                <a16:creationId xmlns:a16="http://schemas.microsoft.com/office/drawing/2014/main" id="{9D9991A1-48D6-46D4-FBFC-5B6D1DAEA7B5}"/>
              </a:ext>
            </a:extLst>
          </p:cNvPr>
          <p:cNvSpPr>
            <a:spLocks noGrp="1"/>
          </p:cNvSpPr>
          <p:nvPr>
            <p:ph type="body" sz="quarter" idx="18"/>
          </p:nvPr>
        </p:nvSpPr>
        <p:spPr>
          <a:xfrm>
            <a:off x="388286" y="767854"/>
            <a:ext cx="5511800" cy="271463"/>
          </a:xfrm>
        </p:spPr>
        <p:txBody>
          <a:bodyPr/>
          <a:lstStyle>
            <a:lvl1pPr>
              <a:defRPr sz="2000" b="1">
                <a:solidFill>
                  <a:schemeClr val="tx1"/>
                </a:solidFill>
                <a:latin typeface="Arial" panose="020B0604020202020204" pitchFamily="34" charset="0"/>
                <a:cs typeface="Arial" panose="020B0604020202020204" pitchFamily="34" charset="0"/>
              </a:defRPr>
            </a:lvl1pPr>
            <a:lvl2pPr>
              <a:defRPr sz="2000" b="1">
                <a:solidFill>
                  <a:schemeClr val="tx1"/>
                </a:solidFill>
                <a:latin typeface="Arial" panose="020B0604020202020204" pitchFamily="34" charset="0"/>
                <a:cs typeface="Arial" panose="020B0604020202020204" pitchFamily="34" charset="0"/>
              </a:defRPr>
            </a:lvl2pPr>
            <a:lvl3pPr>
              <a:defRPr sz="2000" b="1">
                <a:solidFill>
                  <a:schemeClr val="tx1"/>
                </a:solidFill>
                <a:latin typeface="Arial" panose="020B0604020202020204" pitchFamily="34" charset="0"/>
                <a:cs typeface="Arial" panose="020B0604020202020204" pitchFamily="34" charset="0"/>
              </a:defRPr>
            </a:lvl3pPr>
            <a:lvl4pPr>
              <a:defRPr sz="2000" b="1">
                <a:solidFill>
                  <a:schemeClr val="tx1"/>
                </a:solidFill>
                <a:latin typeface="Arial" panose="020B0604020202020204" pitchFamily="34" charset="0"/>
                <a:cs typeface="Arial" panose="020B0604020202020204" pitchFamily="34" charset="0"/>
              </a:defRPr>
            </a:lvl4pPr>
            <a:lvl5pPr>
              <a:defRPr sz="2000"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9" name="Pie Chart Title">
            <a:extLst>
              <a:ext uri="{FF2B5EF4-FFF2-40B4-BE49-F238E27FC236}">
                <a16:creationId xmlns:a16="http://schemas.microsoft.com/office/drawing/2014/main" id="{3AA68E73-7E2F-1CA9-2535-55E22322272D}"/>
              </a:ext>
            </a:extLst>
          </p:cNvPr>
          <p:cNvSpPr>
            <a:spLocks noGrp="1"/>
          </p:cNvSpPr>
          <p:nvPr>
            <p:ph type="body" sz="quarter" idx="19"/>
          </p:nvPr>
        </p:nvSpPr>
        <p:spPr>
          <a:xfrm>
            <a:off x="6343529" y="3764130"/>
            <a:ext cx="5173662" cy="342900"/>
          </a:xfrm>
        </p:spPr>
        <p:txBody>
          <a:bodyPr/>
          <a:lstStyle>
            <a:lvl1pPr>
              <a:defRPr sz="2000" b="1">
                <a:solidFill>
                  <a:schemeClr val="tx1"/>
                </a:solidFill>
                <a:latin typeface="Arial" panose="020B0604020202020204" pitchFamily="34" charset="0"/>
                <a:cs typeface="Arial" panose="020B0604020202020204" pitchFamily="34" charset="0"/>
              </a:defRPr>
            </a:lvl1pPr>
            <a:lvl2pPr>
              <a:defRPr b="1">
                <a:solidFill>
                  <a:schemeClr val="tx1"/>
                </a:solidFill>
                <a:latin typeface="Arial" panose="020B0604020202020204" pitchFamily="34" charset="0"/>
                <a:cs typeface="Arial" panose="020B0604020202020204" pitchFamily="34" charset="0"/>
              </a:defRPr>
            </a:lvl2pPr>
            <a:lvl3pPr>
              <a:defRPr b="1">
                <a:solidFill>
                  <a:schemeClr val="tx1"/>
                </a:solidFill>
                <a:latin typeface="Arial" panose="020B0604020202020204" pitchFamily="34" charset="0"/>
                <a:cs typeface="Arial" panose="020B0604020202020204" pitchFamily="34" charset="0"/>
              </a:defRPr>
            </a:lvl3pPr>
            <a:lvl4pPr>
              <a:defRPr b="1">
                <a:solidFill>
                  <a:schemeClr val="tx1"/>
                </a:solidFill>
                <a:latin typeface="Arial" panose="020B0604020202020204" pitchFamily="34" charset="0"/>
                <a:cs typeface="Arial" panose="020B0604020202020204" pitchFamily="34" charset="0"/>
              </a:defRPr>
            </a:lvl4pPr>
            <a:lvl5pPr>
              <a:defRPr b="1">
                <a:solidFill>
                  <a:schemeClr val="tx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1" name="Title">
            <a:extLst>
              <a:ext uri="{FF2B5EF4-FFF2-40B4-BE49-F238E27FC236}">
                <a16:creationId xmlns:a16="http://schemas.microsoft.com/office/drawing/2014/main" id="{D99BE25C-6F4A-E4EC-288F-86E2C1351AFD}"/>
              </a:ext>
            </a:extLst>
          </p:cNvPr>
          <p:cNvSpPr>
            <a:spLocks noGrp="1"/>
          </p:cNvSpPr>
          <p:nvPr>
            <p:ph type="body" sz="quarter" idx="20"/>
          </p:nvPr>
        </p:nvSpPr>
        <p:spPr>
          <a:xfrm>
            <a:off x="192088" y="0"/>
            <a:ext cx="9063037" cy="476250"/>
          </a:xfrm>
        </p:spPr>
        <p:txBody>
          <a:bodyPr/>
          <a:lstStyle>
            <a:lvl1pPr>
              <a:defRPr sz="2000" b="1">
                <a:solidFill>
                  <a:schemeClr val="bg1"/>
                </a:solidFill>
                <a:latin typeface="Arial" panose="020B0604020202020204" pitchFamily="34" charset="0"/>
                <a:cs typeface="Arial" panose="020B0604020202020204" pitchFamily="34" charset="0"/>
              </a:defRPr>
            </a:lvl1pPr>
            <a:lvl2pPr>
              <a:defRPr sz="2000" b="1">
                <a:solidFill>
                  <a:schemeClr val="bg1"/>
                </a:solidFill>
                <a:latin typeface="Arial" panose="020B0604020202020204" pitchFamily="34" charset="0"/>
                <a:cs typeface="Arial" panose="020B0604020202020204" pitchFamily="34" charset="0"/>
              </a:defRPr>
            </a:lvl2pPr>
            <a:lvl3pPr>
              <a:defRPr sz="2000" b="1">
                <a:solidFill>
                  <a:schemeClr val="bg1"/>
                </a:solidFill>
                <a:latin typeface="Arial" panose="020B0604020202020204" pitchFamily="34" charset="0"/>
                <a:cs typeface="Arial" panose="020B0604020202020204" pitchFamily="34" charset="0"/>
              </a:defRPr>
            </a:lvl3pPr>
            <a:lvl4pPr>
              <a:defRPr sz="2000" b="1">
                <a:solidFill>
                  <a:schemeClr val="bg1"/>
                </a:solidFill>
                <a:latin typeface="Arial" panose="020B0604020202020204" pitchFamily="34" charset="0"/>
                <a:cs typeface="Arial" panose="020B0604020202020204" pitchFamily="34" charset="0"/>
              </a:defRPr>
            </a:lvl4pPr>
            <a:lvl5pPr>
              <a:defRPr sz="2000" b="1">
                <a:solidFill>
                  <a:schemeClr val="bg1"/>
                </a:solidFill>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Tree>
    <p:extLst>
      <p:ext uri="{BB962C8B-B14F-4D97-AF65-F5344CB8AC3E}">
        <p14:creationId xmlns:p14="http://schemas.microsoft.com/office/powerpoint/2010/main" val="1840751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_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DE9D625-B252-EFFB-3A00-7B566DC08A6F}"/>
              </a:ext>
            </a:extLst>
          </p:cNvPr>
          <p:cNvSpPr/>
          <p:nvPr userDrawn="1"/>
        </p:nvSpPr>
        <p:spPr>
          <a:xfrm>
            <a:off x="4395498" y="2088107"/>
            <a:ext cx="3519725" cy="2839548"/>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numCol="1" rtlCol="0" anchor="ct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 name="Rectangle 5">
            <a:extLst>
              <a:ext uri="{FF2B5EF4-FFF2-40B4-BE49-F238E27FC236}">
                <a16:creationId xmlns:a16="http://schemas.microsoft.com/office/drawing/2014/main" id="{1BC3EBF0-E13C-252F-470B-3F9796752F0C}"/>
              </a:ext>
            </a:extLst>
          </p:cNvPr>
          <p:cNvSpPr/>
          <p:nvPr userDrawn="1"/>
        </p:nvSpPr>
        <p:spPr>
          <a:xfrm>
            <a:off x="-19877" y="-79512"/>
            <a:ext cx="12231756" cy="695739"/>
          </a:xfrm>
          <a:prstGeom prst="rect">
            <a:avLst/>
          </a:prstGeom>
          <a:solidFill>
            <a:srgbClr val="0033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r>
              <a:rPr lang="en-US" sz="2000" b="1" dirty="0">
                <a:solidFill>
                  <a:srgbClr val="FFFFFF"/>
                </a:solidFill>
                <a:latin typeface="Arial"/>
              </a:rPr>
              <a:t>INVESTMENT HIGHLIGHTS</a:t>
            </a:r>
            <a:endParaRPr sz="2000" b="1" dirty="0">
              <a:solidFill>
                <a:srgbClr val="FFFFFF"/>
              </a:solidFill>
              <a:latin typeface="Arial"/>
            </a:endParaRPr>
          </a:p>
        </p:txBody>
      </p:sp>
      <p:sp>
        <p:nvSpPr>
          <p:cNvPr id="4" name="TextBox 3">
            <a:extLst>
              <a:ext uri="{FF2B5EF4-FFF2-40B4-BE49-F238E27FC236}">
                <a16:creationId xmlns:a16="http://schemas.microsoft.com/office/drawing/2014/main" id="{079099D8-B111-64B9-AED3-0B81F8134912}"/>
              </a:ext>
            </a:extLst>
          </p:cNvPr>
          <p:cNvSpPr txBox="1"/>
          <p:nvPr userDrawn="1"/>
        </p:nvSpPr>
        <p:spPr>
          <a:xfrm>
            <a:off x="4340271" y="6627168"/>
            <a:ext cx="3511457" cy="230832"/>
          </a:xfrm>
          <a:prstGeom prst="rect">
            <a:avLst/>
          </a:prstGeom>
          <a:noFill/>
        </p:spPr>
        <p:txBody>
          <a:bodyPr wrap="square">
            <a:spAutoFit/>
          </a:bodyPr>
          <a:lstStyle/>
          <a:p>
            <a:r>
              <a:rPr lang="en-IN" sz="900" b="0" dirty="0">
                <a:solidFill>
                  <a:schemeClr val="tx1"/>
                </a:solidFill>
                <a:latin typeface="Arial"/>
              </a:rPr>
              <a:t>Strictly Private &amp; Confidential – Prepared by Kelp M&amp;A Team</a:t>
            </a:r>
            <a:endParaRPr lang="en-US" sz="900" dirty="0">
              <a:solidFill>
                <a:schemeClr val="tx1"/>
              </a:solidFill>
            </a:endParaRPr>
          </a:p>
        </p:txBody>
      </p:sp>
      <p:pic>
        <p:nvPicPr>
          <p:cNvPr id="5" name="Picture 4" descr="A white letter on a black background&#10;&#10;AI-generated content may be incorrect.">
            <a:extLst>
              <a:ext uri="{FF2B5EF4-FFF2-40B4-BE49-F238E27FC236}">
                <a16:creationId xmlns:a16="http://schemas.microsoft.com/office/drawing/2014/main" id="{20DAE98F-4E14-A8A3-15C2-ED6852567ACC}"/>
              </a:ext>
            </a:extLst>
          </p:cNvPr>
          <p:cNvPicPr>
            <a:picLocks noChangeAspect="1"/>
          </p:cNvPicPr>
          <p:nvPr userDrawn="1"/>
        </p:nvPicPr>
        <p:blipFill>
          <a:blip r:embed="rId2"/>
          <a:stretch>
            <a:fillRect/>
          </a:stretch>
        </p:blipFill>
        <p:spPr>
          <a:xfrm>
            <a:off x="10685260" y="-1"/>
            <a:ext cx="1360679" cy="517197"/>
          </a:xfrm>
          <a:prstGeom prst="rect">
            <a:avLst/>
          </a:prstGeom>
        </p:spPr>
      </p:pic>
      <p:sp>
        <p:nvSpPr>
          <p:cNvPr id="8" name="TextBox 7">
            <a:extLst>
              <a:ext uri="{FF2B5EF4-FFF2-40B4-BE49-F238E27FC236}">
                <a16:creationId xmlns:a16="http://schemas.microsoft.com/office/drawing/2014/main" id="{9C614A9E-8F95-982B-8753-47EDDA1EBD51}"/>
              </a:ext>
            </a:extLst>
          </p:cNvPr>
          <p:cNvSpPr txBox="1"/>
          <p:nvPr userDrawn="1"/>
        </p:nvSpPr>
        <p:spPr>
          <a:xfrm>
            <a:off x="445822"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5" name="TextBox 34">
            <a:extLst>
              <a:ext uri="{FF2B5EF4-FFF2-40B4-BE49-F238E27FC236}">
                <a16:creationId xmlns:a16="http://schemas.microsoft.com/office/drawing/2014/main" id="{FF534886-F3B6-8ECD-72C7-0AF52C54FDBE}"/>
              </a:ext>
            </a:extLst>
          </p:cNvPr>
          <p:cNvSpPr txBox="1"/>
          <p:nvPr userDrawn="1"/>
        </p:nvSpPr>
        <p:spPr>
          <a:xfrm>
            <a:off x="445822" y="3090275"/>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6" name="TextBox 35">
            <a:extLst>
              <a:ext uri="{FF2B5EF4-FFF2-40B4-BE49-F238E27FC236}">
                <a16:creationId xmlns:a16="http://schemas.microsoft.com/office/drawing/2014/main" id="{FC6F682F-2F9F-0CE1-8721-13E3F577FC72}"/>
              </a:ext>
            </a:extLst>
          </p:cNvPr>
          <p:cNvSpPr txBox="1"/>
          <p:nvPr userDrawn="1"/>
        </p:nvSpPr>
        <p:spPr>
          <a:xfrm>
            <a:off x="8229266" y="1128668"/>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7" name="TextBox 36">
            <a:extLst>
              <a:ext uri="{FF2B5EF4-FFF2-40B4-BE49-F238E27FC236}">
                <a16:creationId xmlns:a16="http://schemas.microsoft.com/office/drawing/2014/main" id="{AAF64F0F-101E-61D2-B3AC-357F5CB3FA39}"/>
              </a:ext>
            </a:extLst>
          </p:cNvPr>
          <p:cNvSpPr txBox="1"/>
          <p:nvPr userDrawn="1"/>
        </p:nvSpPr>
        <p:spPr>
          <a:xfrm>
            <a:off x="8229265" y="4982247"/>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2" name="TextBox 1">
            <a:extLst>
              <a:ext uri="{FF2B5EF4-FFF2-40B4-BE49-F238E27FC236}">
                <a16:creationId xmlns:a16="http://schemas.microsoft.com/office/drawing/2014/main" id="{492E92FF-7727-F376-371F-DF4984617C32}"/>
              </a:ext>
            </a:extLst>
          </p:cNvPr>
          <p:cNvSpPr txBox="1"/>
          <p:nvPr userDrawn="1"/>
        </p:nvSpPr>
        <p:spPr>
          <a:xfrm>
            <a:off x="445821" y="4960264"/>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3" name="TextBox 2">
            <a:extLst>
              <a:ext uri="{FF2B5EF4-FFF2-40B4-BE49-F238E27FC236}">
                <a16:creationId xmlns:a16="http://schemas.microsoft.com/office/drawing/2014/main" id="{F8A9165A-549C-5FC1-E3B8-CC0D1FCCCBF8}"/>
              </a:ext>
            </a:extLst>
          </p:cNvPr>
          <p:cNvSpPr txBox="1"/>
          <p:nvPr userDrawn="1"/>
        </p:nvSpPr>
        <p:spPr>
          <a:xfrm>
            <a:off x="8229264" y="2982402"/>
            <a:ext cx="3449743" cy="903415"/>
          </a:xfrm>
          <a:prstGeom prst="rect">
            <a:avLst/>
          </a:prstGeom>
          <a:solidFill>
            <a:schemeClr val="bg1"/>
          </a:solidFill>
          <a:ln w="50800" cap="rnd" cmpd="thickThin">
            <a:solidFill>
              <a:srgbClr val="A31D63"/>
            </a:solidFill>
            <a:prstDash val="solid"/>
            <a:miter lim="800000"/>
            <a:extLst>
              <a:ext uri="{C807C97D-BFC1-408E-A445-0C87EB9F89A2}">
                <ask:lineSketchStyleProps xmlns:ask="http://schemas.microsoft.com/office/drawing/2018/sketchyshapes" sd="1219033472">
                  <a:custGeom>
                    <a:avLst/>
                    <a:gdLst>
                      <a:gd name="csX0" fmla="*/ 0 w 3286456"/>
                      <a:gd name="csY0" fmla="*/ 0 h 701090"/>
                      <a:gd name="csX1" fmla="*/ 3286456 w 3286456"/>
                      <a:gd name="csY1" fmla="*/ 0 h 701090"/>
                      <a:gd name="csX2" fmla="*/ 3286456 w 3286456"/>
                      <a:gd name="csY2" fmla="*/ 701090 h 701090"/>
                      <a:gd name="csX3" fmla="*/ 0 w 3286456"/>
                      <a:gd name="csY3" fmla="*/ 701090 h 701090"/>
                      <a:gd name="csX4" fmla="*/ 0 w 3286456"/>
                      <a:gd name="csY4" fmla="*/ 0 h 701090"/>
                    </a:gdLst>
                    <a:ahLst/>
                    <a:cxnLst>
                      <a:cxn ang="0">
                        <a:pos x="csX0" y="csY0"/>
                      </a:cxn>
                      <a:cxn ang="0">
                        <a:pos x="csX1" y="csY1"/>
                      </a:cxn>
                      <a:cxn ang="0">
                        <a:pos x="csX2" y="csY2"/>
                      </a:cxn>
                      <a:cxn ang="0">
                        <a:pos x="csX3" y="csY3"/>
                      </a:cxn>
                      <a:cxn ang="0">
                        <a:pos x="csX4" y="csY4"/>
                      </a:cxn>
                    </a:cxnLst>
                    <a:rect l="l" t="t" r="r" b="b"/>
                    <a:pathLst>
                      <a:path w="3286456" h="701090" fill="none" extrusionOk="0">
                        <a:moveTo>
                          <a:pt x="0" y="0"/>
                        </a:moveTo>
                        <a:cubicBezTo>
                          <a:pt x="345504" y="-49533"/>
                          <a:pt x="2362315" y="-14809"/>
                          <a:pt x="3286456" y="0"/>
                        </a:cubicBezTo>
                        <a:cubicBezTo>
                          <a:pt x="3295940" y="185562"/>
                          <a:pt x="3275132" y="540055"/>
                          <a:pt x="3286456" y="701090"/>
                        </a:cubicBezTo>
                        <a:cubicBezTo>
                          <a:pt x="2824052" y="652859"/>
                          <a:pt x="1126368" y="785545"/>
                          <a:pt x="0" y="701090"/>
                        </a:cubicBezTo>
                        <a:cubicBezTo>
                          <a:pt x="559" y="395363"/>
                          <a:pt x="62893" y="228151"/>
                          <a:pt x="0" y="0"/>
                        </a:cubicBezTo>
                        <a:close/>
                      </a:path>
                      <a:path w="3286456" h="701090" stroke="0" extrusionOk="0">
                        <a:moveTo>
                          <a:pt x="0" y="0"/>
                        </a:moveTo>
                        <a:cubicBezTo>
                          <a:pt x="1350693" y="118645"/>
                          <a:pt x="2920673" y="116012"/>
                          <a:pt x="3286456" y="0"/>
                        </a:cubicBezTo>
                        <a:cubicBezTo>
                          <a:pt x="3313316" y="268183"/>
                          <a:pt x="3330599" y="586607"/>
                          <a:pt x="3286456" y="701090"/>
                        </a:cubicBezTo>
                        <a:cubicBezTo>
                          <a:pt x="2804335" y="835690"/>
                          <a:pt x="937146" y="543894"/>
                          <a:pt x="0" y="701090"/>
                        </a:cubicBezTo>
                        <a:cubicBezTo>
                          <a:pt x="26234" y="504983"/>
                          <a:pt x="8575" y="228152"/>
                          <a:pt x="0" y="0"/>
                        </a:cubicBezTo>
                        <a:close/>
                      </a:path>
                    </a:pathLst>
                  </a:custGeom>
                  <ask:type>
                    <ask:lineSketchNone/>
                  </ask:type>
                </ask:lineSketchStyleProps>
              </a:ext>
            </a:extLst>
          </a:ln>
        </p:spPr>
        <p:txBody>
          <a:bodyPr wrap="square" rtlCol="0">
            <a:spAutoFit/>
          </a:bodyPr>
          <a:lstStyle/>
          <a:p>
            <a:endParaRPr lang="en-GB" dirty="0"/>
          </a:p>
        </p:txBody>
      </p:sp>
      <p:sp>
        <p:nvSpPr>
          <p:cNvPr id="9" name="Text Placeholder 8">
            <a:extLst>
              <a:ext uri="{FF2B5EF4-FFF2-40B4-BE49-F238E27FC236}">
                <a16:creationId xmlns:a16="http://schemas.microsoft.com/office/drawing/2014/main" id="{173ACBEE-F2CF-9F04-221F-55220E28F08D}"/>
              </a:ext>
            </a:extLst>
          </p:cNvPr>
          <p:cNvSpPr>
            <a:spLocks noGrp="1"/>
          </p:cNvSpPr>
          <p:nvPr>
            <p:ph type="body" sz="quarter" idx="10"/>
          </p:nvPr>
        </p:nvSpPr>
        <p:spPr>
          <a:xfrm>
            <a:off x="576842"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0" name="Text Placeholder 8">
            <a:extLst>
              <a:ext uri="{FF2B5EF4-FFF2-40B4-BE49-F238E27FC236}">
                <a16:creationId xmlns:a16="http://schemas.microsoft.com/office/drawing/2014/main" id="{C16A02EF-3A0A-9F69-ED41-5964EB2FB726}"/>
              </a:ext>
            </a:extLst>
          </p:cNvPr>
          <p:cNvSpPr>
            <a:spLocks noGrp="1"/>
          </p:cNvSpPr>
          <p:nvPr>
            <p:ph type="body" sz="quarter" idx="11"/>
          </p:nvPr>
        </p:nvSpPr>
        <p:spPr>
          <a:xfrm>
            <a:off x="576842" y="3208607"/>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1" name="Text Placeholder 8">
            <a:extLst>
              <a:ext uri="{FF2B5EF4-FFF2-40B4-BE49-F238E27FC236}">
                <a16:creationId xmlns:a16="http://schemas.microsoft.com/office/drawing/2014/main" id="{3279AE7B-09C6-FA87-CD67-8A56043506EF}"/>
              </a:ext>
            </a:extLst>
          </p:cNvPr>
          <p:cNvSpPr>
            <a:spLocks noGrp="1"/>
          </p:cNvSpPr>
          <p:nvPr>
            <p:ph type="body" sz="quarter" idx="12"/>
          </p:nvPr>
        </p:nvSpPr>
        <p:spPr>
          <a:xfrm>
            <a:off x="576842"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2" name="Text Placeholder 8">
            <a:extLst>
              <a:ext uri="{FF2B5EF4-FFF2-40B4-BE49-F238E27FC236}">
                <a16:creationId xmlns:a16="http://schemas.microsoft.com/office/drawing/2014/main" id="{91EFA2E5-2EED-FC30-19ED-119A4FA44F35}"/>
              </a:ext>
            </a:extLst>
          </p:cNvPr>
          <p:cNvSpPr>
            <a:spLocks noGrp="1"/>
          </p:cNvSpPr>
          <p:nvPr>
            <p:ph type="body" sz="quarter" idx="13"/>
          </p:nvPr>
        </p:nvSpPr>
        <p:spPr>
          <a:xfrm>
            <a:off x="8358148" y="5100579"/>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3" name="Text Placeholder 8">
            <a:extLst>
              <a:ext uri="{FF2B5EF4-FFF2-40B4-BE49-F238E27FC236}">
                <a16:creationId xmlns:a16="http://schemas.microsoft.com/office/drawing/2014/main" id="{9B35D539-7AB8-8443-6FCD-CB867FE8F6D5}"/>
              </a:ext>
            </a:extLst>
          </p:cNvPr>
          <p:cNvSpPr>
            <a:spLocks noGrp="1"/>
          </p:cNvSpPr>
          <p:nvPr>
            <p:ph type="body" sz="quarter" idx="14"/>
          </p:nvPr>
        </p:nvSpPr>
        <p:spPr>
          <a:xfrm>
            <a:off x="8358148" y="3090275"/>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4" name="Text Placeholder 8">
            <a:extLst>
              <a:ext uri="{FF2B5EF4-FFF2-40B4-BE49-F238E27FC236}">
                <a16:creationId xmlns:a16="http://schemas.microsoft.com/office/drawing/2014/main" id="{BE808182-B9EA-8FEC-B991-239B2BC4B72F}"/>
              </a:ext>
            </a:extLst>
          </p:cNvPr>
          <p:cNvSpPr>
            <a:spLocks noGrp="1"/>
          </p:cNvSpPr>
          <p:nvPr>
            <p:ph type="body" sz="quarter" idx="15"/>
          </p:nvPr>
        </p:nvSpPr>
        <p:spPr>
          <a:xfrm>
            <a:off x="8358148" y="1247000"/>
            <a:ext cx="3187700" cy="666750"/>
          </a:xfrm>
        </p:spPr>
        <p:txBody>
          <a:bodyPr/>
          <a:lstStyle>
            <a:lvl1pPr>
              <a:defRPr sz="1200">
                <a:latin typeface="Arial" panose="020B0604020202020204" pitchFamily="34" charset="0"/>
                <a:cs typeface="Arial" panose="020B0604020202020204" pitchFamily="34" charset="0"/>
              </a:defRPr>
            </a:lvl1pPr>
            <a:lvl2pPr>
              <a:defRPr sz="1200">
                <a:latin typeface="Arial" panose="020B0604020202020204" pitchFamily="34" charset="0"/>
                <a:cs typeface="Arial" panose="020B0604020202020204" pitchFamily="34" charset="0"/>
              </a:defRPr>
            </a:lvl2pPr>
            <a:lvl3pPr>
              <a:defRPr sz="1200">
                <a:latin typeface="Arial" panose="020B0604020202020204" pitchFamily="34" charset="0"/>
                <a:cs typeface="Arial" panose="020B0604020202020204" pitchFamily="34" charset="0"/>
              </a:defRPr>
            </a:lvl3pPr>
            <a:lvl4pPr>
              <a:defRPr sz="1200">
                <a:latin typeface="Arial" panose="020B0604020202020204" pitchFamily="34" charset="0"/>
                <a:cs typeface="Arial" panose="020B0604020202020204" pitchFamily="34" charset="0"/>
              </a:defRPr>
            </a:lvl4pPr>
            <a:lvl5pPr>
              <a:defRPr sz="1200">
                <a:latin typeface="Arial" panose="020B0604020202020204" pitchFamily="34" charset="0"/>
                <a:cs typeface="Arial" panose="020B0604020202020204" pitchFamily="34"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15" name="Picture Placeholder 14">
            <a:extLst>
              <a:ext uri="{FF2B5EF4-FFF2-40B4-BE49-F238E27FC236}">
                <a16:creationId xmlns:a16="http://schemas.microsoft.com/office/drawing/2014/main" id="{1151F41C-DF8D-8A26-5C35-EDCAA413E2E3}"/>
              </a:ext>
            </a:extLst>
          </p:cNvPr>
          <p:cNvSpPr>
            <a:spLocks noGrp="1"/>
          </p:cNvSpPr>
          <p:nvPr>
            <p:ph type="pic" sz="quarter" idx="16"/>
          </p:nvPr>
        </p:nvSpPr>
        <p:spPr>
          <a:xfrm>
            <a:off x="4586288" y="2252663"/>
            <a:ext cx="3138487" cy="2470150"/>
          </a:xfrm>
        </p:spPr>
        <p:txBody>
          <a:bodyPr/>
          <a:lstStyle/>
          <a:p>
            <a:endParaRPr lang="en-GB"/>
          </a:p>
        </p:txBody>
      </p:sp>
    </p:spTree>
    <p:extLst>
      <p:ext uri="{BB962C8B-B14F-4D97-AF65-F5344CB8AC3E}">
        <p14:creationId xmlns:p14="http://schemas.microsoft.com/office/powerpoint/2010/main" val="1010910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Ending_Slid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27CB1D8-835C-AF66-B603-006B6ECA9B61}"/>
              </a:ext>
            </a:extLst>
          </p:cNvPr>
          <p:cNvSpPr/>
          <p:nvPr userDrawn="1"/>
        </p:nvSpPr>
        <p:spPr>
          <a:xfrm>
            <a:off x="-359763" y="-191125"/>
            <a:ext cx="13211331" cy="7240249"/>
          </a:xfrm>
          <a:prstGeom prst="rect">
            <a:avLst/>
          </a:prstGeom>
          <a:solidFill>
            <a:srgbClr val="0033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extBox 7">
            <a:extLst>
              <a:ext uri="{FF2B5EF4-FFF2-40B4-BE49-F238E27FC236}">
                <a16:creationId xmlns:a16="http://schemas.microsoft.com/office/drawing/2014/main" id="{6CA54CD8-076B-81E2-4178-71ACCDFD8043}"/>
              </a:ext>
            </a:extLst>
          </p:cNvPr>
          <p:cNvSpPr txBox="1"/>
          <p:nvPr userDrawn="1"/>
        </p:nvSpPr>
        <p:spPr>
          <a:xfrm>
            <a:off x="1" y="2540294"/>
            <a:ext cx="12192000" cy="1346522"/>
          </a:xfrm>
          <a:prstGeom prst="rect">
            <a:avLst/>
          </a:prstGeom>
          <a:noFill/>
        </p:spPr>
        <p:txBody>
          <a:bodyPr wrap="square">
            <a:spAutoFit/>
          </a:bodyPr>
          <a:lstStyle/>
          <a:p>
            <a:pPr algn="just"/>
            <a:r>
              <a:rPr lang="en-IN" sz="2000" dirty="0">
                <a:solidFill>
                  <a:schemeClr val="bg1"/>
                </a:solidFill>
                <a:latin typeface="Arial" panose="020B0604020202020204" pitchFamily="34" charset="0"/>
                <a:cs typeface="Arial" panose="020B0604020202020204" pitchFamily="34" charset="0"/>
              </a:rPr>
              <a:t>Important Notice &amp; </a:t>
            </a:r>
            <a:r>
              <a:rPr lang="en-US" sz="2000" dirty="0">
                <a:solidFill>
                  <a:schemeClr val="bg1"/>
                </a:solidFill>
                <a:latin typeface="Arial" panose="020B0604020202020204" pitchFamily="34" charset="0"/>
                <a:cs typeface="Arial" panose="020B0604020202020204" pitchFamily="34" charset="0"/>
              </a:rPr>
              <a:t>Disclaimer</a:t>
            </a:r>
          </a:p>
          <a:p>
            <a:pPr algn="just"/>
            <a:endParaRPr lang="en-US" sz="1350" b="0" dirty="0">
              <a:solidFill>
                <a:schemeClr val="bg1"/>
              </a:solidFill>
              <a:latin typeface="Arial" panose="020B0604020202020204" pitchFamily="34" charset="0"/>
              <a:cs typeface="Arial" panose="020B0604020202020204" pitchFamily="34" charset="0"/>
            </a:endParaRPr>
          </a:p>
          <a:p>
            <a:pPr algn="just"/>
            <a:r>
              <a:rPr lang="en-IN" sz="1200" b="1" dirty="0">
                <a:solidFill>
                  <a:schemeClr val="bg1"/>
                </a:solidFill>
                <a:latin typeface="Arial" panose="020B0604020202020204" pitchFamily="34" charset="0"/>
                <a:cs typeface="Arial" panose="020B0604020202020204" pitchFamily="34" charset="0"/>
              </a:rPr>
              <a:t>Strictly Private &amp; Confidential.</a:t>
            </a:r>
            <a:r>
              <a:rPr lang="en-IN" sz="1200" dirty="0">
                <a:solidFill>
                  <a:schemeClr val="bg1"/>
                </a:solidFill>
                <a:latin typeface="Arial" panose="020B0604020202020204" pitchFamily="34" charset="0"/>
                <a:cs typeface="Arial" panose="020B0604020202020204" pitchFamily="34" charset="0"/>
              </a:rPr>
              <a:t> This presentation is prepared by </a:t>
            </a:r>
            <a:r>
              <a:rPr lang="en-IN" sz="1200" b="1" dirty="0">
                <a:solidFill>
                  <a:schemeClr val="bg1"/>
                </a:solidFill>
                <a:latin typeface="Arial" panose="020B0604020202020204" pitchFamily="34" charset="0"/>
                <a:cs typeface="Arial" panose="020B0604020202020204" pitchFamily="34" charset="0"/>
              </a:rPr>
              <a:t>Kelp Global</a:t>
            </a:r>
            <a:r>
              <a:rPr lang="en-IN" sz="1200" dirty="0">
                <a:solidFill>
                  <a:schemeClr val="bg1"/>
                </a:solidFill>
                <a:latin typeface="Arial" panose="020B0604020202020204" pitchFamily="34" charset="0"/>
                <a:cs typeface="Arial" panose="020B0604020202020204" pitchFamily="34" charset="0"/>
              </a:rPr>
              <a:t> exclusively for the intended recipient and may not be reproduced or distributed without prior written consent. This document is for informational purposes only and does not constitute an offer to sell or a solicitation of an offer to buy any securities. While all information is obtained from sources believed to be reliable, Kelp Global makes no representation or warranty regarding its accuracy or completeness and accepts no liability for any loss arising from its use. This presentation contains forward-looking statements and financial projections (e.g., FY26–FY28E) based on current assumptions; actual results may vary materially.</a:t>
            </a:r>
            <a:endParaRPr lang="en-US" sz="1200" b="0" dirty="0">
              <a:solidFill>
                <a:schemeClr val="bg1"/>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9528C02C-2DF5-5316-A9C5-9681A979014E}"/>
              </a:ext>
            </a:extLst>
          </p:cNvPr>
          <p:cNvSpPr txBox="1"/>
          <p:nvPr userDrawn="1"/>
        </p:nvSpPr>
        <p:spPr>
          <a:xfrm>
            <a:off x="4459726" y="6762462"/>
            <a:ext cx="3511457" cy="230832"/>
          </a:xfrm>
          <a:prstGeom prst="rect">
            <a:avLst/>
          </a:prstGeom>
          <a:noFill/>
        </p:spPr>
        <p:txBody>
          <a:bodyPr wrap="square">
            <a:spAutoFit/>
          </a:bodyPr>
          <a:lstStyle/>
          <a:p>
            <a:r>
              <a:rPr lang="en-IN" sz="900" b="0" dirty="0">
                <a:solidFill>
                  <a:schemeClr val="bg1"/>
                </a:solidFill>
                <a:latin typeface="Arial"/>
              </a:rPr>
              <a:t>Strictly Private &amp; Confidential – Prepared by Kelp M&amp;A Team</a:t>
            </a:r>
            <a:endParaRPr lang="en-US" sz="900" dirty="0">
              <a:solidFill>
                <a:schemeClr val="bg1"/>
              </a:solidFill>
            </a:endParaRPr>
          </a:p>
        </p:txBody>
      </p:sp>
      <p:pic>
        <p:nvPicPr>
          <p:cNvPr id="10" name="Picture 9" descr="A white letter on a black background&#10;&#10;AI-generated content may be incorrect.">
            <a:extLst>
              <a:ext uri="{FF2B5EF4-FFF2-40B4-BE49-F238E27FC236}">
                <a16:creationId xmlns:a16="http://schemas.microsoft.com/office/drawing/2014/main" id="{90BC9A44-27D7-8D38-8B51-54EB762103C4}"/>
              </a:ext>
            </a:extLst>
          </p:cNvPr>
          <p:cNvPicPr>
            <a:picLocks noChangeAspect="1"/>
          </p:cNvPicPr>
          <p:nvPr userDrawn="1"/>
        </p:nvPicPr>
        <p:blipFill>
          <a:blip r:embed="rId2"/>
          <a:stretch>
            <a:fillRect/>
          </a:stretch>
        </p:blipFill>
        <p:spPr>
          <a:xfrm>
            <a:off x="196057" y="811231"/>
            <a:ext cx="1911873" cy="726707"/>
          </a:xfrm>
          <a:prstGeom prst="rect">
            <a:avLst/>
          </a:prstGeom>
        </p:spPr>
      </p:pic>
    </p:spTree>
    <p:extLst>
      <p:ext uri="{BB962C8B-B14F-4D97-AF65-F5344CB8AC3E}">
        <p14:creationId xmlns:p14="http://schemas.microsoft.com/office/powerpoint/2010/main" val="18438076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4" y="484094"/>
            <a:ext cx="10075084" cy="1116106"/>
          </a:xfrm>
          <a:prstGeom prst="rect">
            <a:avLst/>
          </a:prstGeom>
        </p:spPr>
        <p:txBody>
          <a:bodyPr vert="horz" lIns="91440" tIns="45720" rIns="91440" bIns="45720" rtlCol="0" anchor="t" anchorCtr="0">
            <a:noAutofit/>
          </a:bodyPr>
          <a:lstStyle/>
          <a:p>
            <a:r>
              <a:rPr lang="en-GB"/>
              <a:t>Click to edit Master title style</a:t>
            </a:r>
            <a:endParaRPr/>
          </a:p>
        </p:txBody>
      </p:sp>
      <p:sp>
        <p:nvSpPr>
          <p:cNvPr id="3" name="Text Placeholder 2"/>
          <p:cNvSpPr>
            <a:spLocks noGrp="1"/>
          </p:cNvSpPr>
          <p:nvPr>
            <p:ph type="body" idx="1"/>
          </p:nvPr>
        </p:nvSpPr>
        <p:spPr>
          <a:xfrm>
            <a:off x="664634" y="1981203"/>
            <a:ext cx="10075084" cy="4144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dirty="0"/>
          </a:p>
        </p:txBody>
      </p:sp>
      <p:sp>
        <p:nvSpPr>
          <p:cNvPr id="4" name="Date Placeholder 3"/>
          <p:cNvSpPr>
            <a:spLocks noGrp="1"/>
          </p:cNvSpPr>
          <p:nvPr>
            <p:ph type="dt" sz="half" idx="2"/>
          </p:nvPr>
        </p:nvSpPr>
        <p:spPr>
          <a:xfrm>
            <a:off x="9060329" y="6423588"/>
            <a:ext cx="2844800" cy="365125"/>
          </a:xfrm>
          <a:prstGeom prst="rect">
            <a:avLst/>
          </a:prstGeom>
        </p:spPr>
        <p:txBody>
          <a:bodyPr vert="horz" lIns="91440" tIns="45720" rIns="91440" bIns="45720" rtlCol="0" anchor="ctr"/>
          <a:lstStyle>
            <a:lvl1pPr algn="r">
              <a:defRPr sz="825">
                <a:solidFill>
                  <a:schemeClr val="tx1">
                    <a:lumMod val="65000"/>
                    <a:lumOff val="35000"/>
                  </a:schemeClr>
                </a:solidFill>
              </a:defRPr>
            </a:lvl1pPr>
          </a:lstStyle>
          <a:p>
            <a:fld id="{E3AE72C7-7358-2242-B91F-8F564DC30B2C}" type="datetimeFigureOut">
              <a:rPr lang="en-US" smtClean="0"/>
              <a:t>2/7/26</a:t>
            </a:fld>
            <a:endParaRPr lang="en-US"/>
          </a:p>
        </p:txBody>
      </p:sp>
      <p:sp>
        <p:nvSpPr>
          <p:cNvPr id="5" name="Footer Placeholder 4"/>
          <p:cNvSpPr>
            <a:spLocks noGrp="1"/>
          </p:cNvSpPr>
          <p:nvPr>
            <p:ph type="ftr" sz="quarter" idx="3"/>
          </p:nvPr>
        </p:nvSpPr>
        <p:spPr>
          <a:xfrm>
            <a:off x="268941" y="6423588"/>
            <a:ext cx="8163859" cy="365125"/>
          </a:xfrm>
          <a:prstGeom prst="rect">
            <a:avLst/>
          </a:prstGeom>
        </p:spPr>
        <p:txBody>
          <a:bodyPr vert="horz" lIns="91440" tIns="45720" rIns="91440" bIns="45720" rtlCol="0" anchor="ctr"/>
          <a:lstStyle>
            <a:lvl1pPr algn="l">
              <a:defRPr sz="825">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1074400" y="242236"/>
            <a:ext cx="738717" cy="365125"/>
          </a:xfrm>
          <a:prstGeom prst="rect">
            <a:avLst/>
          </a:prstGeom>
        </p:spPr>
        <p:txBody>
          <a:bodyPr vert="horz" lIns="91440" tIns="45720" rIns="91440" bIns="45720" rtlCol="0" anchor="ctr"/>
          <a:lstStyle>
            <a:lvl1pPr algn="r">
              <a:defRPr sz="1050">
                <a:solidFill>
                  <a:schemeClr val="bg1"/>
                </a:solidFill>
              </a:defRPr>
            </a:lvl1pPr>
          </a:lstStyle>
          <a:p>
            <a:fld id="{98DF15E9-887E-AA4B-A287-7DA0FC14E13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5" r:id="rId4"/>
    <p:sldLayoutId id="2147483662" r:id="rId5"/>
  </p:sldLayoutIdLst>
  <p:txStyles>
    <p:titleStyle>
      <a:lvl1pPr algn="l" defTabSz="685800" rtl="0" eaLnBrk="1" latinLnBrk="0" hangingPunct="1">
        <a:spcBef>
          <a:spcPct val="0"/>
        </a:spcBef>
        <a:buNone/>
        <a:defRPr sz="2700" b="0" kern="1200">
          <a:solidFill>
            <a:schemeClr val="accent1"/>
          </a:solidFill>
          <a:latin typeface="+mj-lt"/>
          <a:ea typeface="+mj-ea"/>
          <a:cs typeface="+mj-cs"/>
        </a:defRPr>
      </a:lvl1pPr>
    </p:titleStyle>
    <p:bodyStyle>
      <a:lvl1pPr marL="171450" indent="-171450" algn="l" defTabSz="685800" rtl="0" eaLnBrk="1" latinLnBrk="0" hangingPunct="1">
        <a:spcBef>
          <a:spcPts val="1500"/>
        </a:spcBef>
        <a:buClr>
          <a:schemeClr val="accent1"/>
        </a:buClr>
        <a:buSzPct val="75000"/>
        <a:buFont typeface="Wingdings" pitchFamily="2" charset="2"/>
        <a:buChar char="n"/>
        <a:defRPr sz="1500" kern="1200">
          <a:solidFill>
            <a:schemeClr val="tx1">
              <a:lumMod val="65000"/>
              <a:lumOff val="35000"/>
            </a:schemeClr>
          </a:solidFill>
          <a:latin typeface="+mn-lt"/>
          <a:ea typeface="+mn-ea"/>
          <a:cs typeface="+mn-cs"/>
        </a:defRPr>
      </a:lvl1pPr>
      <a:lvl2pPr marL="3429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2pPr>
      <a:lvl3pPr marL="5143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3pPr>
      <a:lvl4pPr marL="685800" indent="-171450" algn="l" defTabSz="685800" rtl="0" eaLnBrk="1" latinLnBrk="0" hangingPunct="1">
        <a:spcBef>
          <a:spcPts val="450"/>
        </a:spcBef>
        <a:buClr>
          <a:schemeClr val="accent1">
            <a:lumMod val="60000"/>
            <a:lumOff val="40000"/>
          </a:schemeClr>
        </a:buClr>
        <a:buSzPct val="75000"/>
        <a:buFont typeface="Wingdings" pitchFamily="2" charset="2"/>
        <a:buChar char="n"/>
        <a:defRPr sz="1350" kern="1200">
          <a:solidFill>
            <a:schemeClr val="tx1">
              <a:lumMod val="65000"/>
              <a:lumOff val="35000"/>
            </a:schemeClr>
          </a:solidFill>
          <a:latin typeface="+mn-lt"/>
          <a:ea typeface="+mn-ea"/>
          <a:cs typeface="+mn-cs"/>
        </a:defRPr>
      </a:lvl4pPr>
      <a:lvl5pPr marL="857250" indent="-171450" algn="l" defTabSz="685800" rtl="0" eaLnBrk="1" latinLnBrk="0" hangingPunct="1">
        <a:spcBef>
          <a:spcPts val="450"/>
        </a:spcBef>
        <a:buClr>
          <a:schemeClr val="accent1"/>
        </a:buClr>
        <a:buSzPct val="75000"/>
        <a:buFont typeface="Wingdings" pitchFamily="2" charset="2"/>
        <a:buChar char="n"/>
        <a:defRPr sz="1350" kern="1200">
          <a:solidFill>
            <a:schemeClr val="tx1">
              <a:lumMod val="65000"/>
              <a:lumOff val="35000"/>
            </a:schemeClr>
          </a:solidFill>
          <a:latin typeface="+mn-lt"/>
          <a:ea typeface="+mn-ea"/>
          <a:cs typeface="+mn-cs"/>
        </a:defRPr>
      </a:lvl5pPr>
      <a:lvl6pPr marL="1033463"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dirty="0" smtClean="0">
          <a:solidFill>
            <a:schemeClr val="tx1">
              <a:lumMod val="65000"/>
              <a:lumOff val="35000"/>
            </a:schemeClr>
          </a:solidFill>
          <a:latin typeface="+mn-lt"/>
          <a:ea typeface="+mn-ea"/>
          <a:cs typeface="+mn-cs"/>
        </a:defRPr>
      </a:lvl6pPr>
      <a:lvl7pPr marL="1202531" indent="-171450" algn="l" defTabSz="685800" rtl="0" eaLnBrk="1" latinLnBrk="0" hangingPunct="1">
        <a:spcBef>
          <a:spcPct val="20000"/>
        </a:spcBef>
        <a:buClr>
          <a:schemeClr val="accent1"/>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7pPr>
      <a:lvl8pPr marL="1372791" indent="-171450" algn="l" defTabSz="685800" rtl="0" eaLnBrk="1" latinLnBrk="0" hangingPunct="1">
        <a:spcBef>
          <a:spcPct val="20000"/>
        </a:spcBef>
        <a:buClr>
          <a:schemeClr val="accent1">
            <a:lumMod val="60000"/>
            <a:lumOff val="40000"/>
          </a:schemeClr>
        </a:buClr>
        <a:buSzPct val="75000"/>
        <a:buFont typeface="Wingdings" pitchFamily="2" charset="2"/>
        <a:buChar char=""/>
        <a:defRPr lang="en-US" sz="1350" kern="1200" baseline="0" dirty="0" smtClean="0">
          <a:solidFill>
            <a:schemeClr val="tx1">
              <a:lumMod val="65000"/>
              <a:lumOff val="35000"/>
            </a:schemeClr>
          </a:solidFill>
          <a:latin typeface="+mn-lt"/>
          <a:ea typeface="+mn-ea"/>
          <a:cs typeface="+mn-cs"/>
        </a:defRPr>
      </a:lvl8pPr>
      <a:lvl9pPr marL="1543050" indent="-171450" algn="l" defTabSz="685800" rtl="0" eaLnBrk="1" latinLnBrk="0" hangingPunct="1">
        <a:spcBef>
          <a:spcPct val="20000"/>
        </a:spcBef>
        <a:buClr>
          <a:schemeClr val="accent1"/>
        </a:buClr>
        <a:buSzPct val="75000"/>
        <a:buFont typeface="Wingdings" pitchFamily="2" charset="2"/>
        <a:buChar char=""/>
        <a:defRPr lang="en-US" sz="1350" kern="1200" baseline="0" dirty="0">
          <a:solidFill>
            <a:schemeClr val="tx1">
              <a:lumMod val="65000"/>
              <a:lumOff val="35000"/>
            </a:schemeClr>
          </a:solidFill>
          <a:latin typeface="+mn-lt"/>
          <a:ea typeface="+mn-ea"/>
          <a:cs typeface="+mn-cs"/>
        </a:defRPr>
      </a:lvl9pPr>
    </p:bodyStyle>
    <p:otherStyle>
      <a:defPPr>
        <a:defRP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The Company is a leading logistics and supply chain provider in India, focusing on </a:t>
            </a:r>
            <a:r>
              <a:rPr b="1"/>
              <a:t>express distribution</a:t>
            </a:r>
            <a:r>
              <a:rPr b="0"/>
              <a:t> and consultative solutions.</a:t>
            </a:r>
          </a:p>
          <a:p>
            <a:r>
              <a:rPr b="0"/>
              <a:t>Operates an expansive network reach spanning major metros and remote areas, ensuring </a:t>
            </a:r>
            <a:r>
              <a:rPr b="1"/>
              <a:t>timely delivery</a:t>
            </a:r>
            <a:r>
              <a:rPr b="0"/>
              <a:t> to every corner of India.</a:t>
            </a:r>
          </a:p>
          <a:p>
            <a:r>
              <a:rPr b="0"/>
              <a:t>Infrastructure includes state-of-the-art </a:t>
            </a:r>
            <a:r>
              <a:rPr b="1"/>
              <a:t>surface trans-shipment centres</a:t>
            </a:r>
            <a:r>
              <a:rPr b="0"/>
              <a:t> and specialized chemical warehousing facilities.</a:t>
            </a:r>
          </a:p>
          <a:p>
            <a:r>
              <a:rPr b="0"/>
              <a:t>Service mix is highly diversified, serving critical industries such as </a:t>
            </a:r>
            <a:r>
              <a:rPr b="1"/>
              <a:t>Automotive, Chemicals, E-commerce, and Pharma</a:t>
            </a:r>
            <a:r>
              <a:rPr b="0"/>
              <a:t>.</a:t>
            </a:r>
          </a:p>
          <a:p>
            <a:r>
              <a:rPr b="0"/>
              <a:t>Technology is a core pillar, leveraging </a:t>
            </a:r>
            <a:r>
              <a:rPr b="1"/>
              <a:t>Salesforce CRM and AI chatbots</a:t>
            </a:r>
            <a:r>
              <a:rPr b="0"/>
              <a:t> to empower informed, data-driven decision making.</a:t>
            </a:r>
          </a:p>
        </p:txBody>
      </p:sp>
      <p:sp>
        <p:nvSpPr>
          <p:cNvPr id="3" name="Text Placeholder 2"/>
          <p:cNvSpPr>
            <a:spLocks noGrp="1"/>
          </p:cNvSpPr>
          <p:nvPr>
            <p:ph type="body" idx="11" sz="quarter"/>
          </p:nvPr>
        </p:nvSpPr>
        <p:spPr/>
        <p:txBody>
          <a:bodyPr/>
          <a:lstStyle/>
          <a:p>
            <a:r>
              <a:rPr b="1"/>
              <a:t>Express Distribution:</a:t>
            </a:r>
            <a:r>
              <a:rPr b="0"/>
              <a:t> High-speed ground and air delivery services with specialized 24-hour transit to eight major metro cities.</a:t>
            </a:r>
          </a:p>
          <a:p>
            <a:r>
              <a:rPr b="1"/>
              <a:t>End-to-End Supply Chain:</a:t>
            </a:r>
            <a:r>
              <a:rPr b="0"/>
              <a:t> Comprehensive solutions including contract logistics, in-plant management, and ecommerce fulfillment.</a:t>
            </a:r>
          </a:p>
          <a:p>
            <a:r>
              <a:rPr b="1"/>
              <a:t>Advanced Warehousing:</a:t>
            </a:r>
            <a:r>
              <a:rPr b="0"/>
              <a:t> Tech-enabled storage facilities and specialized chemical warehousing across a nationwide network of 71 centers.</a:t>
            </a:r>
          </a:p>
        </p:txBody>
      </p:sp>
      <p:pic>
        <p:nvPicPr>
          <p:cNvPr id="4" name="Picture Placeholder 3" descr="International Safety Award from the British Safety Council.png"/>
          <p:cNvPicPr>
            <a:picLocks noGrp="1" noChangeAspect="1"/>
          </p:cNvPicPr>
          <p:nvPr>
            <p:ph type="pic" idx="12" sz="quarter"/>
          </p:nvPr>
        </p:nvPicPr>
        <p:blipFill>
          <a:blip r:embed="rId2"/>
          <a:srcRect t="4517" b="4517"/>
          <a:stretch>
            <a:fillRect/>
          </a:stretch>
        </p:blipFill>
        <p:spPr/>
      </p:pic>
      <p:sp>
        <p:nvSpPr>
          <p:cNvPr id="7" name="Text Placeholder 6"/>
          <p:cNvSpPr>
            <a:spLocks noGrp="1"/>
          </p:cNvSpPr>
          <p:nvPr>
            <p:ph type="body" idx="15" sz="quarter"/>
          </p:nvPr>
        </p:nvSpPr>
        <p:spPr/>
        <p:txBody>
          <a:bodyPr/>
          <a:lstStyle/>
          <a:p>
            <a:r>
              <a:rPr b="0"/>
              <a:t>A premier Indian logistics powerhouse with over </a:t>
            </a:r>
            <a:r>
              <a:rPr b="1"/>
              <a:t>30 years of expertise</a:t>
            </a:r>
            <a:r>
              <a:rPr b="0"/>
              <a:t>, specializing in express distribution and integrated supply chain management.</a:t>
            </a:r>
          </a:p>
          <a:p>
            <a:r>
              <a:rPr b="0"/>
              <a:t>Part of a globally recognized logistics group, providing unparalleled pan-India reach and a robust infrastructure for </a:t>
            </a:r>
            <a:r>
              <a:rPr b="1"/>
              <a:t>344 million+ delivered packages</a:t>
            </a:r>
            <a:r>
              <a:rPr b="0"/>
              <a:t>.</a:t>
            </a:r>
          </a:p>
        </p:txBody>
      </p:sp>
      <p:pic>
        <p:nvPicPr>
          <p:cNvPr id="8" name="Picture Placeholder 7" descr="Delivery_Service.png"/>
          <p:cNvPicPr>
            <a:picLocks noGrp="1" noChangeAspect="1"/>
          </p:cNvPicPr>
          <p:nvPr>
            <p:ph type="pic" idx="16" sz="quarter"/>
          </p:nvPr>
        </p:nvPicPr>
        <p:blipFill>
          <a:blip r:embed="rId3"/>
          <a:srcRect l="2038" r="2038"/>
          <a:stretch>
            <a:fillRect/>
          </a:stretch>
        </p:blipFill>
        <p:spPr/>
      </p:pic>
      <p:pic>
        <p:nvPicPr>
          <p:cNvPr id="9" name="Picture Placeholder 8" descr="Inventory_Storage.png"/>
          <p:cNvPicPr>
            <a:picLocks noGrp="1" noChangeAspect="1"/>
          </p:cNvPicPr>
          <p:nvPr>
            <p:ph type="pic" idx="17" sz="quarter"/>
          </p:nvPr>
        </p:nvPicPr>
        <p:blipFill>
          <a:blip r:embed="rId4"/>
          <a:srcRect l="2038" r="2038"/>
          <a:stretch>
            <a:fillRect/>
          </a:stretch>
        </p:blipFill>
        <p:spPr/>
      </p:pic>
      <p:pic>
        <p:nvPicPr>
          <p:cNvPr id="10" name="Picture Placeholder 9" descr="Graph_Growth.png"/>
          <p:cNvPicPr>
            <a:picLocks noGrp="1" noChangeAspect="1"/>
          </p:cNvPicPr>
          <p:nvPr>
            <p:ph type="pic" idx="18" sz="quarter"/>
          </p:nvPr>
        </p:nvPicPr>
        <p:blipFill>
          <a:blip r:embed="rId5"/>
          <a:srcRect l="2038" r="2038"/>
          <a:stretch>
            <a:fillRect/>
          </a:stretch>
        </p:blipFill>
        <p:spPr/>
      </p:pic>
      <p:sp>
        <p:nvSpPr>
          <p:cNvPr id="11" name="Title 10"/>
          <p:cNvSpPr>
            <a:spLocks noGrp="1"/>
          </p:cNvSpPr>
          <p:nvPr>
            <p:ph type="title"/>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2" sz="quarter"/>
          </p:nvPr>
        </p:nvSpPr>
        <p:spPr/>
        <p:txBody>
          <a:bodyPr/>
          <a:lstStyle/>
          <a:p>
            <a:r>
              <a:rPr b="0"/>
              <a:t>The Company observed a significant volume surge reaching </a:t>
            </a:r>
            <a:r>
              <a:rPr b="1"/>
              <a:t>105 kt</a:t>
            </a:r>
            <a:r>
              <a:rPr b="0"/>
              <a:t> in March 2025.</a:t>
            </a:r>
          </a:p>
          <a:p>
            <a:r>
              <a:rPr b="0"/>
              <a:t>Monthly volume growth of </a:t>
            </a:r>
            <a:r>
              <a:rPr b="1"/>
              <a:t>10.5%</a:t>
            </a:r>
            <a:r>
              <a:rPr b="0"/>
              <a:t> reflects strong penetration into textile and MSME clusters.</a:t>
            </a:r>
          </a:p>
          <a:p>
            <a:r>
              <a:rPr b="0"/>
              <a:t>Increased asset utilization across </a:t>
            </a:r>
            <a:r>
              <a:rPr b="1"/>
              <a:t>71 transshipment hubs</a:t>
            </a:r>
            <a:r>
              <a:rPr b="0"/>
              <a:t> indicates high operational efficiency.</a:t>
            </a:r>
          </a:p>
          <a:p>
            <a:r>
              <a:rPr b="0"/>
              <a:t>Scalable distribution network effectively handles rising demand for </a:t>
            </a:r>
            <a:r>
              <a:rPr b="1"/>
              <a:t>time-sensitive deliveries</a:t>
            </a:r>
            <a:r>
              <a:rPr b="0"/>
              <a:t>.</a:t>
            </a:r>
          </a:p>
        </p:txBody>
      </p:sp>
      <p:sp>
        <p:nvSpPr>
          <p:cNvPr id="5" name="Text Placeholder 4"/>
          <p:cNvSpPr>
            <a:spLocks noGrp="1"/>
          </p:cNvSpPr>
          <p:nvPr>
            <p:ph type="body" idx="13" sz="quarter"/>
          </p:nvPr>
        </p:nvSpPr>
        <p:spPr/>
        <p:txBody>
          <a:bodyPr/>
          <a:lstStyle/>
          <a:p>
            <a:r>
              <a:rPr b="0"/>
              <a:t>Revenue profile shows a strong concentration in </a:t>
            </a:r>
            <a:r>
              <a:rPr b="1"/>
              <a:t>Surface Express</a:t>
            </a:r>
            <a:r>
              <a:rPr b="0"/>
              <a:t>, a core market strength.</a:t>
            </a:r>
          </a:p>
          <a:p>
            <a:r>
              <a:rPr b="0"/>
              <a:t>Concentrated profile in express logistics allows for </a:t>
            </a:r>
            <a:r>
              <a:rPr b="1"/>
              <a:t>specialized handling and service excellence</a:t>
            </a:r>
            <a:r>
              <a:rPr b="0"/>
              <a:t>.</a:t>
            </a:r>
          </a:p>
          <a:p>
            <a:r>
              <a:rPr b="0"/>
              <a:t>High market share in surface logistics provides a </a:t>
            </a:r>
            <a:r>
              <a:rPr b="1"/>
              <a:t>stable base</a:t>
            </a:r>
            <a:r>
              <a:rPr b="0"/>
              <a:t> for expanding high-margin air services.</a:t>
            </a:r>
          </a:p>
          <a:p>
            <a:r>
              <a:rPr b="0"/>
              <a:t>Targeted diversification into </a:t>
            </a:r>
            <a:r>
              <a:rPr b="1"/>
              <a:t>Supply Chain Management</a:t>
            </a:r>
            <a:r>
              <a:rPr b="0"/>
              <a:t> is expected to balance the service mix.</a:t>
            </a:r>
          </a:p>
        </p:txBody>
      </p:sp>
      <p:pic>
        <p:nvPicPr>
          <p:cNvPr id="7" name="Picture Placeholder 6" descr="Ecofriendly_Plant.png"/>
          <p:cNvPicPr>
            <a:picLocks noGrp="1" noChangeAspect="1"/>
          </p:cNvPicPr>
          <p:nvPr>
            <p:ph type="pic" idx="17" sz="quarter"/>
          </p:nvPr>
        </p:nvPicPr>
        <p:blipFill>
          <a:blip r:embed="rId4"/>
          <a:srcRect l="2038" r="2038"/>
          <a:stretch>
            <a:fillRect/>
          </a:stretch>
        </p:blipFill>
        <p:spPr/>
      </p:pic>
      <p:sp>
        <p:nvSpPr>
          <p:cNvPr id="8" name="Text Placeholder 7"/>
          <p:cNvSpPr>
            <a:spLocks noGrp="1"/>
          </p:cNvSpPr>
          <p:nvPr>
            <p:ph type="body" idx="18" sz="quarter"/>
          </p:nvPr>
        </p:nvSpPr>
        <p:spPr/>
        <p:txBody>
          <a:bodyPr/>
          <a:lstStyle/>
          <a:p>
            <a:r>
              <a:rPr b="1"/>
              <a:t>MONTHLY VOLUME TRENDS</a:t>
            </a:r>
          </a:p>
        </p:txBody>
      </p:sp>
      <p:sp>
        <p:nvSpPr>
          <p:cNvPr id="9" name="Text Placeholder 8"/>
          <p:cNvSpPr>
            <a:spLocks noGrp="1"/>
          </p:cNvSpPr>
          <p:nvPr>
            <p:ph type="body" idx="19" sz="quarter"/>
          </p:nvPr>
        </p:nvSpPr>
        <p:spPr/>
        <p:txBody>
          <a:bodyPr/>
          <a:lstStyle/>
          <a:p>
            <a:r>
              <a:rPr b="1"/>
              <a:t>REVENUE BY SEGMENT</a:t>
            </a:r>
          </a:p>
        </p:txBody>
      </p:sp>
      <p:sp>
        <p:nvSpPr>
          <p:cNvPr id="10" name="Text Placeholder 9"/>
          <p:cNvSpPr>
            <a:spLocks noGrp="1"/>
          </p:cNvSpPr>
          <p:nvPr>
            <p:ph type="body" idx="20" sz="quarter"/>
          </p:nvPr>
        </p:nvSpPr>
        <p:spPr/>
        <p:txBody>
          <a:bodyPr/>
          <a:lstStyle/>
          <a:p>
            <a:r>
              <a:rPr b="0"/>
              <a:t>FINANCIAL PERFORMANCE AND MARGINS</a:t>
            </a:r>
          </a:p>
        </p:txBody>
      </p:sp>
      <p:graphicFrame>
        <p:nvGraphicFramePr>
          <p:cNvPr id="11" name="Chart 10"/>
          <p:cNvGraphicFramePr>
            <a:graphicFrameLocks noGrp="1"/>
          </p:cNvGraphicFramePr>
          <p:nvPr/>
        </p:nvGraphicFramePr>
        <p:xfrm>
          <a:off x="258762" y="1212058"/>
          <a:ext cx="5850553" cy="2710656"/>
        </p:xfrm>
        <a:graphic>
          <a:graphicData uri="http://schemas.openxmlformats.org/drawingml/2006/chart">
            <c:chart xmlns:c="http://schemas.openxmlformats.org/drawingml/2006/chart" r:id="rId2"/>
          </a:graphicData>
        </a:graphic>
      </p:graphicFrame>
      <p:graphicFrame>
        <p:nvGraphicFramePr>
          <p:cNvPr id="12" name="Chart 11"/>
          <p:cNvGraphicFramePr>
            <a:graphicFrameLocks noGrp="1"/>
          </p:cNvGraphicFramePr>
          <p:nvPr/>
        </p:nvGraphicFramePr>
        <p:xfrm>
          <a:off x="6293423" y="4203279"/>
          <a:ext cx="5752516" cy="2417016"/>
        </p:xfrm>
        <a:graphic>
          <a:graphicData uri="http://schemas.openxmlformats.org/drawingml/2006/chart">
            <c:chart xmlns:c="http://schemas.openxmlformats.org/drawingml/2006/chart" r:id="rId3"/>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rPr b="0"/>
              <a:t>Unrivaled last-mile connectivity covering </a:t>
            </a:r>
            <a:r>
              <a:rPr b="1"/>
              <a:t>99% of India's districts</a:t>
            </a:r>
            <a:r>
              <a:rPr b="0"/>
              <a:t> through a massive transshipment network.</a:t>
            </a:r>
          </a:p>
        </p:txBody>
      </p:sp>
      <p:sp>
        <p:nvSpPr>
          <p:cNvPr id="3" name="Text Placeholder 2"/>
          <p:cNvSpPr>
            <a:spLocks noGrp="1"/>
          </p:cNvSpPr>
          <p:nvPr>
            <p:ph type="body" idx="11" sz="quarter"/>
          </p:nvPr>
        </p:nvSpPr>
        <p:spPr/>
        <p:txBody>
          <a:bodyPr/>
          <a:lstStyle/>
          <a:p>
            <a:r>
              <a:rPr b="0"/>
              <a:t>Tech-enabled efficiency driven by the </a:t>
            </a:r>
            <a:r>
              <a:rPr b="1"/>
              <a:t>GEMS 2.0 system</a:t>
            </a:r>
            <a:r>
              <a:rPr b="0"/>
              <a:t> and Oracle Cloud Infrastructure for real-time visibility.</a:t>
            </a:r>
          </a:p>
        </p:txBody>
      </p:sp>
      <p:sp>
        <p:nvSpPr>
          <p:cNvPr id="4" name="Text Placeholder 3"/>
          <p:cNvSpPr>
            <a:spLocks noGrp="1"/>
          </p:cNvSpPr>
          <p:nvPr>
            <p:ph type="body" idx="12" sz="quarter"/>
          </p:nvPr>
        </p:nvSpPr>
        <p:spPr/>
        <p:txBody>
          <a:bodyPr/>
          <a:lstStyle/>
          <a:p>
            <a:r>
              <a:rPr b="0"/>
              <a:t>Strong sector tailwinds supported by the government's </a:t>
            </a:r>
            <a:r>
              <a:rPr b="1"/>
              <a:t>Key Management plan</a:t>
            </a:r>
            <a:r>
              <a:rPr b="0"/>
              <a:t> and National Logistics Policy.</a:t>
            </a:r>
          </a:p>
        </p:txBody>
      </p:sp>
      <p:sp>
        <p:nvSpPr>
          <p:cNvPr id="5" name="Text Placeholder 4"/>
          <p:cNvSpPr>
            <a:spLocks noGrp="1"/>
          </p:cNvSpPr>
          <p:nvPr>
            <p:ph type="body" idx="13" sz="quarter"/>
          </p:nvPr>
        </p:nvSpPr>
        <p:spPr/>
        <p:txBody>
          <a:bodyPr/>
          <a:lstStyle/>
          <a:p>
            <a:r>
              <a:rPr b="0"/>
              <a:t>Proven sustainability leadership with a fleet of </a:t>
            </a:r>
            <a:r>
              <a:rPr b="1"/>
              <a:t>500+ alternate fuel vehicles</a:t>
            </a:r>
            <a:r>
              <a:rPr b="0"/>
              <a:t> for greener logistics.</a:t>
            </a:r>
          </a:p>
        </p:txBody>
      </p:sp>
      <p:sp>
        <p:nvSpPr>
          <p:cNvPr id="6" name="Text Placeholder 5"/>
          <p:cNvSpPr>
            <a:spLocks noGrp="1"/>
          </p:cNvSpPr>
          <p:nvPr>
            <p:ph type="body" idx="14" sz="quarter"/>
          </p:nvPr>
        </p:nvSpPr>
        <p:spPr/>
        <p:txBody>
          <a:bodyPr/>
          <a:lstStyle/>
          <a:p>
            <a:r>
              <a:rPr b="0"/>
              <a:t>Exceptional operational turnaround with a </a:t>
            </a:r>
            <a:r>
              <a:rPr b="1"/>
              <a:t>273.9% YoY growth</a:t>
            </a:r>
            <a:r>
              <a:rPr b="0"/>
              <a:t> in quarterly net profit in mid-2025.</a:t>
            </a:r>
          </a:p>
        </p:txBody>
      </p:sp>
      <p:sp>
        <p:nvSpPr>
          <p:cNvPr id="7" name="Text Placeholder 6"/>
          <p:cNvSpPr>
            <a:spLocks noGrp="1"/>
          </p:cNvSpPr>
          <p:nvPr>
            <p:ph type="body" idx="15" sz="quarter"/>
          </p:nvPr>
        </p:nvSpPr>
        <p:spPr/>
        <p:txBody>
          <a:bodyPr/>
          <a:lstStyle/>
          <a:p>
            <a:r>
              <a:rPr b="0"/>
              <a:t>Strategic market positioning targeting a </a:t>
            </a:r>
            <a:r>
              <a:rPr b="1"/>
              <a:t>top-three ranking</a:t>
            </a:r>
            <a:r>
              <a:rPr b="0"/>
              <a:t> in India's express sector within five years.</a:t>
            </a:r>
          </a:p>
        </p:txBody>
      </p:sp>
      <p:pic>
        <p:nvPicPr>
          <p:cNvPr id="8" name="Picture Placeholder 7" descr="transport_logistics.jpeg"/>
          <p:cNvPicPr>
            <a:picLocks noGrp="1" noChangeAspect="1"/>
          </p:cNvPicPr>
          <p:nvPr>
            <p:ph type="pic" idx="16" sz="quarter"/>
          </p:nvPr>
        </p:nvPicPr>
        <p:blipFill>
          <a:blip r:embed="rId2"/>
          <a:srcRect l="16173" r="16173"/>
          <a:stretch>
            <a:fillRect/>
          </a:stretch>
        </p:blipFill>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Default Them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542</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Rockwell</vt:lpstr>
      <vt:lpstr>Wingdings</vt:lpstr>
      <vt:lpstr>Default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Sambit Mallik</dc:creator>
  <cp:lastModifiedBy>Sambit Mallik</cp:lastModifiedBy>
  <cp:revision>25</cp:revision>
  <dcterms:created xsi:type="dcterms:W3CDTF">2026-01-24T04:48:24Z</dcterms:created>
  <dcterms:modified xsi:type="dcterms:W3CDTF">2026-02-07T08:08:41Z</dcterms:modified>
</cp:coreProperties>
</file>
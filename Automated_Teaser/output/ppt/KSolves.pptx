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media/image3.svg" ContentType="image/svg+xml"/>
  <Override PartName="/ppt/media/image5.svg" ContentType="image/svg+xml"/>
  <Override PartName="/ppt/media/image7.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7" r:id="rId7"/>
    <p:sldId id="258" r:id="rId8"/>
    <p:sldId id="259" r:id="rId9"/>
    <p:sldId id="260" r:id="rId10"/>
    <p:sldId id="261"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7B6"/>
    <a:srgbClr val="6FACFF"/>
    <a:srgbClr val="90E0EF"/>
    <a:srgbClr val="FB712C"/>
    <a:srgbClr val="F04C7A"/>
    <a:srgbClr val="A31D63"/>
    <a:srgbClr val="2A06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30105"/>
    <p:restoredTop sz="94733"/>
  </p:normalViewPr>
  <p:slideViewPr>
    <p:cSldViewPr snapToGrid="0">
      <p:cViewPr varScale="1">
        <p:scale>
          <a:sx n="97" d="100"/>
          <a:sy n="97" d="100"/>
        </p:scale>
        <p:origin x="232" y="3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REVENUE GROWTH TREND</c:v>
                </c:pt>
              </c:strCache>
            </c:strRef>
          </c:tx>
          <c:cat>
            <c:strRef>
              <c:f>Sheet1!$A$2:$A$6</c:f>
              <c:strCache>
                <c:ptCount val="5"/>
                <c:pt idx="0">
                  <c:v>FY21</c:v>
                </c:pt>
                <c:pt idx="1">
                  <c:v>FY22</c:v>
                </c:pt>
                <c:pt idx="2">
                  <c:v>FY23</c:v>
                </c:pt>
                <c:pt idx="3">
                  <c:v>FY24</c:v>
                </c:pt>
                <c:pt idx="4">
                  <c:v>FY25</c:v>
                </c:pt>
              </c:strCache>
            </c:strRef>
          </c:cat>
          <c:val>
            <c:numRef>
              <c:f>Sheet1!$B$2:$B$6</c:f>
              <c:numCache>
                <c:formatCode>General</c:formatCode>
                <c:ptCount val="5"/>
                <c:pt idx="0">
                  <c:v>282.15</c:v>
                </c:pt>
                <c:pt idx="1">
                  <c:v>470.69</c:v>
                </c:pt>
                <c:pt idx="2">
                  <c:v>783.12</c:v>
                </c:pt>
                <c:pt idx="3">
                  <c:v>1086.4</c:v>
                </c:pt>
                <c:pt idx="4">
                  <c:v>1374.3</c:v>
                </c:pt>
              </c:numCache>
            </c:numRef>
          </c:val>
        </c:ser>
        <c:dLbls>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autoTitleDeleted val="1"/>
    <c:plotArea>
      <c:pieChart>
        <c:varyColors val="1"/>
        <c:ser>
          <c:idx val="0"/>
          <c:order val="0"/>
          <c:tx>
            <c:strRef>
              <c:f>Sheet1!$B$1</c:f>
              <c:strCache>
                <c:ptCount val="1"/>
                <c:pt idx="0">
                  <c:v>SHAREHOLDING STRUCTURE</c:v>
                </c:pt>
              </c:strCache>
            </c:strRef>
          </c:tx>
          <c:cat>
            <c:strRef>
              <c:f>Sheet1!$A$2:$A$3</c:f>
              <c:strCache>
                <c:ptCount val="2"/>
                <c:pt idx="0">
                  <c:v>Promoters</c:v>
                </c:pt>
                <c:pt idx="1">
                  <c:v>Non-Promoters</c:v>
                </c:pt>
              </c:strCache>
            </c:strRef>
          </c:cat>
          <c:val>
            <c:numRef>
              <c:f>Sheet1!$B$2:$B$3</c:f>
              <c:numCache>
                <c:formatCode>General</c:formatCode>
                <c:ptCount val="2"/>
                <c:pt idx="0">
                  <c:v>58.9</c:v>
                </c:pt>
                <c:pt idx="1">
                  <c:v>41.1</c:v>
                </c:pt>
              </c:numCache>
            </c:numRef>
          </c:val>
        </c:ser>
        <c:dLbls>
          <c:dLblPos val="bestFit"/>
          <c:showLegendKey val="0"/>
          <c:showVal val="1"/>
          <c:showCatName val="1"/>
          <c:showSerName val="0"/>
          <c:showPercent val="0"/>
          <c:showBubbleSize val="0"/>
          <c:showLeaderLines val="1"/>
        </c:dLbls>
      </c:pieChart>
    </c:plotArea>
    <c:legend>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png"/><Relationship Id="rId6" Type="http://schemas.openxmlformats.org/officeDocument/2006/relationships/image" Target="../media/image5.svg"/><Relationship Id="rId7" Type="http://schemas.openxmlformats.org/officeDocument/2006/relationships/image" Target="../media/image6.png"/><Relationship Id="rId8" Type="http://schemas.openxmlformats.org/officeDocument/2006/relationships/image" Target="../media/image7.sv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_Slide">
    <p:bg>
      <p:bgPr>
        <a:solidFill>
          <a:srgbClr val="2A063F"/>
        </a:solidFill>
        <a:effectLst/>
      </p:bgPr>
    </p:bg>
    <p:spTree>
      <p:nvGrpSpPr>
        <p:cNvPr id="1" name=""/>
        <p:cNvGrpSpPr/>
        <p:nvPr/>
      </p:nvGrpSpPr>
      <p:grpSpPr>
        <a:xfrm>
          <a:off x="0" y="0"/>
          <a:ext cx="0" cy="0"/>
          <a:chOff x="0" y="0"/>
          <a:chExt cx="0" cy="0"/>
        </a:xfrm>
      </p:grpSpPr>
      <p:pic>
        <p:nvPicPr>
          <p:cNvPr id="1028" name="Picture 4" descr="Geometric pattern Images - Free ...">
            <a:extLst>
              <a:ext uri="{FF2B5EF4-FFF2-40B4-BE49-F238E27FC236}">
                <a16:creationId xmlns:a16="http://schemas.microsoft.com/office/drawing/2014/main" id="{E6657D50-4ACA-29E0-6C6A-CCAD9432118A}"/>
              </a:ext>
            </a:extLst>
          </p:cNvPr>
          <p:cNvPicPr>
            <a:picLocks noChangeAspect="1" noChangeArrowheads="1"/>
          </p:cNvPicPr>
          <p:nvPr userDrawn="1"/>
        </p:nvPicPr>
        <p:blipFill>
          <a:blip r:embed="rId2">
            <a:alphaModFix amt="3000"/>
            <a:extLst>
              <a:ext uri="{28A0092B-C50C-407E-A947-70E740481C1C}">
                <a14:useLocalDpi xmlns:a14="http://schemas.microsoft.com/office/drawing/2010/main" val="0"/>
              </a:ext>
            </a:extLst>
          </a:blip>
          <a:srcRect/>
          <a:stretch>
            <a:fillRect/>
          </a:stretch>
        </p:blipFill>
        <p:spPr bwMode="auto">
          <a:xfrm>
            <a:off x="-376660" y="-185963"/>
            <a:ext cx="13091817" cy="6726099"/>
          </a:xfrm>
          <a:prstGeom prst="rect">
            <a:avLst/>
          </a:prstGeom>
          <a:noFill/>
          <a:extLst>
            <a:ext uri="{909E8E84-426E-40DD-AFC4-6F175D3DCCD1}">
              <a14:hiddenFill xmlns:a14="http://schemas.microsoft.com/office/drawing/2010/main">
                <a:solidFill>
                  <a:srgbClr val="FFFFFF"/>
                </a:solidFill>
              </a14:hiddenFill>
            </a:ext>
          </a:extLst>
        </p:spPr>
      </p:pic>
      <p:sp>
        <p:nvSpPr>
          <p:cNvPr id="41" name="Freeform 4">
            <a:extLst>
              <a:ext uri="{FF2B5EF4-FFF2-40B4-BE49-F238E27FC236}">
                <a16:creationId xmlns:a16="http://schemas.microsoft.com/office/drawing/2014/main" id="{1B9AF06B-B946-100D-8E6B-B35C454030EE}"/>
              </a:ext>
              <a:ext uri="{C183D7F6-B498-43B3-948B-1728B52AA6E4}">
                <adec:decorative xmlns:adec="http://schemas.microsoft.com/office/drawing/2017/decorative" val="1"/>
              </a:ext>
            </a:extLst>
          </p:cNvPr>
          <p:cNvSpPr/>
          <p:nvPr userDrawn="1"/>
        </p:nvSpPr>
        <p:spPr>
          <a:xfrm>
            <a:off x="2221680" y="5033953"/>
            <a:ext cx="4458815"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sz="1350"/>
          </a:p>
        </p:txBody>
      </p:sp>
      <p:sp>
        <p:nvSpPr>
          <p:cNvPr id="32" name="Freeform 2">
            <a:extLst>
              <a:ext uri="{FF2B5EF4-FFF2-40B4-BE49-F238E27FC236}">
                <a16:creationId xmlns:a16="http://schemas.microsoft.com/office/drawing/2014/main" id="{A712A287-3087-1DF3-F43D-A56A53B980B4}"/>
              </a:ext>
              <a:ext uri="{C183D7F6-B498-43B3-948B-1728B52AA6E4}">
                <adec:decorative xmlns:adec="http://schemas.microsoft.com/office/drawing/2017/decorative" val="1"/>
              </a:ext>
            </a:extLst>
          </p:cNvPr>
          <p:cNvSpPr/>
          <p:nvPr userDrawn="1"/>
        </p:nvSpPr>
        <p:spPr>
          <a:xfrm>
            <a:off x="-863173" y="-153887"/>
            <a:ext cx="2466586" cy="3540610"/>
          </a:xfrm>
          <a:custGeom>
            <a:avLst/>
            <a:gdLst/>
            <a:ahLst/>
            <a:cxnLst/>
            <a:rect l="l" t="t" r="r" b="b"/>
            <a:pathLst>
              <a:path w="4549062" h="6780444">
                <a:moveTo>
                  <a:pt x="0" y="0"/>
                </a:moveTo>
                <a:lnTo>
                  <a:pt x="4549062" y="0"/>
                </a:lnTo>
                <a:lnTo>
                  <a:pt x="4549062" y="6780444"/>
                </a:lnTo>
                <a:lnTo>
                  <a:pt x="0" y="678044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sz="1350" dirty="0"/>
          </a:p>
        </p:txBody>
      </p:sp>
      <p:sp>
        <p:nvSpPr>
          <p:cNvPr id="33" name="Freeform 5">
            <a:extLst>
              <a:ext uri="{FF2B5EF4-FFF2-40B4-BE49-F238E27FC236}">
                <a16:creationId xmlns:a16="http://schemas.microsoft.com/office/drawing/2014/main" id="{2A160F13-8764-D059-9923-6D95B47B175D}"/>
              </a:ext>
              <a:ext uri="{C183D7F6-B498-43B3-948B-1728B52AA6E4}">
                <adec:decorative xmlns:adec="http://schemas.microsoft.com/office/drawing/2017/decorative" val="1"/>
              </a:ext>
            </a:extLst>
          </p:cNvPr>
          <p:cNvSpPr/>
          <p:nvPr userDrawn="1"/>
        </p:nvSpPr>
        <p:spPr>
          <a:xfrm rot="21445884">
            <a:off x="4804637" y="-750786"/>
            <a:ext cx="2729224" cy="2735166"/>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sz="1350" dirty="0"/>
          </a:p>
        </p:txBody>
      </p:sp>
      <p:sp>
        <p:nvSpPr>
          <p:cNvPr id="34" name="Freeform 4">
            <a:extLst>
              <a:ext uri="{FF2B5EF4-FFF2-40B4-BE49-F238E27FC236}">
                <a16:creationId xmlns:a16="http://schemas.microsoft.com/office/drawing/2014/main" id="{50B8F49F-8D86-DC2D-37F0-946BC7888B85}"/>
              </a:ext>
              <a:ext uri="{C183D7F6-B498-43B3-948B-1728B52AA6E4}">
                <adec:decorative xmlns:adec="http://schemas.microsoft.com/office/drawing/2017/decorative" val="1"/>
              </a:ext>
            </a:extLst>
          </p:cNvPr>
          <p:cNvSpPr/>
          <p:nvPr userDrawn="1"/>
        </p:nvSpPr>
        <p:spPr>
          <a:xfrm>
            <a:off x="2207259" y="670876"/>
            <a:ext cx="4170792"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sz="1350"/>
          </a:p>
        </p:txBody>
      </p:sp>
      <p:sp>
        <p:nvSpPr>
          <p:cNvPr id="35" name="Freeform 5">
            <a:extLst>
              <a:ext uri="{FF2B5EF4-FFF2-40B4-BE49-F238E27FC236}">
                <a16:creationId xmlns:a16="http://schemas.microsoft.com/office/drawing/2014/main" id="{0E270C24-0873-5229-B9F8-0748D3B0295E}"/>
              </a:ext>
              <a:ext uri="{C183D7F6-B498-43B3-948B-1728B52AA6E4}">
                <adec:decorative xmlns:adec="http://schemas.microsoft.com/office/drawing/2017/decorative" val="1"/>
              </a:ext>
            </a:extLst>
          </p:cNvPr>
          <p:cNvSpPr/>
          <p:nvPr userDrawn="1"/>
        </p:nvSpPr>
        <p:spPr>
          <a:xfrm>
            <a:off x="4698766" y="3400034"/>
            <a:ext cx="3019835" cy="2848398"/>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sz="1350" dirty="0"/>
          </a:p>
        </p:txBody>
      </p:sp>
      <p:sp>
        <p:nvSpPr>
          <p:cNvPr id="36" name="Freeform 2">
            <a:extLst>
              <a:ext uri="{FF2B5EF4-FFF2-40B4-BE49-F238E27FC236}">
                <a16:creationId xmlns:a16="http://schemas.microsoft.com/office/drawing/2014/main" id="{F08BCC40-8EF1-E663-8913-1862FCE00F6E}"/>
              </a:ext>
              <a:ext uri="{C183D7F6-B498-43B3-948B-1728B52AA6E4}">
                <adec:decorative xmlns:adec="http://schemas.microsoft.com/office/drawing/2017/decorative" val="1"/>
              </a:ext>
            </a:extLst>
          </p:cNvPr>
          <p:cNvSpPr/>
          <p:nvPr userDrawn="1"/>
        </p:nvSpPr>
        <p:spPr>
          <a:xfrm>
            <a:off x="10009050" y="3550743"/>
            <a:ext cx="2616847" cy="3540610"/>
          </a:xfrm>
          <a:custGeom>
            <a:avLst/>
            <a:gdLst/>
            <a:ahLst/>
            <a:cxnLst/>
            <a:rect l="l" t="t" r="r" b="b"/>
            <a:pathLst>
              <a:path w="4549062" h="6780444">
                <a:moveTo>
                  <a:pt x="0" y="0"/>
                </a:moveTo>
                <a:lnTo>
                  <a:pt x="4549062" y="0"/>
                </a:lnTo>
                <a:lnTo>
                  <a:pt x="4549062" y="6780444"/>
                </a:lnTo>
                <a:lnTo>
                  <a:pt x="0" y="678044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sz="1350" dirty="0"/>
          </a:p>
        </p:txBody>
      </p:sp>
      <p:sp>
        <p:nvSpPr>
          <p:cNvPr id="37" name="Rectangle 36">
            <a:extLst>
              <a:ext uri="{FF2B5EF4-FFF2-40B4-BE49-F238E27FC236}">
                <a16:creationId xmlns:a16="http://schemas.microsoft.com/office/drawing/2014/main" id="{15DD37F5-790C-EFF8-893A-97E9CC3AC34C}"/>
              </a:ext>
            </a:extLst>
          </p:cNvPr>
          <p:cNvSpPr/>
          <p:nvPr userDrawn="1"/>
        </p:nvSpPr>
        <p:spPr>
          <a:xfrm rot="16200000">
            <a:off x="5644041" y="334942"/>
            <a:ext cx="903921" cy="12192003"/>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350"/>
          </a:p>
        </p:txBody>
      </p:sp>
      <p:sp>
        <p:nvSpPr>
          <p:cNvPr id="42" name="TextBox 41">
            <a:extLst>
              <a:ext uri="{FF2B5EF4-FFF2-40B4-BE49-F238E27FC236}">
                <a16:creationId xmlns:a16="http://schemas.microsoft.com/office/drawing/2014/main" id="{BD71EE71-6D3D-DE57-F03B-FAAAB2CDE9D3}"/>
              </a:ext>
            </a:extLst>
          </p:cNvPr>
          <p:cNvSpPr txBox="1"/>
          <p:nvPr userDrawn="1"/>
        </p:nvSpPr>
        <p:spPr>
          <a:xfrm>
            <a:off x="64072" y="6077001"/>
            <a:ext cx="5464885" cy="553998"/>
          </a:xfrm>
          <a:prstGeom prst="rect">
            <a:avLst/>
          </a:prstGeom>
          <a:noFill/>
        </p:spPr>
        <p:txBody>
          <a:bodyPr wrap="square" rtlCol="0">
            <a:spAutoFit/>
          </a:bodyPr>
          <a:lstStyle/>
          <a:p>
            <a:r>
              <a:rPr lang="en-US" sz="1500" b="1" dirty="0">
                <a:solidFill>
                  <a:schemeClr val="tx1"/>
                </a:solidFill>
                <a:latin typeface="Arial" panose="020B0604020202020204" pitchFamily="34" charset="0"/>
                <a:cs typeface="Arial" panose="020B0604020202020204" pitchFamily="34" charset="0"/>
              </a:rPr>
              <a:t>Investment Brief</a:t>
            </a:r>
          </a:p>
          <a:p>
            <a:r>
              <a:rPr lang="en-US" sz="1500" i="1" dirty="0" err="1">
                <a:solidFill>
                  <a:schemeClr val="tx1"/>
                </a:solidFill>
                <a:latin typeface="Arial" panose="020B0604020202020204" pitchFamily="34" charset="0"/>
                <a:cs typeface="Arial" panose="020B0604020202020204" pitchFamily="34" charset="0"/>
              </a:rPr>
              <a:t>kelpglobal.com</a:t>
            </a:r>
            <a:endParaRPr lang="en-US" sz="1500" i="1" dirty="0">
              <a:solidFill>
                <a:schemeClr val="tx1"/>
              </a:solidFill>
              <a:latin typeface="Arial" panose="020B0604020202020204" pitchFamily="34" charset="0"/>
              <a:cs typeface="Arial" panose="020B0604020202020204" pitchFamily="34" charset="0"/>
            </a:endParaRPr>
          </a:p>
        </p:txBody>
      </p:sp>
      <p:pic>
        <p:nvPicPr>
          <p:cNvPr id="43" name="Picture 42" descr="A white letter on a black background&#10;&#10;AI-generated content may be incorrect.">
            <a:extLst>
              <a:ext uri="{FF2B5EF4-FFF2-40B4-BE49-F238E27FC236}">
                <a16:creationId xmlns:a16="http://schemas.microsoft.com/office/drawing/2014/main" id="{D49EF3F4-51EF-4606-B7A3-3504870972F4}"/>
              </a:ext>
            </a:extLst>
          </p:cNvPr>
          <p:cNvPicPr>
            <a:picLocks noChangeAspect="1"/>
          </p:cNvPicPr>
          <p:nvPr userDrawn="1"/>
        </p:nvPicPr>
        <p:blipFill>
          <a:blip r:embed="rId9"/>
          <a:stretch>
            <a:fillRect/>
          </a:stretch>
        </p:blipFill>
        <p:spPr>
          <a:xfrm>
            <a:off x="9910007" y="246908"/>
            <a:ext cx="1911873" cy="726707"/>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lide_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C7C7B3B-35A8-CB14-7DE6-7597AE5727BB}"/>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sz="2000" b="1" dirty="0">
                <a:solidFill>
                  <a:srgbClr val="FFFFFF"/>
                </a:solidFill>
                <a:latin typeface="Arial" panose="020B0604020202020204" pitchFamily="34" charset="0"/>
                <a:cs typeface="Arial" panose="020B0604020202020204" pitchFamily="34" charset="0"/>
              </a:rPr>
              <a:t>BUSINESS PROFILE AND INFRASTRUCTURE</a:t>
            </a:r>
            <a:endParaRPr sz="2000" b="1" dirty="0">
              <a:solidFill>
                <a:srgbClr val="FFFFFF"/>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E1E57ECB-C669-1AC2-3C5E-2B9B86C530B4}"/>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8" name="Picture 7" descr="A white letter on a black background&#10;&#10;AI-generated content may be incorrect.">
            <a:extLst>
              <a:ext uri="{FF2B5EF4-FFF2-40B4-BE49-F238E27FC236}">
                <a16:creationId xmlns:a16="http://schemas.microsoft.com/office/drawing/2014/main" id="{40F6C2CA-BED1-72A7-775A-CD3062FAC359}"/>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4" name="TextBox 3">
            <a:extLst>
              <a:ext uri="{FF2B5EF4-FFF2-40B4-BE49-F238E27FC236}">
                <a16:creationId xmlns:a16="http://schemas.microsoft.com/office/drawing/2014/main" id="{2B57153E-0761-147E-9F8E-CD5A48F6BBA5}"/>
              </a:ext>
            </a:extLst>
          </p:cNvPr>
          <p:cNvSpPr txBox="1"/>
          <p:nvPr userDrawn="1"/>
        </p:nvSpPr>
        <p:spPr>
          <a:xfrm>
            <a:off x="146060" y="4295570"/>
            <a:ext cx="8137412" cy="414371"/>
          </a:xfrm>
          <a:prstGeom prst="rect">
            <a:avLst/>
          </a:prstGeom>
          <a:solidFill>
            <a:srgbClr val="0077B6">
              <a:alpha val="41961"/>
            </a:srgbClr>
          </a:solidFill>
        </p:spPr>
        <p:txBody>
          <a:bodyPr wrap="square" rtlCol="0">
            <a:spAutoFit/>
          </a:bodyPr>
          <a:lstStyle/>
          <a:p>
            <a:endParaRPr lang="en-GB" dirty="0"/>
          </a:p>
        </p:txBody>
      </p:sp>
      <p:sp>
        <p:nvSpPr>
          <p:cNvPr id="10" name="Rectangle 9">
            <a:extLst>
              <a:ext uri="{FF2B5EF4-FFF2-40B4-BE49-F238E27FC236}">
                <a16:creationId xmlns:a16="http://schemas.microsoft.com/office/drawing/2014/main" id="{FD12A1B1-2F44-EBD9-7484-072B4B7A20C0}"/>
              </a:ext>
            </a:extLst>
          </p:cNvPr>
          <p:cNvSpPr/>
          <p:nvPr userDrawn="1"/>
        </p:nvSpPr>
        <p:spPr>
          <a:xfrm>
            <a:off x="154287" y="1282281"/>
            <a:ext cx="8129186" cy="29778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1" name="TextBox 10">
            <a:extLst>
              <a:ext uri="{FF2B5EF4-FFF2-40B4-BE49-F238E27FC236}">
                <a16:creationId xmlns:a16="http://schemas.microsoft.com/office/drawing/2014/main" id="{67E60B4F-D735-2076-55BD-B7B41AD03D44}"/>
              </a:ext>
            </a:extLst>
          </p:cNvPr>
          <p:cNvSpPr txBox="1"/>
          <p:nvPr userDrawn="1"/>
        </p:nvSpPr>
        <p:spPr>
          <a:xfrm>
            <a:off x="154287" y="798749"/>
            <a:ext cx="8115271" cy="414372"/>
          </a:xfrm>
          <a:prstGeom prst="rect">
            <a:avLst/>
          </a:prstGeom>
          <a:solidFill>
            <a:srgbClr val="6FACFF">
              <a:alpha val="41961"/>
            </a:srgbClr>
          </a:solidFill>
        </p:spPr>
        <p:txBody>
          <a:bodyPr wrap="square" rtlCol="0">
            <a:spAutoFit/>
          </a:bodyPr>
          <a:lstStyle/>
          <a:p>
            <a:endParaRPr lang="en-GB" dirty="0"/>
          </a:p>
        </p:txBody>
      </p:sp>
      <p:sp>
        <p:nvSpPr>
          <p:cNvPr id="12" name="TextBox 11">
            <a:extLst>
              <a:ext uri="{FF2B5EF4-FFF2-40B4-BE49-F238E27FC236}">
                <a16:creationId xmlns:a16="http://schemas.microsoft.com/office/drawing/2014/main" id="{DEA8438F-5D82-EB08-3BF9-9C884B9375DA}"/>
              </a:ext>
            </a:extLst>
          </p:cNvPr>
          <p:cNvSpPr txBox="1"/>
          <p:nvPr userDrawn="1"/>
        </p:nvSpPr>
        <p:spPr>
          <a:xfrm>
            <a:off x="8571893" y="3845798"/>
            <a:ext cx="3474046" cy="414371"/>
          </a:xfrm>
          <a:prstGeom prst="rect">
            <a:avLst/>
          </a:prstGeom>
          <a:solidFill>
            <a:srgbClr val="0077B6">
              <a:alpha val="42745"/>
            </a:srgbClr>
          </a:solidFill>
        </p:spPr>
        <p:txBody>
          <a:bodyPr wrap="square" rtlCol="0">
            <a:spAutoFit/>
          </a:bodyPr>
          <a:lstStyle/>
          <a:p>
            <a:endParaRPr lang="en-GB" dirty="0"/>
          </a:p>
        </p:txBody>
      </p:sp>
      <p:cxnSp>
        <p:nvCxnSpPr>
          <p:cNvPr id="13" name="Straight Connector 12">
            <a:extLst>
              <a:ext uri="{FF2B5EF4-FFF2-40B4-BE49-F238E27FC236}">
                <a16:creationId xmlns:a16="http://schemas.microsoft.com/office/drawing/2014/main" id="{02AF2439-D35F-B769-B7D1-D7E48C243F13}"/>
              </a:ext>
            </a:extLst>
          </p:cNvPr>
          <p:cNvCxnSpPr>
            <a:cxnSpLocks/>
          </p:cNvCxnSpPr>
          <p:nvPr userDrawn="1"/>
        </p:nvCxnSpPr>
        <p:spPr>
          <a:xfrm>
            <a:off x="8389194" y="631993"/>
            <a:ext cx="0" cy="6226007"/>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162F7883-A476-5852-F143-B3DFA7053835}"/>
              </a:ext>
            </a:extLst>
          </p:cNvPr>
          <p:cNvSpPr/>
          <p:nvPr userDrawn="1"/>
        </p:nvSpPr>
        <p:spPr>
          <a:xfrm>
            <a:off x="8571893" y="1395641"/>
            <a:ext cx="3431797" cy="228107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7" name="TextBox 16">
            <a:extLst>
              <a:ext uri="{FF2B5EF4-FFF2-40B4-BE49-F238E27FC236}">
                <a16:creationId xmlns:a16="http://schemas.microsoft.com/office/drawing/2014/main" id="{9B693A0E-7104-1EF4-C199-ABE4EA9337B0}"/>
              </a:ext>
            </a:extLst>
          </p:cNvPr>
          <p:cNvSpPr txBox="1"/>
          <p:nvPr userDrawn="1"/>
        </p:nvSpPr>
        <p:spPr>
          <a:xfrm>
            <a:off x="8508829" y="828876"/>
            <a:ext cx="3474046" cy="414371"/>
          </a:xfrm>
          <a:prstGeom prst="rect">
            <a:avLst/>
          </a:prstGeom>
          <a:solidFill>
            <a:srgbClr val="6FACFF">
              <a:alpha val="42745"/>
            </a:srgbClr>
          </a:solidFill>
        </p:spPr>
        <p:txBody>
          <a:bodyPr wrap="square" rtlCol="0">
            <a:spAutoFit/>
          </a:bodyPr>
          <a:lstStyle/>
          <a:p>
            <a:endParaRPr lang="en-GB" dirty="0"/>
          </a:p>
        </p:txBody>
      </p:sp>
      <p:sp>
        <p:nvSpPr>
          <p:cNvPr id="18" name="Rectangle 17">
            <a:extLst>
              <a:ext uri="{FF2B5EF4-FFF2-40B4-BE49-F238E27FC236}">
                <a16:creationId xmlns:a16="http://schemas.microsoft.com/office/drawing/2014/main" id="{0CD2EF22-2305-CBCF-7392-90504AAC5F5D}"/>
              </a:ext>
            </a:extLst>
          </p:cNvPr>
          <p:cNvSpPr/>
          <p:nvPr userDrawn="1"/>
        </p:nvSpPr>
        <p:spPr>
          <a:xfrm>
            <a:off x="204426" y="4730679"/>
            <a:ext cx="8081252" cy="190884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 name="Text Placeholder 2">
            <a:extLst>
              <a:ext uri="{FF2B5EF4-FFF2-40B4-BE49-F238E27FC236}">
                <a16:creationId xmlns:a16="http://schemas.microsoft.com/office/drawing/2014/main" id="{13C21514-8574-AB3F-FED4-0D5790A63814}"/>
              </a:ext>
            </a:extLst>
          </p:cNvPr>
          <p:cNvSpPr>
            <a:spLocks noGrp="1"/>
          </p:cNvSpPr>
          <p:nvPr>
            <p:ph type="body" sz="quarter" idx="10"/>
          </p:nvPr>
        </p:nvSpPr>
        <p:spPr>
          <a:xfrm>
            <a:off x="268804" y="1368192"/>
            <a:ext cx="7361140" cy="2783825"/>
          </a:xfrm>
        </p:spPr>
        <p:txBody>
          <a:bodyPr>
            <a:normAutofit/>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Text Placeholder 8">
            <a:extLst>
              <a:ext uri="{FF2B5EF4-FFF2-40B4-BE49-F238E27FC236}">
                <a16:creationId xmlns:a16="http://schemas.microsoft.com/office/drawing/2014/main" id="{48EB1D40-3674-BBC3-BA3D-593FBC536801}"/>
              </a:ext>
            </a:extLst>
          </p:cNvPr>
          <p:cNvSpPr>
            <a:spLocks noGrp="1"/>
          </p:cNvSpPr>
          <p:nvPr>
            <p:ph type="body" sz="quarter" idx="11"/>
          </p:nvPr>
        </p:nvSpPr>
        <p:spPr>
          <a:xfrm>
            <a:off x="301578" y="4791129"/>
            <a:ext cx="7298353" cy="1692486"/>
          </a:xfrm>
        </p:spPr>
        <p:txBody>
          <a:bodyPr>
            <a:normAutofit/>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5" name="TextBox 4">
            <a:extLst>
              <a:ext uri="{FF2B5EF4-FFF2-40B4-BE49-F238E27FC236}">
                <a16:creationId xmlns:a16="http://schemas.microsoft.com/office/drawing/2014/main" id="{A954834B-3DF1-23D9-5C4D-4A6C8E23F765}"/>
              </a:ext>
            </a:extLst>
          </p:cNvPr>
          <p:cNvSpPr txBox="1"/>
          <p:nvPr userDrawn="1"/>
        </p:nvSpPr>
        <p:spPr>
          <a:xfrm>
            <a:off x="8571893" y="3868317"/>
            <a:ext cx="3620105"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CERTIFICATIONS/AWARDS</a:t>
            </a:r>
          </a:p>
        </p:txBody>
      </p:sp>
      <p:sp>
        <p:nvSpPr>
          <p:cNvPr id="20" name="Picture Placeholder 19">
            <a:extLst>
              <a:ext uri="{FF2B5EF4-FFF2-40B4-BE49-F238E27FC236}">
                <a16:creationId xmlns:a16="http://schemas.microsoft.com/office/drawing/2014/main" id="{F701B351-9295-2343-7729-22B37578850C}"/>
              </a:ext>
            </a:extLst>
          </p:cNvPr>
          <p:cNvSpPr>
            <a:spLocks noGrp="1"/>
          </p:cNvSpPr>
          <p:nvPr>
            <p:ph type="pic" sz="quarter" idx="12"/>
          </p:nvPr>
        </p:nvSpPr>
        <p:spPr>
          <a:xfrm>
            <a:off x="9701086" y="4479735"/>
            <a:ext cx="1089531" cy="991109"/>
          </a:xfrm>
        </p:spPr>
        <p:txBody>
          <a:bodyPr/>
          <a:lstStyle/>
          <a:p>
            <a:endParaRPr lang="en-GB"/>
          </a:p>
        </p:txBody>
      </p:sp>
      <p:sp>
        <p:nvSpPr>
          <p:cNvPr id="21" name="Picture Placeholder 19">
            <a:extLst>
              <a:ext uri="{FF2B5EF4-FFF2-40B4-BE49-F238E27FC236}">
                <a16:creationId xmlns:a16="http://schemas.microsoft.com/office/drawing/2014/main" id="{E5F74BA3-8C7A-8938-B580-623C8CA528D7}"/>
              </a:ext>
            </a:extLst>
          </p:cNvPr>
          <p:cNvSpPr>
            <a:spLocks noGrp="1"/>
          </p:cNvSpPr>
          <p:nvPr>
            <p:ph type="pic" sz="quarter" idx="13"/>
          </p:nvPr>
        </p:nvSpPr>
        <p:spPr>
          <a:xfrm>
            <a:off x="8826504" y="5574632"/>
            <a:ext cx="1089535" cy="908983"/>
          </a:xfrm>
        </p:spPr>
        <p:txBody>
          <a:bodyPr/>
          <a:lstStyle/>
          <a:p>
            <a:endParaRPr lang="en-GB"/>
          </a:p>
        </p:txBody>
      </p:sp>
      <p:sp>
        <p:nvSpPr>
          <p:cNvPr id="22" name="Picture Placeholder 19">
            <a:extLst>
              <a:ext uri="{FF2B5EF4-FFF2-40B4-BE49-F238E27FC236}">
                <a16:creationId xmlns:a16="http://schemas.microsoft.com/office/drawing/2014/main" id="{EFC57E91-D73D-F1D4-2CD5-581EA200A756}"/>
              </a:ext>
            </a:extLst>
          </p:cNvPr>
          <p:cNvSpPr>
            <a:spLocks noGrp="1"/>
          </p:cNvSpPr>
          <p:nvPr>
            <p:ph type="pic" sz="quarter" idx="14"/>
          </p:nvPr>
        </p:nvSpPr>
        <p:spPr>
          <a:xfrm>
            <a:off x="10548962" y="5596364"/>
            <a:ext cx="1089532" cy="887251"/>
          </a:xfrm>
        </p:spPr>
        <p:txBody>
          <a:bodyPr/>
          <a:lstStyle/>
          <a:p>
            <a:endParaRPr lang="en-GB"/>
          </a:p>
        </p:txBody>
      </p:sp>
      <p:sp>
        <p:nvSpPr>
          <p:cNvPr id="23" name="TextBox 22">
            <a:extLst>
              <a:ext uri="{FF2B5EF4-FFF2-40B4-BE49-F238E27FC236}">
                <a16:creationId xmlns:a16="http://schemas.microsoft.com/office/drawing/2014/main" id="{D0F51ADC-19AC-CC4C-101E-F9EA157D172C}"/>
              </a:ext>
            </a:extLst>
          </p:cNvPr>
          <p:cNvSpPr txBox="1"/>
          <p:nvPr userDrawn="1"/>
        </p:nvSpPr>
        <p:spPr>
          <a:xfrm>
            <a:off x="8541487" y="850054"/>
            <a:ext cx="309701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AT A GLANCE</a:t>
            </a:r>
          </a:p>
        </p:txBody>
      </p:sp>
      <p:sp>
        <p:nvSpPr>
          <p:cNvPr id="25" name="Text Placeholder 24">
            <a:extLst>
              <a:ext uri="{FF2B5EF4-FFF2-40B4-BE49-F238E27FC236}">
                <a16:creationId xmlns:a16="http://schemas.microsoft.com/office/drawing/2014/main" id="{79C7AF37-8E24-7EC6-C84D-1E144C153BAA}"/>
              </a:ext>
            </a:extLst>
          </p:cNvPr>
          <p:cNvSpPr>
            <a:spLocks noGrp="1"/>
          </p:cNvSpPr>
          <p:nvPr>
            <p:ph type="body" sz="quarter" idx="15"/>
          </p:nvPr>
        </p:nvSpPr>
        <p:spPr>
          <a:xfrm>
            <a:off x="8674226" y="1479907"/>
            <a:ext cx="2657802" cy="2219325"/>
          </a:xfrm>
        </p:spPr>
        <p:txBody>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9" name="Picture Placeholder 18">
            <a:extLst>
              <a:ext uri="{FF2B5EF4-FFF2-40B4-BE49-F238E27FC236}">
                <a16:creationId xmlns:a16="http://schemas.microsoft.com/office/drawing/2014/main" id="{FAD83EC9-39E7-8960-FB4A-66247F4FE61D}"/>
              </a:ext>
            </a:extLst>
          </p:cNvPr>
          <p:cNvSpPr>
            <a:spLocks noGrp="1"/>
          </p:cNvSpPr>
          <p:nvPr>
            <p:ph type="pic" sz="quarter" idx="16"/>
          </p:nvPr>
        </p:nvSpPr>
        <p:spPr>
          <a:xfrm>
            <a:off x="7676515" y="1354712"/>
            <a:ext cx="560387" cy="584200"/>
          </a:xfrm>
        </p:spPr>
        <p:txBody>
          <a:bodyPr/>
          <a:lstStyle/>
          <a:p>
            <a:endParaRPr lang="en-GB"/>
          </a:p>
        </p:txBody>
      </p:sp>
      <p:sp>
        <p:nvSpPr>
          <p:cNvPr id="24" name="Picture Placeholder 18">
            <a:extLst>
              <a:ext uri="{FF2B5EF4-FFF2-40B4-BE49-F238E27FC236}">
                <a16:creationId xmlns:a16="http://schemas.microsoft.com/office/drawing/2014/main" id="{79B0485E-332F-E3ED-5180-4C38D7877684}"/>
              </a:ext>
            </a:extLst>
          </p:cNvPr>
          <p:cNvSpPr>
            <a:spLocks noGrp="1"/>
          </p:cNvSpPr>
          <p:nvPr>
            <p:ph type="pic" sz="quarter" idx="17"/>
          </p:nvPr>
        </p:nvSpPr>
        <p:spPr>
          <a:xfrm>
            <a:off x="7662611" y="4778729"/>
            <a:ext cx="560387" cy="584200"/>
          </a:xfrm>
        </p:spPr>
        <p:txBody>
          <a:bodyPr/>
          <a:lstStyle/>
          <a:p>
            <a:endParaRPr lang="en-GB"/>
          </a:p>
        </p:txBody>
      </p:sp>
      <p:sp>
        <p:nvSpPr>
          <p:cNvPr id="26" name="Picture Placeholder 18">
            <a:extLst>
              <a:ext uri="{FF2B5EF4-FFF2-40B4-BE49-F238E27FC236}">
                <a16:creationId xmlns:a16="http://schemas.microsoft.com/office/drawing/2014/main" id="{17DCE210-3387-3CE1-1570-6E59B39B6E98}"/>
              </a:ext>
            </a:extLst>
          </p:cNvPr>
          <p:cNvSpPr>
            <a:spLocks noGrp="1"/>
          </p:cNvSpPr>
          <p:nvPr>
            <p:ph type="pic" sz="quarter" idx="18"/>
          </p:nvPr>
        </p:nvSpPr>
        <p:spPr>
          <a:xfrm>
            <a:off x="11362809" y="1522913"/>
            <a:ext cx="560387" cy="584200"/>
          </a:xfrm>
        </p:spPr>
        <p:txBody>
          <a:bodyPr/>
          <a:lstStyle/>
          <a:p>
            <a:endParaRPr lang="en-GB"/>
          </a:p>
        </p:txBody>
      </p:sp>
      <p:sp>
        <p:nvSpPr>
          <p:cNvPr id="29" name="Title 2">
            <a:extLst>
              <a:ext uri="{FF2B5EF4-FFF2-40B4-BE49-F238E27FC236}">
                <a16:creationId xmlns:a16="http://schemas.microsoft.com/office/drawing/2014/main" id="{720CF06B-9487-3D5C-484F-440F7D080F41}"/>
              </a:ext>
            </a:extLst>
          </p:cNvPr>
          <p:cNvSpPr txBox="1">
            <a:spLocks/>
          </p:cNvSpPr>
          <p:nvPr userDrawn="1"/>
        </p:nvSpPr>
        <p:spPr>
          <a:xfrm>
            <a:off x="146060" y="4277770"/>
            <a:ext cx="10075084" cy="1116106"/>
          </a:xfrm>
          <a:prstGeom prst="rect">
            <a:avLst/>
          </a:prstGeom>
        </p:spPr>
        <p:txBody>
          <a:bodyPr vert="horz" lIns="91440" tIns="45720" rIns="91440" bIns="45720" rtlCol="0" anchor="t" anchorCtr="0">
            <a:noAutofit/>
          </a:bodyPr>
          <a:lstStyle>
            <a:lvl1pPr algn="l" defTabSz="685800" rtl="0" eaLnBrk="1" latinLnBrk="0" hangingPunct="1">
              <a:spcBef>
                <a:spcPct val="0"/>
              </a:spcBef>
              <a:buNone/>
              <a:defRPr sz="2700" b="1" kern="1200">
                <a:solidFill>
                  <a:schemeClr val="tx1"/>
                </a:solidFill>
                <a:latin typeface="Arial" panose="020B0604020202020204" pitchFamily="34" charset="0"/>
                <a:ea typeface="+mj-ea"/>
                <a:cs typeface="Arial" panose="020B0604020202020204" pitchFamily="34" charset="0"/>
              </a:defRPr>
            </a:lvl1pPr>
          </a:lstStyle>
          <a:p>
            <a:r>
              <a:rPr lang="en-GB" dirty="0"/>
              <a:t>Portfolio</a:t>
            </a:r>
          </a:p>
        </p:txBody>
      </p:sp>
      <p:sp>
        <p:nvSpPr>
          <p:cNvPr id="14" name="TextBox 13">
            <a:extLst>
              <a:ext uri="{FF2B5EF4-FFF2-40B4-BE49-F238E27FC236}">
                <a16:creationId xmlns:a16="http://schemas.microsoft.com/office/drawing/2014/main" id="{4D7C432F-8F12-73FA-3AE0-B0185A083F0C}"/>
              </a:ext>
            </a:extLst>
          </p:cNvPr>
          <p:cNvSpPr txBox="1"/>
          <p:nvPr userDrawn="1"/>
        </p:nvSpPr>
        <p:spPr>
          <a:xfrm>
            <a:off x="204426" y="816130"/>
            <a:ext cx="309701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OVERVIEW</a:t>
            </a:r>
          </a:p>
        </p:txBody>
      </p:sp>
    </p:spTree>
    <p:extLst>
      <p:ext uri="{BB962C8B-B14F-4D97-AF65-F5344CB8AC3E}">
        <p14:creationId xmlns:p14="http://schemas.microsoft.com/office/powerpoint/2010/main" val="2687324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lide_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2318C7D-B421-4556-7BFD-CC04951D942A}"/>
              </a:ext>
            </a:extLst>
          </p:cNvPr>
          <p:cNvSpPr/>
          <p:nvPr userDrawn="1"/>
        </p:nvSpPr>
        <p:spPr>
          <a:xfrm>
            <a:off x="6293423" y="780377"/>
            <a:ext cx="5500858" cy="289859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7" name="Rectangle 6">
            <a:extLst>
              <a:ext uri="{FF2B5EF4-FFF2-40B4-BE49-F238E27FC236}">
                <a16:creationId xmlns:a16="http://schemas.microsoft.com/office/drawing/2014/main" id="{0517C9D5-49AC-9CA1-E5F3-5A1A806A33F8}"/>
              </a:ext>
            </a:extLst>
          </p:cNvPr>
          <p:cNvSpPr/>
          <p:nvPr userDrawn="1"/>
        </p:nvSpPr>
        <p:spPr>
          <a:xfrm>
            <a:off x="242480" y="4019724"/>
            <a:ext cx="5903625" cy="25463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5" name="Rectangle 4">
            <a:extLst>
              <a:ext uri="{FF2B5EF4-FFF2-40B4-BE49-F238E27FC236}">
                <a16:creationId xmlns:a16="http://schemas.microsoft.com/office/drawing/2014/main" id="{842A2C26-E205-E6B7-3924-B3F00935BC4F}"/>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lang="en-IN" sz="2000" b="1" kern="1200" dirty="0">
              <a:solidFill>
                <a:schemeClr val="lt1"/>
              </a:solidFill>
              <a:effectLst/>
              <a:latin typeface="Arial" panose="020B0604020202020204" pitchFamily="34" charset="0"/>
              <a:ea typeface="+mn-ea"/>
              <a:cs typeface="Arial" panose="020B0604020202020204" pitchFamily="34" charset="0"/>
            </a:endParaRPr>
          </a:p>
        </p:txBody>
      </p:sp>
      <p:sp>
        <p:nvSpPr>
          <p:cNvPr id="3" name="TextBox 2">
            <a:extLst>
              <a:ext uri="{FF2B5EF4-FFF2-40B4-BE49-F238E27FC236}">
                <a16:creationId xmlns:a16="http://schemas.microsoft.com/office/drawing/2014/main" id="{EF2B70FC-EA3A-9BC1-136F-70C24143B8A4}"/>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4" name="Picture 3" descr="A white letter on a black background&#10;&#10;AI-generated content may be incorrect.">
            <a:extLst>
              <a:ext uri="{FF2B5EF4-FFF2-40B4-BE49-F238E27FC236}">
                <a16:creationId xmlns:a16="http://schemas.microsoft.com/office/drawing/2014/main" id="{8405219B-631A-B6C2-078E-01EE365BF882}"/>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2" name="TextBox 153">
            <a:extLst>
              <a:ext uri="{FF2B5EF4-FFF2-40B4-BE49-F238E27FC236}">
                <a16:creationId xmlns:a16="http://schemas.microsoft.com/office/drawing/2014/main" id="{A7B5FD41-65CC-DCFC-EEA0-2E9BD7A03752}"/>
              </a:ext>
            </a:extLst>
          </p:cNvPr>
          <p:cNvSpPr txBox="1"/>
          <p:nvPr userDrawn="1"/>
        </p:nvSpPr>
        <p:spPr>
          <a:xfrm>
            <a:off x="192373" y="707336"/>
            <a:ext cx="5953732" cy="444203"/>
          </a:xfrm>
          <a:prstGeom prst="roundRect">
            <a:avLst/>
          </a:prstGeom>
          <a:solidFill>
            <a:srgbClr val="0077B6">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endPar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6" name="TextBox 153">
            <a:extLst>
              <a:ext uri="{FF2B5EF4-FFF2-40B4-BE49-F238E27FC236}">
                <a16:creationId xmlns:a16="http://schemas.microsoft.com/office/drawing/2014/main" id="{C757E7BD-409D-85E9-63ED-AF7F5EEECDC8}"/>
              </a:ext>
            </a:extLst>
          </p:cNvPr>
          <p:cNvSpPr txBox="1"/>
          <p:nvPr userDrawn="1"/>
        </p:nvSpPr>
        <p:spPr>
          <a:xfrm>
            <a:off x="6293423" y="3768347"/>
            <a:ext cx="5500858" cy="345556"/>
          </a:xfrm>
          <a:prstGeom prst="roundRect">
            <a:avLst/>
          </a:prstGeom>
          <a:solidFill>
            <a:srgbClr val="0077B6">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endPar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10" name="Bar Graph">
            <a:extLst>
              <a:ext uri="{FF2B5EF4-FFF2-40B4-BE49-F238E27FC236}">
                <a16:creationId xmlns:a16="http://schemas.microsoft.com/office/drawing/2014/main" id="{314BFA5B-DA44-35AB-4230-666E47503CBA}"/>
              </a:ext>
            </a:extLst>
          </p:cNvPr>
          <p:cNvSpPr>
            <a:spLocks noGrp="1"/>
          </p:cNvSpPr>
          <p:nvPr>
            <p:ph type="chart" sz="quarter" idx="10"/>
          </p:nvPr>
        </p:nvSpPr>
        <p:spPr>
          <a:xfrm>
            <a:off x="258762" y="1212058"/>
            <a:ext cx="5850553" cy="2710656"/>
          </a:xfrm>
        </p:spPr>
        <p:txBody>
          <a:bodyPr/>
          <a:lstStyle/>
          <a:p>
            <a:endParaRPr lang="en-GB"/>
          </a:p>
        </p:txBody>
      </p:sp>
      <p:sp>
        <p:nvSpPr>
          <p:cNvPr id="12" name="Pie Graph">
            <a:extLst>
              <a:ext uri="{FF2B5EF4-FFF2-40B4-BE49-F238E27FC236}">
                <a16:creationId xmlns:a16="http://schemas.microsoft.com/office/drawing/2014/main" id="{4F4B5099-C250-429F-B035-D8FD2B9191E4}"/>
              </a:ext>
            </a:extLst>
          </p:cNvPr>
          <p:cNvSpPr>
            <a:spLocks noGrp="1"/>
          </p:cNvSpPr>
          <p:nvPr>
            <p:ph type="chart" sz="quarter" idx="11"/>
          </p:nvPr>
        </p:nvSpPr>
        <p:spPr>
          <a:xfrm>
            <a:off x="6293423" y="4203279"/>
            <a:ext cx="5752516" cy="2417016"/>
          </a:xfrm>
        </p:spPr>
        <p:txBody>
          <a:bodyPr/>
          <a:lstStyle/>
          <a:p>
            <a:endParaRPr lang="en-GB"/>
          </a:p>
        </p:txBody>
      </p:sp>
      <p:sp>
        <p:nvSpPr>
          <p:cNvPr id="14" name="Bar Chart Text">
            <a:extLst>
              <a:ext uri="{FF2B5EF4-FFF2-40B4-BE49-F238E27FC236}">
                <a16:creationId xmlns:a16="http://schemas.microsoft.com/office/drawing/2014/main" id="{2DFEA1BA-A093-DDF9-3DB8-B4A28E960CDA}"/>
              </a:ext>
            </a:extLst>
          </p:cNvPr>
          <p:cNvSpPr>
            <a:spLocks noGrp="1"/>
          </p:cNvSpPr>
          <p:nvPr>
            <p:ph type="body" sz="quarter" idx="12"/>
          </p:nvPr>
        </p:nvSpPr>
        <p:spPr>
          <a:xfrm>
            <a:off x="275046" y="4095066"/>
            <a:ext cx="5376865" cy="2367518"/>
          </a:xfrm>
        </p:spPr>
        <p:txBody>
          <a:bodyPr/>
          <a:lstStyle>
            <a:lvl1pPr>
              <a:defRPr sz="1200">
                <a:latin typeface="Arial" panose="020B06040202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6" name="Pie Chart Text">
            <a:extLst>
              <a:ext uri="{FF2B5EF4-FFF2-40B4-BE49-F238E27FC236}">
                <a16:creationId xmlns:a16="http://schemas.microsoft.com/office/drawing/2014/main" id="{A6C93ED4-1702-7B8D-5F36-E67260FB774A}"/>
              </a:ext>
            </a:extLst>
          </p:cNvPr>
          <p:cNvSpPr>
            <a:spLocks noGrp="1"/>
          </p:cNvSpPr>
          <p:nvPr>
            <p:ph type="body" sz="quarter" idx="13"/>
          </p:nvPr>
        </p:nvSpPr>
        <p:spPr>
          <a:xfrm>
            <a:off x="6392577" y="828316"/>
            <a:ext cx="4852072" cy="2760822"/>
          </a:xfrm>
        </p:spPr>
        <p:txBody>
          <a:bodyPr/>
          <a:lstStyle>
            <a:lvl1pPr>
              <a:defRPr sz="1200">
                <a:latin typeface="Arial" panose="020B06040202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Pie Icon">
            <a:extLst>
              <a:ext uri="{FF2B5EF4-FFF2-40B4-BE49-F238E27FC236}">
                <a16:creationId xmlns:a16="http://schemas.microsoft.com/office/drawing/2014/main" id="{50C145BC-849C-7BED-8D76-9D2CBB6027C8}"/>
              </a:ext>
            </a:extLst>
          </p:cNvPr>
          <p:cNvSpPr>
            <a:spLocks noGrp="1"/>
          </p:cNvSpPr>
          <p:nvPr>
            <p:ph type="pic" sz="quarter" idx="16"/>
          </p:nvPr>
        </p:nvSpPr>
        <p:spPr>
          <a:xfrm>
            <a:off x="11126680" y="3004938"/>
            <a:ext cx="560387" cy="584200"/>
          </a:xfrm>
        </p:spPr>
        <p:txBody>
          <a:bodyPr/>
          <a:lstStyle/>
          <a:p>
            <a:endParaRPr lang="en-GB"/>
          </a:p>
        </p:txBody>
      </p:sp>
      <p:sp>
        <p:nvSpPr>
          <p:cNvPr id="11" name="Bar Icon">
            <a:extLst>
              <a:ext uri="{FF2B5EF4-FFF2-40B4-BE49-F238E27FC236}">
                <a16:creationId xmlns:a16="http://schemas.microsoft.com/office/drawing/2014/main" id="{D8485975-C325-68AD-C16C-A6ED6801C253}"/>
              </a:ext>
            </a:extLst>
          </p:cNvPr>
          <p:cNvSpPr>
            <a:spLocks noGrp="1"/>
          </p:cNvSpPr>
          <p:nvPr>
            <p:ph type="pic" sz="quarter" idx="17"/>
          </p:nvPr>
        </p:nvSpPr>
        <p:spPr>
          <a:xfrm>
            <a:off x="5548929" y="5836401"/>
            <a:ext cx="560387" cy="584200"/>
          </a:xfrm>
        </p:spPr>
        <p:txBody>
          <a:bodyPr/>
          <a:lstStyle/>
          <a:p>
            <a:endParaRPr lang="en-GB"/>
          </a:p>
        </p:txBody>
      </p:sp>
      <p:sp>
        <p:nvSpPr>
          <p:cNvPr id="17" name="Bar Chart Title">
            <a:extLst>
              <a:ext uri="{FF2B5EF4-FFF2-40B4-BE49-F238E27FC236}">
                <a16:creationId xmlns:a16="http://schemas.microsoft.com/office/drawing/2014/main" id="{9D9991A1-48D6-46D4-FBFC-5B6D1DAEA7B5}"/>
              </a:ext>
            </a:extLst>
          </p:cNvPr>
          <p:cNvSpPr>
            <a:spLocks noGrp="1"/>
          </p:cNvSpPr>
          <p:nvPr>
            <p:ph type="body" sz="quarter" idx="18"/>
          </p:nvPr>
        </p:nvSpPr>
        <p:spPr>
          <a:xfrm>
            <a:off x="388286" y="767854"/>
            <a:ext cx="5511800" cy="271463"/>
          </a:xfrm>
        </p:spPr>
        <p:txBody>
          <a:bodyPr/>
          <a:lstStyle>
            <a:lvl1pPr>
              <a:defRPr sz="2000" b="1">
                <a:solidFill>
                  <a:schemeClr val="tx1"/>
                </a:solidFill>
                <a:latin typeface="Arial" panose="020B0604020202020204" pitchFamily="34" charset="0"/>
                <a:cs typeface="Arial" panose="020B0604020202020204" pitchFamily="34" charset="0"/>
              </a:defRPr>
            </a:lvl1pPr>
            <a:lvl2pPr>
              <a:defRPr sz="2000" b="1">
                <a:solidFill>
                  <a:schemeClr val="tx1"/>
                </a:solidFill>
                <a:latin typeface="Arial" panose="020B0604020202020204" pitchFamily="34" charset="0"/>
                <a:cs typeface="Arial" panose="020B0604020202020204" pitchFamily="34" charset="0"/>
              </a:defRPr>
            </a:lvl2pPr>
            <a:lvl3pPr>
              <a:defRPr sz="2000" b="1">
                <a:solidFill>
                  <a:schemeClr val="tx1"/>
                </a:solidFill>
                <a:latin typeface="Arial" panose="020B0604020202020204" pitchFamily="34" charset="0"/>
                <a:cs typeface="Arial" panose="020B0604020202020204" pitchFamily="34" charset="0"/>
              </a:defRPr>
            </a:lvl3pPr>
            <a:lvl4pPr>
              <a:defRPr sz="2000" b="1">
                <a:solidFill>
                  <a:schemeClr val="tx1"/>
                </a:solidFill>
                <a:latin typeface="Arial" panose="020B0604020202020204" pitchFamily="34" charset="0"/>
                <a:cs typeface="Arial" panose="020B0604020202020204" pitchFamily="34" charset="0"/>
              </a:defRPr>
            </a:lvl4pPr>
            <a:lvl5pPr>
              <a:defRPr sz="2000" b="1">
                <a:solidFill>
                  <a:schemeClr val="tx1"/>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9" name="Pie Chart Title">
            <a:extLst>
              <a:ext uri="{FF2B5EF4-FFF2-40B4-BE49-F238E27FC236}">
                <a16:creationId xmlns:a16="http://schemas.microsoft.com/office/drawing/2014/main" id="{3AA68E73-7E2F-1CA9-2535-55E22322272D}"/>
              </a:ext>
            </a:extLst>
          </p:cNvPr>
          <p:cNvSpPr>
            <a:spLocks noGrp="1"/>
          </p:cNvSpPr>
          <p:nvPr>
            <p:ph type="body" sz="quarter" idx="19"/>
          </p:nvPr>
        </p:nvSpPr>
        <p:spPr>
          <a:xfrm>
            <a:off x="6343529" y="3764130"/>
            <a:ext cx="5173662" cy="342900"/>
          </a:xfrm>
        </p:spPr>
        <p:txBody>
          <a:bodyPr/>
          <a:lstStyle>
            <a:lvl1pPr>
              <a:defRPr sz="2000" b="1">
                <a:solidFill>
                  <a:schemeClr val="tx1"/>
                </a:solidFill>
                <a:latin typeface="Arial" panose="020B0604020202020204" pitchFamily="34" charset="0"/>
                <a:cs typeface="Arial" panose="020B0604020202020204" pitchFamily="34" charset="0"/>
              </a:defRPr>
            </a:lvl1pPr>
            <a:lvl2pPr>
              <a:defRPr b="1">
                <a:solidFill>
                  <a:schemeClr val="tx1"/>
                </a:solidFill>
                <a:latin typeface="Arial" panose="020B0604020202020204" pitchFamily="34" charset="0"/>
                <a:cs typeface="Arial" panose="020B0604020202020204" pitchFamily="34" charset="0"/>
              </a:defRPr>
            </a:lvl2pPr>
            <a:lvl3pPr>
              <a:defRPr b="1">
                <a:solidFill>
                  <a:schemeClr val="tx1"/>
                </a:solidFill>
                <a:latin typeface="Arial" panose="020B0604020202020204" pitchFamily="34" charset="0"/>
                <a:cs typeface="Arial" panose="020B0604020202020204" pitchFamily="34" charset="0"/>
              </a:defRPr>
            </a:lvl3pPr>
            <a:lvl4pPr>
              <a:defRPr b="1">
                <a:solidFill>
                  <a:schemeClr val="tx1"/>
                </a:solidFill>
                <a:latin typeface="Arial" panose="020B0604020202020204" pitchFamily="34" charset="0"/>
                <a:cs typeface="Arial" panose="020B0604020202020204" pitchFamily="34" charset="0"/>
              </a:defRPr>
            </a:lvl4pPr>
            <a:lvl5pPr>
              <a:defRPr b="1">
                <a:solidFill>
                  <a:schemeClr val="tx1"/>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1" name="Title">
            <a:extLst>
              <a:ext uri="{FF2B5EF4-FFF2-40B4-BE49-F238E27FC236}">
                <a16:creationId xmlns:a16="http://schemas.microsoft.com/office/drawing/2014/main" id="{D99BE25C-6F4A-E4EC-288F-86E2C1351AFD}"/>
              </a:ext>
            </a:extLst>
          </p:cNvPr>
          <p:cNvSpPr>
            <a:spLocks noGrp="1"/>
          </p:cNvSpPr>
          <p:nvPr>
            <p:ph type="body" sz="quarter" idx="20"/>
          </p:nvPr>
        </p:nvSpPr>
        <p:spPr>
          <a:xfrm>
            <a:off x="192088" y="0"/>
            <a:ext cx="9063037" cy="476250"/>
          </a:xfrm>
        </p:spPr>
        <p:txBody>
          <a:bodyPr/>
          <a:lstStyle>
            <a:lvl1pPr>
              <a:defRPr sz="2000" b="1">
                <a:solidFill>
                  <a:schemeClr val="bg1"/>
                </a:solidFill>
                <a:latin typeface="Arial" panose="020B0604020202020204" pitchFamily="34" charset="0"/>
                <a:cs typeface="Arial" panose="020B0604020202020204" pitchFamily="34" charset="0"/>
              </a:defRPr>
            </a:lvl1pPr>
            <a:lvl2pPr>
              <a:defRPr sz="2000" b="1">
                <a:solidFill>
                  <a:schemeClr val="bg1"/>
                </a:solidFill>
                <a:latin typeface="Arial" panose="020B0604020202020204" pitchFamily="34" charset="0"/>
                <a:cs typeface="Arial" panose="020B0604020202020204" pitchFamily="34" charset="0"/>
              </a:defRPr>
            </a:lvl2pPr>
            <a:lvl3pPr>
              <a:defRPr sz="2000" b="1">
                <a:solidFill>
                  <a:schemeClr val="bg1"/>
                </a:solidFill>
                <a:latin typeface="Arial" panose="020B0604020202020204" pitchFamily="34" charset="0"/>
                <a:cs typeface="Arial" panose="020B0604020202020204" pitchFamily="34" charset="0"/>
              </a:defRPr>
            </a:lvl3pPr>
            <a:lvl4pPr>
              <a:defRPr sz="2000" b="1">
                <a:solidFill>
                  <a:schemeClr val="bg1"/>
                </a:solidFill>
                <a:latin typeface="Arial" panose="020B0604020202020204" pitchFamily="34" charset="0"/>
                <a:cs typeface="Arial" panose="020B0604020202020204" pitchFamily="34" charset="0"/>
              </a:defRPr>
            </a:lvl4pPr>
            <a:lvl5pPr>
              <a:defRPr sz="2000" b="1">
                <a:solidFill>
                  <a:schemeClr val="bg1"/>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Tree>
    <p:extLst>
      <p:ext uri="{BB962C8B-B14F-4D97-AF65-F5344CB8AC3E}">
        <p14:creationId xmlns:p14="http://schemas.microsoft.com/office/powerpoint/2010/main" val="1840751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lide_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9DE9D625-B252-EFFB-3A00-7B566DC08A6F}"/>
              </a:ext>
            </a:extLst>
          </p:cNvPr>
          <p:cNvSpPr/>
          <p:nvPr userDrawn="1"/>
        </p:nvSpPr>
        <p:spPr>
          <a:xfrm>
            <a:off x="4395498" y="2088107"/>
            <a:ext cx="3519725" cy="2839548"/>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6" name="Rectangle 5">
            <a:extLst>
              <a:ext uri="{FF2B5EF4-FFF2-40B4-BE49-F238E27FC236}">
                <a16:creationId xmlns:a16="http://schemas.microsoft.com/office/drawing/2014/main" id="{1BC3EBF0-E13C-252F-470B-3F9796752F0C}"/>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sz="2000" b="1" dirty="0">
                <a:solidFill>
                  <a:srgbClr val="FFFFFF"/>
                </a:solidFill>
                <a:latin typeface="Arial"/>
              </a:rPr>
              <a:t>INVESTMENT HIGHLIGHTS</a:t>
            </a:r>
            <a:endParaRPr sz="2000" b="1" dirty="0">
              <a:solidFill>
                <a:srgbClr val="FFFFFF"/>
              </a:solidFill>
              <a:latin typeface="Arial"/>
            </a:endParaRPr>
          </a:p>
        </p:txBody>
      </p:sp>
      <p:sp>
        <p:nvSpPr>
          <p:cNvPr id="4" name="TextBox 3">
            <a:extLst>
              <a:ext uri="{FF2B5EF4-FFF2-40B4-BE49-F238E27FC236}">
                <a16:creationId xmlns:a16="http://schemas.microsoft.com/office/drawing/2014/main" id="{079099D8-B111-64B9-AED3-0B81F8134912}"/>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5" name="Picture 4" descr="A white letter on a black background&#10;&#10;AI-generated content may be incorrect.">
            <a:extLst>
              <a:ext uri="{FF2B5EF4-FFF2-40B4-BE49-F238E27FC236}">
                <a16:creationId xmlns:a16="http://schemas.microsoft.com/office/drawing/2014/main" id="{20DAE98F-4E14-A8A3-15C2-ED6852567ACC}"/>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8" name="TextBox 7">
            <a:extLst>
              <a:ext uri="{FF2B5EF4-FFF2-40B4-BE49-F238E27FC236}">
                <a16:creationId xmlns:a16="http://schemas.microsoft.com/office/drawing/2014/main" id="{9C614A9E-8F95-982B-8753-47EDDA1EBD51}"/>
              </a:ext>
            </a:extLst>
          </p:cNvPr>
          <p:cNvSpPr txBox="1"/>
          <p:nvPr userDrawn="1"/>
        </p:nvSpPr>
        <p:spPr>
          <a:xfrm>
            <a:off x="445822" y="1128668"/>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5" name="TextBox 34">
            <a:extLst>
              <a:ext uri="{FF2B5EF4-FFF2-40B4-BE49-F238E27FC236}">
                <a16:creationId xmlns:a16="http://schemas.microsoft.com/office/drawing/2014/main" id="{FF534886-F3B6-8ECD-72C7-0AF52C54FDBE}"/>
              </a:ext>
            </a:extLst>
          </p:cNvPr>
          <p:cNvSpPr txBox="1"/>
          <p:nvPr userDrawn="1"/>
        </p:nvSpPr>
        <p:spPr>
          <a:xfrm>
            <a:off x="445822" y="3090275"/>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6" name="TextBox 35">
            <a:extLst>
              <a:ext uri="{FF2B5EF4-FFF2-40B4-BE49-F238E27FC236}">
                <a16:creationId xmlns:a16="http://schemas.microsoft.com/office/drawing/2014/main" id="{FC6F682F-2F9F-0CE1-8721-13E3F577FC72}"/>
              </a:ext>
            </a:extLst>
          </p:cNvPr>
          <p:cNvSpPr txBox="1"/>
          <p:nvPr userDrawn="1"/>
        </p:nvSpPr>
        <p:spPr>
          <a:xfrm>
            <a:off x="8229266" y="1128668"/>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7" name="TextBox 36">
            <a:extLst>
              <a:ext uri="{FF2B5EF4-FFF2-40B4-BE49-F238E27FC236}">
                <a16:creationId xmlns:a16="http://schemas.microsoft.com/office/drawing/2014/main" id="{AAF64F0F-101E-61D2-B3AC-357F5CB3FA39}"/>
              </a:ext>
            </a:extLst>
          </p:cNvPr>
          <p:cNvSpPr txBox="1"/>
          <p:nvPr userDrawn="1"/>
        </p:nvSpPr>
        <p:spPr>
          <a:xfrm>
            <a:off x="8229265" y="4982247"/>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2" name="TextBox 1">
            <a:extLst>
              <a:ext uri="{FF2B5EF4-FFF2-40B4-BE49-F238E27FC236}">
                <a16:creationId xmlns:a16="http://schemas.microsoft.com/office/drawing/2014/main" id="{492E92FF-7727-F376-371F-DF4984617C32}"/>
              </a:ext>
            </a:extLst>
          </p:cNvPr>
          <p:cNvSpPr txBox="1"/>
          <p:nvPr userDrawn="1"/>
        </p:nvSpPr>
        <p:spPr>
          <a:xfrm>
            <a:off x="445821" y="4960264"/>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 name="TextBox 2">
            <a:extLst>
              <a:ext uri="{FF2B5EF4-FFF2-40B4-BE49-F238E27FC236}">
                <a16:creationId xmlns:a16="http://schemas.microsoft.com/office/drawing/2014/main" id="{F8A9165A-549C-5FC1-E3B8-CC0D1FCCCBF8}"/>
              </a:ext>
            </a:extLst>
          </p:cNvPr>
          <p:cNvSpPr txBox="1"/>
          <p:nvPr userDrawn="1"/>
        </p:nvSpPr>
        <p:spPr>
          <a:xfrm>
            <a:off x="8229264" y="2982402"/>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9" name="Text Placeholder 8">
            <a:extLst>
              <a:ext uri="{FF2B5EF4-FFF2-40B4-BE49-F238E27FC236}">
                <a16:creationId xmlns:a16="http://schemas.microsoft.com/office/drawing/2014/main" id="{173ACBEE-F2CF-9F04-221F-55220E28F08D}"/>
              </a:ext>
            </a:extLst>
          </p:cNvPr>
          <p:cNvSpPr>
            <a:spLocks noGrp="1"/>
          </p:cNvSpPr>
          <p:nvPr>
            <p:ph type="body" sz="quarter" idx="10"/>
          </p:nvPr>
        </p:nvSpPr>
        <p:spPr>
          <a:xfrm>
            <a:off x="576842" y="1247000"/>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0" name="Text Placeholder 8">
            <a:extLst>
              <a:ext uri="{FF2B5EF4-FFF2-40B4-BE49-F238E27FC236}">
                <a16:creationId xmlns:a16="http://schemas.microsoft.com/office/drawing/2014/main" id="{C16A02EF-3A0A-9F69-ED41-5964EB2FB726}"/>
              </a:ext>
            </a:extLst>
          </p:cNvPr>
          <p:cNvSpPr>
            <a:spLocks noGrp="1"/>
          </p:cNvSpPr>
          <p:nvPr>
            <p:ph type="body" sz="quarter" idx="11"/>
          </p:nvPr>
        </p:nvSpPr>
        <p:spPr>
          <a:xfrm>
            <a:off x="576842" y="3208607"/>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1" name="Text Placeholder 8">
            <a:extLst>
              <a:ext uri="{FF2B5EF4-FFF2-40B4-BE49-F238E27FC236}">
                <a16:creationId xmlns:a16="http://schemas.microsoft.com/office/drawing/2014/main" id="{3279AE7B-09C6-FA87-CD67-8A56043506EF}"/>
              </a:ext>
            </a:extLst>
          </p:cNvPr>
          <p:cNvSpPr>
            <a:spLocks noGrp="1"/>
          </p:cNvSpPr>
          <p:nvPr>
            <p:ph type="body" sz="quarter" idx="12"/>
          </p:nvPr>
        </p:nvSpPr>
        <p:spPr>
          <a:xfrm>
            <a:off x="576842" y="5100579"/>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2" name="Text Placeholder 8">
            <a:extLst>
              <a:ext uri="{FF2B5EF4-FFF2-40B4-BE49-F238E27FC236}">
                <a16:creationId xmlns:a16="http://schemas.microsoft.com/office/drawing/2014/main" id="{91EFA2E5-2EED-FC30-19ED-119A4FA44F35}"/>
              </a:ext>
            </a:extLst>
          </p:cNvPr>
          <p:cNvSpPr>
            <a:spLocks noGrp="1"/>
          </p:cNvSpPr>
          <p:nvPr>
            <p:ph type="body" sz="quarter" idx="13"/>
          </p:nvPr>
        </p:nvSpPr>
        <p:spPr>
          <a:xfrm>
            <a:off x="8358148" y="5100579"/>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3" name="Text Placeholder 8">
            <a:extLst>
              <a:ext uri="{FF2B5EF4-FFF2-40B4-BE49-F238E27FC236}">
                <a16:creationId xmlns:a16="http://schemas.microsoft.com/office/drawing/2014/main" id="{9B35D539-7AB8-8443-6FCD-CB867FE8F6D5}"/>
              </a:ext>
            </a:extLst>
          </p:cNvPr>
          <p:cNvSpPr>
            <a:spLocks noGrp="1"/>
          </p:cNvSpPr>
          <p:nvPr>
            <p:ph type="body" sz="quarter" idx="14"/>
          </p:nvPr>
        </p:nvSpPr>
        <p:spPr>
          <a:xfrm>
            <a:off x="8358148" y="3090275"/>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4" name="Text Placeholder 8">
            <a:extLst>
              <a:ext uri="{FF2B5EF4-FFF2-40B4-BE49-F238E27FC236}">
                <a16:creationId xmlns:a16="http://schemas.microsoft.com/office/drawing/2014/main" id="{BE808182-B9EA-8FEC-B991-239B2BC4B72F}"/>
              </a:ext>
            </a:extLst>
          </p:cNvPr>
          <p:cNvSpPr>
            <a:spLocks noGrp="1"/>
          </p:cNvSpPr>
          <p:nvPr>
            <p:ph type="body" sz="quarter" idx="15"/>
          </p:nvPr>
        </p:nvSpPr>
        <p:spPr>
          <a:xfrm>
            <a:off x="8358148" y="1247000"/>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5" name="Picture Placeholder 14">
            <a:extLst>
              <a:ext uri="{FF2B5EF4-FFF2-40B4-BE49-F238E27FC236}">
                <a16:creationId xmlns:a16="http://schemas.microsoft.com/office/drawing/2014/main" id="{1151F41C-DF8D-8A26-5C35-EDCAA413E2E3}"/>
              </a:ext>
            </a:extLst>
          </p:cNvPr>
          <p:cNvSpPr>
            <a:spLocks noGrp="1"/>
          </p:cNvSpPr>
          <p:nvPr>
            <p:ph type="pic" sz="quarter" idx="16"/>
          </p:nvPr>
        </p:nvSpPr>
        <p:spPr>
          <a:xfrm>
            <a:off x="4586288" y="2252663"/>
            <a:ext cx="3138487" cy="2470150"/>
          </a:xfrm>
        </p:spPr>
        <p:txBody>
          <a:bodyPr/>
          <a:lstStyle/>
          <a:p>
            <a:endParaRPr lang="en-GB"/>
          </a:p>
        </p:txBody>
      </p:sp>
    </p:spTree>
    <p:extLst>
      <p:ext uri="{BB962C8B-B14F-4D97-AF65-F5344CB8AC3E}">
        <p14:creationId xmlns:p14="http://schemas.microsoft.com/office/powerpoint/2010/main" val="1010910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nding_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27CB1D8-835C-AF66-B603-006B6ECA9B61}"/>
              </a:ext>
            </a:extLst>
          </p:cNvPr>
          <p:cNvSpPr/>
          <p:nvPr userDrawn="1"/>
        </p:nvSpPr>
        <p:spPr>
          <a:xfrm>
            <a:off x="-359763" y="-191125"/>
            <a:ext cx="13211331" cy="7240249"/>
          </a:xfrm>
          <a:prstGeom prst="rect">
            <a:avLst/>
          </a:prstGeom>
          <a:solidFill>
            <a:srgbClr val="0033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8" name="TextBox 7">
            <a:extLst>
              <a:ext uri="{FF2B5EF4-FFF2-40B4-BE49-F238E27FC236}">
                <a16:creationId xmlns:a16="http://schemas.microsoft.com/office/drawing/2014/main" id="{6CA54CD8-076B-81E2-4178-71ACCDFD8043}"/>
              </a:ext>
            </a:extLst>
          </p:cNvPr>
          <p:cNvSpPr txBox="1"/>
          <p:nvPr userDrawn="1"/>
        </p:nvSpPr>
        <p:spPr>
          <a:xfrm>
            <a:off x="1" y="2540294"/>
            <a:ext cx="12192000" cy="1346522"/>
          </a:xfrm>
          <a:prstGeom prst="rect">
            <a:avLst/>
          </a:prstGeom>
          <a:noFill/>
        </p:spPr>
        <p:txBody>
          <a:bodyPr wrap="square">
            <a:spAutoFit/>
          </a:bodyPr>
          <a:lstStyle/>
          <a:p>
            <a:pPr algn="just"/>
            <a:r>
              <a:rPr lang="en-IN" sz="2000" dirty="0">
                <a:solidFill>
                  <a:schemeClr val="bg1"/>
                </a:solidFill>
                <a:latin typeface="Arial" panose="020B0604020202020204" pitchFamily="34" charset="0"/>
                <a:cs typeface="Arial" panose="020B0604020202020204" pitchFamily="34" charset="0"/>
              </a:rPr>
              <a:t>Important Notice &amp; </a:t>
            </a:r>
            <a:r>
              <a:rPr lang="en-US" sz="2000" dirty="0">
                <a:solidFill>
                  <a:schemeClr val="bg1"/>
                </a:solidFill>
                <a:latin typeface="Arial" panose="020B0604020202020204" pitchFamily="34" charset="0"/>
                <a:cs typeface="Arial" panose="020B0604020202020204" pitchFamily="34" charset="0"/>
              </a:rPr>
              <a:t>Disclaimer</a:t>
            </a:r>
          </a:p>
          <a:p>
            <a:pPr algn="just"/>
            <a:endParaRPr lang="en-US" sz="1350" b="0" dirty="0">
              <a:solidFill>
                <a:schemeClr val="bg1"/>
              </a:solidFill>
              <a:latin typeface="Arial" panose="020B0604020202020204" pitchFamily="34" charset="0"/>
              <a:cs typeface="Arial" panose="020B0604020202020204" pitchFamily="34" charset="0"/>
            </a:endParaRPr>
          </a:p>
          <a:p>
            <a:pPr algn="just"/>
            <a:r>
              <a:rPr lang="en-IN" sz="1200" b="1" dirty="0">
                <a:solidFill>
                  <a:schemeClr val="bg1"/>
                </a:solidFill>
                <a:latin typeface="Arial" panose="020B0604020202020204" pitchFamily="34" charset="0"/>
                <a:cs typeface="Arial" panose="020B0604020202020204" pitchFamily="34" charset="0"/>
              </a:rPr>
              <a:t>Strictly Private &amp; Confidential.</a:t>
            </a:r>
            <a:r>
              <a:rPr lang="en-IN" sz="1200" dirty="0">
                <a:solidFill>
                  <a:schemeClr val="bg1"/>
                </a:solidFill>
                <a:latin typeface="Arial" panose="020B0604020202020204" pitchFamily="34" charset="0"/>
                <a:cs typeface="Arial" panose="020B0604020202020204" pitchFamily="34" charset="0"/>
              </a:rPr>
              <a:t> This presentation is prepared by </a:t>
            </a:r>
            <a:r>
              <a:rPr lang="en-IN" sz="1200" b="1" dirty="0">
                <a:solidFill>
                  <a:schemeClr val="bg1"/>
                </a:solidFill>
                <a:latin typeface="Arial" panose="020B0604020202020204" pitchFamily="34" charset="0"/>
                <a:cs typeface="Arial" panose="020B0604020202020204" pitchFamily="34" charset="0"/>
              </a:rPr>
              <a:t>Kelp Global</a:t>
            </a:r>
            <a:r>
              <a:rPr lang="en-IN" sz="1200" dirty="0">
                <a:solidFill>
                  <a:schemeClr val="bg1"/>
                </a:solidFill>
                <a:latin typeface="Arial" panose="020B0604020202020204" pitchFamily="34" charset="0"/>
                <a:cs typeface="Arial" panose="020B0604020202020204" pitchFamily="34" charset="0"/>
              </a:rPr>
              <a:t> exclusively for the intended recipient and may not be reproduced or distributed without prior written consent. This document is for informational purposes only and does not constitute an offer to sell or a solicitation of an offer to buy any securities. While all information is obtained from sources believed to be reliable, Kelp Global makes no representation or warranty regarding its accuracy or completeness and accepts no liability for any loss arising from its use. This presentation contains forward-looking statements and financial projections (e.g., FY26–FY28E) based on current assumptions; actual results may vary materially.</a:t>
            </a:r>
            <a:endParaRPr lang="en-US" sz="1200" b="0" dirty="0">
              <a:solidFill>
                <a:schemeClr val="bg1"/>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9528C02C-2DF5-5316-A9C5-9681A979014E}"/>
              </a:ext>
            </a:extLst>
          </p:cNvPr>
          <p:cNvSpPr txBox="1"/>
          <p:nvPr userDrawn="1"/>
        </p:nvSpPr>
        <p:spPr>
          <a:xfrm>
            <a:off x="4459726" y="6762462"/>
            <a:ext cx="3511457" cy="230832"/>
          </a:xfrm>
          <a:prstGeom prst="rect">
            <a:avLst/>
          </a:prstGeom>
          <a:noFill/>
        </p:spPr>
        <p:txBody>
          <a:bodyPr wrap="square">
            <a:spAutoFit/>
          </a:bodyPr>
          <a:lstStyle/>
          <a:p>
            <a:r>
              <a:rPr lang="en-IN" sz="900" b="0" dirty="0">
                <a:solidFill>
                  <a:schemeClr val="bg1"/>
                </a:solidFill>
                <a:latin typeface="Arial"/>
              </a:rPr>
              <a:t>Strictly Private &amp; Confidential – Prepared by Kelp M&amp;A Team</a:t>
            </a:r>
            <a:endParaRPr lang="en-US" sz="900" dirty="0">
              <a:solidFill>
                <a:schemeClr val="bg1"/>
              </a:solidFill>
            </a:endParaRPr>
          </a:p>
        </p:txBody>
      </p:sp>
      <p:pic>
        <p:nvPicPr>
          <p:cNvPr id="10" name="Picture 9" descr="A white letter on a black background&#10;&#10;AI-generated content may be incorrect.">
            <a:extLst>
              <a:ext uri="{FF2B5EF4-FFF2-40B4-BE49-F238E27FC236}">
                <a16:creationId xmlns:a16="http://schemas.microsoft.com/office/drawing/2014/main" id="{90BC9A44-27D7-8D38-8B51-54EB762103C4}"/>
              </a:ext>
            </a:extLst>
          </p:cNvPr>
          <p:cNvPicPr>
            <a:picLocks noChangeAspect="1"/>
          </p:cNvPicPr>
          <p:nvPr userDrawn="1"/>
        </p:nvPicPr>
        <p:blipFill>
          <a:blip r:embed="rId2"/>
          <a:stretch>
            <a:fillRect/>
          </a:stretch>
        </p:blipFill>
        <p:spPr>
          <a:xfrm>
            <a:off x="196057" y="811231"/>
            <a:ext cx="1911873" cy="726707"/>
          </a:xfrm>
          <a:prstGeom prst="rect">
            <a:avLst/>
          </a:prstGeom>
        </p:spPr>
      </p:pic>
    </p:spTree>
    <p:extLst>
      <p:ext uri="{BB962C8B-B14F-4D97-AF65-F5344CB8AC3E}">
        <p14:creationId xmlns:p14="http://schemas.microsoft.com/office/powerpoint/2010/main" val="184380765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4634" y="484094"/>
            <a:ext cx="10075084" cy="1116106"/>
          </a:xfrm>
          <a:prstGeom prst="rect">
            <a:avLst/>
          </a:prstGeom>
        </p:spPr>
        <p:txBody>
          <a:bodyPr vert="horz" lIns="91440" tIns="45720" rIns="91440" bIns="45720" rtlCol="0" anchor="t" anchorCtr="0">
            <a:noAutofit/>
          </a:bodyPr>
          <a:lstStyle/>
          <a:p>
            <a:r>
              <a:rPr lang="en-GB"/>
              <a:t>Click to edit Master title style</a:t>
            </a:r>
            <a:endParaRPr/>
          </a:p>
        </p:txBody>
      </p:sp>
      <p:sp>
        <p:nvSpPr>
          <p:cNvPr id="3" name="Text Placeholder 2"/>
          <p:cNvSpPr>
            <a:spLocks noGrp="1"/>
          </p:cNvSpPr>
          <p:nvPr>
            <p:ph type="body" idx="1"/>
          </p:nvPr>
        </p:nvSpPr>
        <p:spPr>
          <a:xfrm>
            <a:off x="664634" y="1981203"/>
            <a:ext cx="10075084" cy="41449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2"/>
          </p:nvPr>
        </p:nvSpPr>
        <p:spPr>
          <a:xfrm>
            <a:off x="9060329" y="6423588"/>
            <a:ext cx="2844800" cy="365125"/>
          </a:xfrm>
          <a:prstGeom prst="rect">
            <a:avLst/>
          </a:prstGeom>
        </p:spPr>
        <p:txBody>
          <a:bodyPr vert="horz" lIns="91440" tIns="45720" rIns="91440" bIns="45720" rtlCol="0" anchor="ctr"/>
          <a:lstStyle>
            <a:lvl1pPr algn="r">
              <a:defRPr sz="825">
                <a:solidFill>
                  <a:schemeClr val="tx1">
                    <a:lumMod val="65000"/>
                    <a:lumOff val="35000"/>
                  </a:schemeClr>
                </a:solidFill>
              </a:defRPr>
            </a:lvl1pPr>
          </a:lstStyle>
          <a:p>
            <a:fld id="{E3AE72C7-7358-2242-B91F-8F564DC30B2C}" type="datetimeFigureOut">
              <a:rPr lang="en-US" smtClean="0"/>
              <a:t>2/7/26</a:t>
            </a:fld>
            <a:endParaRPr lang="en-US"/>
          </a:p>
        </p:txBody>
      </p:sp>
      <p:sp>
        <p:nvSpPr>
          <p:cNvPr id="5" name="Footer Placeholder 4"/>
          <p:cNvSpPr>
            <a:spLocks noGrp="1"/>
          </p:cNvSpPr>
          <p:nvPr>
            <p:ph type="ftr" sz="quarter" idx="3"/>
          </p:nvPr>
        </p:nvSpPr>
        <p:spPr>
          <a:xfrm>
            <a:off x="268941" y="6423588"/>
            <a:ext cx="8163859" cy="365125"/>
          </a:xfrm>
          <a:prstGeom prst="rect">
            <a:avLst/>
          </a:prstGeom>
        </p:spPr>
        <p:txBody>
          <a:bodyPr vert="horz" lIns="91440" tIns="45720" rIns="91440" bIns="45720" rtlCol="0" anchor="ctr"/>
          <a:lstStyle>
            <a:lvl1pPr algn="l">
              <a:defRPr sz="825">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11074400" y="242236"/>
            <a:ext cx="738717" cy="365125"/>
          </a:xfrm>
          <a:prstGeom prst="rect">
            <a:avLst/>
          </a:prstGeom>
        </p:spPr>
        <p:txBody>
          <a:bodyPr vert="horz" lIns="91440" tIns="45720" rIns="91440" bIns="45720" rtlCol="0" anchor="ctr"/>
          <a:lstStyle>
            <a:lvl1pPr algn="r">
              <a:defRPr sz="1050">
                <a:solidFill>
                  <a:schemeClr val="bg1"/>
                </a:solidFill>
              </a:defRPr>
            </a:lvl1pPr>
          </a:lstStyle>
          <a:p>
            <a:fld id="{98DF15E9-887E-AA4B-A287-7DA0FC14E13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3" r:id="rId2"/>
    <p:sldLayoutId id="2147483664" r:id="rId3"/>
    <p:sldLayoutId id="2147483665" r:id="rId4"/>
    <p:sldLayoutId id="2147483662" r:id="rId5"/>
  </p:sldLayoutIdLst>
  <p:txStyles>
    <p:titleStyle>
      <a:lvl1pPr algn="l" defTabSz="685800" rtl="0" eaLnBrk="1" latinLnBrk="0" hangingPunct="1">
        <a:spcBef>
          <a:spcPct val="0"/>
        </a:spcBef>
        <a:buNone/>
        <a:defRPr sz="2700" b="0" kern="1200">
          <a:solidFill>
            <a:schemeClr val="accent1"/>
          </a:solidFill>
          <a:latin typeface="+mj-lt"/>
          <a:ea typeface="+mj-ea"/>
          <a:cs typeface="+mj-cs"/>
        </a:defRPr>
      </a:lvl1pPr>
    </p:titleStyle>
    <p:bodyStyle>
      <a:lvl1pPr marL="171450" indent="-171450" algn="l" defTabSz="685800" rtl="0" eaLnBrk="1" latinLnBrk="0" hangingPunct="1">
        <a:spcBef>
          <a:spcPts val="1500"/>
        </a:spcBef>
        <a:buClr>
          <a:schemeClr val="accent1"/>
        </a:buClr>
        <a:buSzPct val="75000"/>
        <a:buFont typeface="Wingdings" pitchFamily="2" charset="2"/>
        <a:buChar char="n"/>
        <a:defRPr sz="1500" kern="1200">
          <a:solidFill>
            <a:schemeClr val="tx1">
              <a:lumMod val="65000"/>
              <a:lumOff val="35000"/>
            </a:schemeClr>
          </a:solidFill>
          <a:latin typeface="+mn-lt"/>
          <a:ea typeface="+mn-ea"/>
          <a:cs typeface="+mn-cs"/>
        </a:defRPr>
      </a:lvl1pPr>
      <a:lvl2pPr marL="342900" indent="-171450" algn="l" defTabSz="685800" rtl="0" eaLnBrk="1" latinLnBrk="0" hangingPunct="1">
        <a:spcBef>
          <a:spcPts val="450"/>
        </a:spcBef>
        <a:buClr>
          <a:schemeClr val="accent1">
            <a:lumMod val="60000"/>
            <a:lumOff val="40000"/>
          </a:schemeClr>
        </a:buClr>
        <a:buSzPct val="75000"/>
        <a:buFont typeface="Wingdings" pitchFamily="2" charset="2"/>
        <a:buChar char="n"/>
        <a:defRPr sz="1350" kern="1200">
          <a:solidFill>
            <a:schemeClr val="tx1">
              <a:lumMod val="65000"/>
              <a:lumOff val="35000"/>
            </a:schemeClr>
          </a:solidFill>
          <a:latin typeface="+mn-lt"/>
          <a:ea typeface="+mn-ea"/>
          <a:cs typeface="+mn-cs"/>
        </a:defRPr>
      </a:lvl2pPr>
      <a:lvl3pPr marL="514350" indent="-171450" algn="l" defTabSz="685800" rtl="0" eaLnBrk="1" latinLnBrk="0" hangingPunct="1">
        <a:spcBef>
          <a:spcPts val="450"/>
        </a:spcBef>
        <a:buClr>
          <a:schemeClr val="accent1"/>
        </a:buClr>
        <a:buSzPct val="75000"/>
        <a:buFont typeface="Wingdings" pitchFamily="2" charset="2"/>
        <a:buChar char="n"/>
        <a:defRPr sz="1350" kern="1200">
          <a:solidFill>
            <a:schemeClr val="tx1">
              <a:lumMod val="65000"/>
              <a:lumOff val="35000"/>
            </a:schemeClr>
          </a:solidFill>
          <a:latin typeface="+mn-lt"/>
          <a:ea typeface="+mn-ea"/>
          <a:cs typeface="+mn-cs"/>
        </a:defRPr>
      </a:lvl3pPr>
      <a:lvl4pPr marL="685800" indent="-171450" algn="l" defTabSz="685800" rtl="0" eaLnBrk="1" latinLnBrk="0" hangingPunct="1">
        <a:spcBef>
          <a:spcPts val="450"/>
        </a:spcBef>
        <a:buClr>
          <a:schemeClr val="accent1">
            <a:lumMod val="60000"/>
            <a:lumOff val="40000"/>
          </a:schemeClr>
        </a:buClr>
        <a:buSzPct val="75000"/>
        <a:buFont typeface="Wingdings" pitchFamily="2" charset="2"/>
        <a:buChar char="n"/>
        <a:defRPr sz="1350" kern="1200">
          <a:solidFill>
            <a:schemeClr val="tx1">
              <a:lumMod val="65000"/>
              <a:lumOff val="35000"/>
            </a:schemeClr>
          </a:solidFill>
          <a:latin typeface="+mn-lt"/>
          <a:ea typeface="+mn-ea"/>
          <a:cs typeface="+mn-cs"/>
        </a:defRPr>
      </a:lvl4pPr>
      <a:lvl5pPr marL="857250" indent="-171450" algn="l" defTabSz="685800" rtl="0" eaLnBrk="1" latinLnBrk="0" hangingPunct="1">
        <a:spcBef>
          <a:spcPts val="450"/>
        </a:spcBef>
        <a:buClr>
          <a:schemeClr val="accent1"/>
        </a:buClr>
        <a:buSzPct val="75000"/>
        <a:buFont typeface="Wingdings" pitchFamily="2" charset="2"/>
        <a:buChar char="n"/>
        <a:defRPr sz="1350" kern="1200">
          <a:solidFill>
            <a:schemeClr val="tx1">
              <a:lumMod val="65000"/>
              <a:lumOff val="35000"/>
            </a:schemeClr>
          </a:solidFill>
          <a:latin typeface="+mn-lt"/>
          <a:ea typeface="+mn-ea"/>
          <a:cs typeface="+mn-cs"/>
        </a:defRPr>
      </a:lvl5pPr>
      <a:lvl6pPr marL="1033463" indent="-171450" algn="l" defTabSz="685800" rtl="0" eaLnBrk="1" latinLnBrk="0" hangingPunct="1">
        <a:spcBef>
          <a:spcPct val="20000"/>
        </a:spcBef>
        <a:buClr>
          <a:schemeClr val="accent1">
            <a:lumMod val="60000"/>
            <a:lumOff val="40000"/>
          </a:schemeClr>
        </a:buClr>
        <a:buSzPct val="75000"/>
        <a:buFont typeface="Wingdings" pitchFamily="2" charset="2"/>
        <a:buChar char=""/>
        <a:defRPr lang="en-US" sz="1350" kern="1200" dirty="0" smtClean="0">
          <a:solidFill>
            <a:schemeClr val="tx1">
              <a:lumMod val="65000"/>
              <a:lumOff val="35000"/>
            </a:schemeClr>
          </a:solidFill>
          <a:latin typeface="+mn-lt"/>
          <a:ea typeface="+mn-ea"/>
          <a:cs typeface="+mn-cs"/>
        </a:defRPr>
      </a:lvl6pPr>
      <a:lvl7pPr marL="1202531" indent="-171450" algn="l" defTabSz="685800" rtl="0" eaLnBrk="1" latinLnBrk="0" hangingPunct="1">
        <a:spcBef>
          <a:spcPct val="20000"/>
        </a:spcBef>
        <a:buClr>
          <a:schemeClr val="accent1"/>
        </a:buClr>
        <a:buSzPct val="75000"/>
        <a:buFont typeface="Wingdings" pitchFamily="2" charset="2"/>
        <a:buChar char=""/>
        <a:defRPr lang="en-US" sz="1350" kern="1200" baseline="0" dirty="0" smtClean="0">
          <a:solidFill>
            <a:schemeClr val="tx1">
              <a:lumMod val="65000"/>
              <a:lumOff val="35000"/>
            </a:schemeClr>
          </a:solidFill>
          <a:latin typeface="+mn-lt"/>
          <a:ea typeface="+mn-ea"/>
          <a:cs typeface="+mn-cs"/>
        </a:defRPr>
      </a:lvl7pPr>
      <a:lvl8pPr marL="1372791" indent="-171450" algn="l" defTabSz="685800" rtl="0" eaLnBrk="1" latinLnBrk="0" hangingPunct="1">
        <a:spcBef>
          <a:spcPct val="20000"/>
        </a:spcBef>
        <a:buClr>
          <a:schemeClr val="accent1">
            <a:lumMod val="60000"/>
            <a:lumOff val="40000"/>
          </a:schemeClr>
        </a:buClr>
        <a:buSzPct val="75000"/>
        <a:buFont typeface="Wingdings" pitchFamily="2" charset="2"/>
        <a:buChar char=""/>
        <a:defRPr lang="en-US" sz="1350" kern="1200" baseline="0" dirty="0" smtClean="0">
          <a:solidFill>
            <a:schemeClr val="tx1">
              <a:lumMod val="65000"/>
              <a:lumOff val="35000"/>
            </a:schemeClr>
          </a:solidFill>
          <a:latin typeface="+mn-lt"/>
          <a:ea typeface="+mn-ea"/>
          <a:cs typeface="+mn-cs"/>
        </a:defRPr>
      </a:lvl8pPr>
      <a:lvl9pPr marL="1543050" indent="-171450" algn="l" defTabSz="685800" rtl="0" eaLnBrk="1" latinLnBrk="0" hangingPunct="1">
        <a:spcBef>
          <a:spcPct val="20000"/>
        </a:spcBef>
        <a:buClr>
          <a:schemeClr val="accent1"/>
        </a:buClr>
        <a:buSzPct val="75000"/>
        <a:buFont typeface="Wingdings" pitchFamily="2" charset="2"/>
        <a:buChar char=""/>
        <a:defRPr lang="en-US" sz="1350" kern="1200" baseline="0" dirty="0">
          <a:solidFill>
            <a:schemeClr val="tx1">
              <a:lumMod val="65000"/>
              <a:lumOff val="35000"/>
            </a:schemeClr>
          </a:solidFill>
          <a:latin typeface="+mn-lt"/>
          <a:ea typeface="+mn-ea"/>
          <a:cs typeface="+mn-cs"/>
        </a:defRPr>
      </a:lvl9pPr>
    </p:bodyStyle>
    <p:otherStyle>
      <a:defPPr>
        <a:defRP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0.jpg"/><Relationship Id="rId4" Type="http://schemas.openxmlformats.org/officeDocument/2006/relationships/image" Target="../media/image11.jp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image" Target="../media/image15.png"/><Relationship Id="rId5"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0"/>
              <a:t>The Company leverages a </a:t>
            </a:r>
            <a:r>
              <a:rPr b="1"/>
              <a:t>sophisticated tech stack</a:t>
            </a:r>
            <a:r>
              <a:rPr b="0"/>
              <a:t> focusing on Python, JavaScript, and SQL to deliver mission-critical software solutions.</a:t>
            </a:r>
          </a:p>
          <a:p>
            <a:r>
              <a:rPr b="0"/>
              <a:t>Engagement models are built on </a:t>
            </a:r>
            <a:r>
              <a:rPr b="1"/>
              <a:t>Proprietary IP</a:t>
            </a:r>
            <a:r>
              <a:rPr b="0"/>
              <a:t>, including a dedicated product store that hosts market-leading ERP tools.</a:t>
            </a:r>
          </a:p>
          <a:p>
            <a:r>
              <a:rPr b="0"/>
              <a:t>Strategic focus on </a:t>
            </a:r>
            <a:r>
              <a:rPr b="1"/>
              <a:t>Complex Chemistry</a:t>
            </a:r>
            <a:r>
              <a:rPr b="0"/>
              <a:t> of software, bridging the gap between legacy IT systems and modern Microservices-based architectures.</a:t>
            </a:r>
          </a:p>
          <a:p>
            <a:r>
              <a:rPr b="0"/>
              <a:t>Delivery infrastructure includes state-of-the-art </a:t>
            </a:r>
            <a:r>
              <a:rPr b="1"/>
              <a:t>AI Centers of Excellence (CoE)</a:t>
            </a:r>
            <a:r>
              <a:rPr b="0"/>
              <a:t> to stay ahead of market technology curves.</a:t>
            </a:r>
          </a:p>
          <a:p>
            <a:r>
              <a:rPr b="0"/>
              <a:t>Global footprint spans </a:t>
            </a:r>
            <a:r>
              <a:rPr b="1"/>
              <a:t>five delivery centers</a:t>
            </a:r>
            <a:r>
              <a:rPr b="0"/>
              <a:t> across India and the USA, ensuring 24/7 support and operational redundancy.</a:t>
            </a:r>
          </a:p>
        </p:txBody>
      </p:sp>
      <p:sp>
        <p:nvSpPr>
          <p:cNvPr id="3" name="Text Placeholder 2"/>
          <p:cNvSpPr>
            <a:spLocks noGrp="1"/>
          </p:cNvSpPr>
          <p:nvPr>
            <p:ph type="body" idx="11" sz="quarter"/>
          </p:nvPr>
        </p:nvSpPr>
        <p:spPr/>
        <p:txBody>
          <a:bodyPr/>
          <a:lstStyle/>
          <a:p>
            <a:r>
              <a:rPr b="1"/>
              <a:t>AI/ML &amp; Big Data:</a:t>
            </a:r>
            <a:r>
              <a:rPr b="0"/>
              <a:t> Advanced automation, goal-driven intelligence, and complex data orchestration services using Apache NiFi.</a:t>
            </a:r>
          </a:p>
          <a:p>
            <a:r>
              <a:rPr b="1"/>
              <a:t>Salesforce &amp; Odoo:</a:t>
            </a:r>
            <a:r>
              <a:rPr b="0"/>
              <a:t> End-to-end implementation and customization as a </a:t>
            </a:r>
            <a:r>
              <a:rPr b="1"/>
              <a:t>Salesforce Summit (Platinum) Partner</a:t>
            </a:r>
            <a:r>
              <a:rPr b="0"/>
              <a:t> and Odoo Gold Partner.</a:t>
            </a:r>
          </a:p>
          <a:p>
            <a:r>
              <a:rPr b="1"/>
              <a:t>Proprietary Products:</a:t>
            </a:r>
            <a:r>
              <a:rPr b="0"/>
              <a:t> High-demand solutions including 'Key Management,' the </a:t>
            </a:r>
            <a:r>
              <a:rPr b="1"/>
              <a:t>#1 ranked app</a:t>
            </a:r>
            <a:r>
              <a:rPr b="0"/>
              <a:t> on the Odoo App Store since 2019.</a:t>
            </a:r>
          </a:p>
        </p:txBody>
      </p:sp>
      <p:pic>
        <p:nvPicPr>
          <p:cNvPr id="4" name="Picture Placeholder 3" descr="Salesforce Certified Administrator.png"/>
          <p:cNvPicPr>
            <a:picLocks noGrp="1" noChangeAspect="1"/>
          </p:cNvPicPr>
          <p:nvPr>
            <p:ph type="pic" idx="12" sz="quarter"/>
          </p:nvPr>
        </p:nvPicPr>
        <p:blipFill>
          <a:blip r:embed="rId2"/>
          <a:srcRect t="3492" b="3492"/>
          <a:stretch>
            <a:fillRect/>
          </a:stretch>
        </p:blipFill>
        <p:spPr/>
      </p:pic>
      <p:pic>
        <p:nvPicPr>
          <p:cNvPr id="5" name="Picture Placeholder 4" descr="Salesforce Certified Financial Services Cloud Accredited Professional.jpeg"/>
          <p:cNvPicPr>
            <a:picLocks noGrp="1" noChangeAspect="1"/>
          </p:cNvPicPr>
          <p:nvPr>
            <p:ph type="pic" idx="13" sz="quarter"/>
          </p:nvPr>
        </p:nvPicPr>
        <p:blipFill>
          <a:blip r:embed="rId3"/>
          <a:srcRect l="18681" r="18681"/>
          <a:stretch>
            <a:fillRect/>
          </a:stretch>
        </p:blipFill>
        <p:spPr/>
      </p:pic>
      <p:pic>
        <p:nvPicPr>
          <p:cNvPr id="6" name="Picture Placeholder 5" descr="IDMA Quality Excellence Certified.jpeg"/>
          <p:cNvPicPr>
            <a:picLocks noGrp="1" noChangeAspect="1"/>
          </p:cNvPicPr>
          <p:nvPr>
            <p:ph type="pic" idx="14" sz="quarter"/>
          </p:nvPr>
        </p:nvPicPr>
        <p:blipFill>
          <a:blip r:embed="rId4"/>
          <a:srcRect t="9283" b="9283"/>
          <a:stretch>
            <a:fillRect/>
          </a:stretch>
        </p:blipFill>
        <p:spPr/>
      </p:pic>
      <p:sp>
        <p:nvSpPr>
          <p:cNvPr id="7" name="Text Placeholder 6"/>
          <p:cNvSpPr>
            <a:spLocks noGrp="1"/>
          </p:cNvSpPr>
          <p:nvPr>
            <p:ph type="body" idx="15" sz="quarter"/>
          </p:nvPr>
        </p:nvSpPr>
        <p:spPr/>
        <p:txBody>
          <a:bodyPr/>
          <a:lstStyle/>
          <a:p>
            <a:r>
              <a:rPr b="0"/>
              <a:t>The Company is a leading </a:t>
            </a:r>
            <a:r>
              <a:rPr b="1"/>
              <a:t>publicly listed software development powerhouse</a:t>
            </a:r>
            <a:r>
              <a:rPr b="0"/>
              <a:t> specializing in AI, Big Data, and enterprise cloud solutions.</a:t>
            </a:r>
          </a:p>
          <a:p>
            <a:r>
              <a:rPr b="0"/>
              <a:t>Operates with a global delivery model across India and the USA, managing a workforce of </a:t>
            </a:r>
            <a:r>
              <a:rPr b="1"/>
              <a:t>831 professionals</a:t>
            </a:r>
            <a:r>
              <a:rPr b="0"/>
              <a:t> serving a diverse B2B market.</a:t>
            </a:r>
          </a:p>
        </p:txBody>
      </p:sp>
      <p:pic>
        <p:nvPicPr>
          <p:cNvPr id="8" name="Picture Placeholder 7" descr="Global_Internet.png"/>
          <p:cNvPicPr>
            <a:picLocks noGrp="1" noChangeAspect="1"/>
          </p:cNvPicPr>
          <p:nvPr>
            <p:ph type="pic" idx="16" sz="quarter"/>
          </p:nvPr>
        </p:nvPicPr>
        <p:blipFill>
          <a:blip r:embed="rId5"/>
          <a:srcRect l="2038" r="2038"/>
          <a:stretch>
            <a:fillRect/>
          </a:stretch>
        </p:blipFill>
        <p:spPr/>
      </p:pic>
      <p:pic>
        <p:nvPicPr>
          <p:cNvPr id="9" name="Picture Placeholder 8" descr="Graph_Growth.png"/>
          <p:cNvPicPr>
            <a:picLocks noGrp="1" noChangeAspect="1"/>
          </p:cNvPicPr>
          <p:nvPr>
            <p:ph type="pic" idx="17" sz="quarter"/>
          </p:nvPr>
        </p:nvPicPr>
        <p:blipFill>
          <a:blip r:embed="rId6"/>
          <a:srcRect l="2038" r="2038"/>
          <a:stretch>
            <a:fillRect/>
          </a:stretch>
        </p:blipFill>
        <p:spPr/>
      </p:pic>
      <p:pic>
        <p:nvPicPr>
          <p:cNvPr id="10" name="Picture Placeholder 9" descr="Cyber_Security_Hacking_Safety.png"/>
          <p:cNvPicPr>
            <a:picLocks noGrp="1" noChangeAspect="1"/>
          </p:cNvPicPr>
          <p:nvPr>
            <p:ph type="pic" idx="18" sz="quarter"/>
          </p:nvPr>
        </p:nvPicPr>
        <p:blipFill>
          <a:blip r:embed="rId7"/>
          <a:srcRect l="2038" r="2038"/>
          <a:stretch>
            <a:fillRect/>
          </a:stretch>
        </p:blipFill>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2" sz="quarter"/>
          </p:nvPr>
        </p:nvSpPr>
        <p:spPr/>
        <p:txBody>
          <a:bodyPr/>
          <a:lstStyle/>
          <a:p>
            <a:r>
              <a:rPr b="0"/>
              <a:t>The Company has maintained a </a:t>
            </a:r>
            <a:r>
              <a:rPr b="1"/>
              <a:t>CAGR of ~48%</a:t>
            </a:r>
            <a:r>
              <a:rPr b="0"/>
              <a:t> over the last five years, showcasing rapid market penetration.</a:t>
            </a:r>
          </a:p>
          <a:p>
            <a:r>
              <a:rPr b="0"/>
              <a:t>Revenue growth is underpinned by the aggressive expansion of the </a:t>
            </a:r>
            <a:r>
              <a:rPr b="1"/>
              <a:t>international client base</a:t>
            </a:r>
            <a:r>
              <a:rPr b="0"/>
              <a:t> and high-value tech services.</a:t>
            </a:r>
          </a:p>
          <a:p>
            <a:r>
              <a:rPr b="0"/>
              <a:t>Shift toward </a:t>
            </a:r>
            <a:r>
              <a:rPr b="1"/>
              <a:t>high-margin technical consulting</a:t>
            </a:r>
            <a:r>
              <a:rPr b="0"/>
              <a:t> in AI and Big Data has driven total operations value to 1,374.3 units.</a:t>
            </a:r>
          </a:p>
          <a:p>
            <a:r>
              <a:rPr b="0"/>
              <a:t>Consistent YoY growth reflects the </a:t>
            </a:r>
            <a:r>
              <a:rPr b="1"/>
              <a:t>scalability of the delivery model</a:t>
            </a:r>
            <a:r>
              <a:rPr b="0"/>
              <a:t> across multiple global centers.</a:t>
            </a:r>
          </a:p>
        </p:txBody>
      </p:sp>
      <p:sp>
        <p:nvSpPr>
          <p:cNvPr id="5" name="Text Placeholder 4"/>
          <p:cNvSpPr>
            <a:spLocks noGrp="1"/>
          </p:cNvSpPr>
          <p:nvPr>
            <p:ph type="body" idx="13" sz="quarter"/>
          </p:nvPr>
        </p:nvSpPr>
        <p:spPr/>
        <p:txBody>
          <a:bodyPr/>
          <a:lstStyle/>
          <a:p>
            <a:r>
              <a:rPr b="0"/>
              <a:t>Strong </a:t>
            </a:r>
            <a:r>
              <a:rPr b="1"/>
              <a:t>promoter holding of 58.9%</a:t>
            </a:r>
            <a:r>
              <a:rPr b="0"/>
              <a:t> ensures management stability and alignment with long-term strategic goals.</a:t>
            </a:r>
          </a:p>
          <a:p>
            <a:r>
              <a:rPr b="0"/>
              <a:t>Public and non-promoter participation at </a:t>
            </a:r>
            <a:r>
              <a:rPr b="1"/>
              <a:t>41.1%</a:t>
            </a:r>
            <a:r>
              <a:rPr b="0"/>
              <a:t> provides significant market liquidity for the listed entity.</a:t>
            </a:r>
          </a:p>
          <a:p>
            <a:r>
              <a:rPr b="0"/>
              <a:t>Concentrated leadership equity reflects </a:t>
            </a:r>
            <a:r>
              <a:rPr b="1"/>
              <a:t>founder confidence</a:t>
            </a:r>
            <a:r>
              <a:rPr b="0"/>
              <a:t> in the Company's aggressive growth roadmap.</a:t>
            </a:r>
          </a:p>
          <a:p>
            <a:r>
              <a:rPr b="0"/>
              <a:t>The balanced structure supports robust </a:t>
            </a:r>
            <a:r>
              <a:rPr b="1"/>
              <a:t>corporate governance</a:t>
            </a:r>
            <a:r>
              <a:rPr b="0"/>
              <a:t> and transparency for institutional investors.</a:t>
            </a:r>
          </a:p>
        </p:txBody>
      </p:sp>
      <p:pic>
        <p:nvPicPr>
          <p:cNvPr id="6" name="Picture Placeholder 5" descr="Inventory_Storage.png"/>
          <p:cNvPicPr>
            <a:picLocks noGrp="1" noChangeAspect="1"/>
          </p:cNvPicPr>
          <p:nvPr>
            <p:ph type="pic" idx="16" sz="quarter"/>
          </p:nvPr>
        </p:nvPicPr>
        <p:blipFill>
          <a:blip r:embed="rId5"/>
          <a:srcRect l="2038" r="2038"/>
          <a:stretch>
            <a:fillRect/>
          </a:stretch>
        </p:blipFill>
        <p:spPr/>
      </p:pic>
      <p:pic>
        <p:nvPicPr>
          <p:cNvPr id="7" name="Picture Placeholder 6" descr="Ecofriendly_Plant.png"/>
          <p:cNvPicPr>
            <a:picLocks noGrp="1" noChangeAspect="1"/>
          </p:cNvPicPr>
          <p:nvPr>
            <p:ph type="pic" idx="17" sz="quarter"/>
          </p:nvPr>
        </p:nvPicPr>
        <p:blipFill>
          <a:blip r:embed="rId4"/>
          <a:srcRect l="2038" r="2038"/>
          <a:stretch>
            <a:fillRect/>
          </a:stretch>
        </p:blipFill>
        <p:spPr/>
      </p:pic>
      <p:sp>
        <p:nvSpPr>
          <p:cNvPr id="8" name="Text Placeholder 7"/>
          <p:cNvSpPr>
            <a:spLocks noGrp="1"/>
          </p:cNvSpPr>
          <p:nvPr>
            <p:ph type="body" idx="18" sz="quarter"/>
          </p:nvPr>
        </p:nvSpPr>
        <p:spPr/>
        <p:txBody>
          <a:bodyPr/>
          <a:lstStyle/>
          <a:p>
            <a:r>
              <a:rPr b="1"/>
              <a:t>REVENUE GROWTH</a:t>
            </a:r>
          </a:p>
        </p:txBody>
      </p:sp>
      <p:sp>
        <p:nvSpPr>
          <p:cNvPr id="9" name="Text Placeholder 8"/>
          <p:cNvSpPr>
            <a:spLocks noGrp="1"/>
          </p:cNvSpPr>
          <p:nvPr>
            <p:ph type="body" idx="19" sz="quarter"/>
          </p:nvPr>
        </p:nvSpPr>
        <p:spPr/>
        <p:txBody>
          <a:bodyPr/>
          <a:lstStyle/>
          <a:p>
            <a:r>
              <a:rPr b="1"/>
              <a:t>OWNERSHIP MIX</a:t>
            </a:r>
          </a:p>
        </p:txBody>
      </p:sp>
      <p:sp>
        <p:nvSpPr>
          <p:cNvPr id="10" name="Text Placeholder 9"/>
          <p:cNvSpPr>
            <a:spLocks noGrp="1"/>
          </p:cNvSpPr>
          <p:nvPr>
            <p:ph type="body" idx="20" sz="quarter"/>
          </p:nvPr>
        </p:nvSpPr>
        <p:spPr/>
        <p:txBody>
          <a:bodyPr/>
          <a:lstStyle/>
          <a:p>
            <a:r>
              <a:rPr b="0"/>
              <a:t>REVENUE &amp; PROFITABILITY ANALYSIS</a:t>
            </a:r>
          </a:p>
        </p:txBody>
      </p:sp>
      <p:graphicFrame>
        <p:nvGraphicFramePr>
          <p:cNvPr id="11" name="Chart 10"/>
          <p:cNvGraphicFramePr>
            <a:graphicFrameLocks noGrp="1"/>
          </p:cNvGraphicFramePr>
          <p:nvPr/>
        </p:nvGraphicFramePr>
        <p:xfrm>
          <a:off x="258762" y="1212058"/>
          <a:ext cx="5850553" cy="2710656"/>
        </p:xfrm>
        <a:graphic>
          <a:graphicData uri="http://schemas.openxmlformats.org/drawingml/2006/chart">
            <c:chart xmlns:c="http://schemas.openxmlformats.org/drawingml/2006/chart" r:id="rId2"/>
          </a:graphicData>
        </a:graphic>
      </p:graphicFrame>
      <p:graphicFrame>
        <p:nvGraphicFramePr>
          <p:cNvPr id="12" name="Chart 11"/>
          <p:cNvGraphicFramePr>
            <a:graphicFrameLocks noGrp="1"/>
          </p:cNvGraphicFramePr>
          <p:nvPr/>
        </p:nvGraphicFramePr>
        <p:xfrm>
          <a:off x="6293423" y="4203279"/>
          <a:ext cx="5752516" cy="2417016"/>
        </p:xfrm>
        <a:graphic>
          <a:graphicData uri="http://schemas.openxmlformats.org/drawingml/2006/chart">
            <c:chart xmlns:c="http://schemas.openxmlformats.org/drawingml/2006/chart" r:id="rId3"/>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Exceptional Scalability</a:t>
            </a:r>
            <a:r>
              <a:rPr b="0"/>
              <a:t> with revenue growing 16x from USD 1.1M to nearly USD 16M within five years of listing.</a:t>
            </a:r>
          </a:p>
        </p:txBody>
      </p:sp>
      <p:sp>
        <p:nvSpPr>
          <p:cNvPr id="3" name="Text Placeholder 2"/>
          <p:cNvSpPr>
            <a:spLocks noGrp="1"/>
          </p:cNvSpPr>
          <p:nvPr>
            <p:ph type="body" idx="11" sz="quarter"/>
          </p:nvPr>
        </p:nvSpPr>
        <p:spPr/>
        <p:txBody>
          <a:bodyPr/>
          <a:lstStyle/>
          <a:p>
            <a:r>
              <a:rPr b="1"/>
              <a:t>Sticky Client Relationships</a:t>
            </a:r>
            <a:r>
              <a:rPr b="0"/>
              <a:t> evidenced by a robust </a:t>
            </a:r>
            <a:r>
              <a:rPr b="1"/>
              <a:t>84% client retention rate</a:t>
            </a:r>
            <a:r>
              <a:rPr b="0"/>
              <a:t> across global accounts.</a:t>
            </a:r>
          </a:p>
        </p:txBody>
      </p:sp>
      <p:sp>
        <p:nvSpPr>
          <p:cNvPr id="4" name="Text Placeholder 3"/>
          <p:cNvSpPr>
            <a:spLocks noGrp="1"/>
          </p:cNvSpPr>
          <p:nvPr>
            <p:ph type="body" idx="12" sz="quarter"/>
          </p:nvPr>
        </p:nvSpPr>
        <p:spPr/>
        <p:txBody>
          <a:bodyPr/>
          <a:lstStyle/>
          <a:p>
            <a:r>
              <a:rPr b="1"/>
              <a:t>Global Revenue Diversification</a:t>
            </a:r>
            <a:r>
              <a:rPr b="0"/>
              <a:t> with </a:t>
            </a:r>
            <a:r>
              <a:rPr b="1"/>
              <a:t>89% of total income</a:t>
            </a:r>
            <a:r>
              <a:rPr b="0"/>
              <a:t> derived from high-value international markets including USA and Europe.</a:t>
            </a:r>
          </a:p>
        </p:txBody>
      </p:sp>
      <p:sp>
        <p:nvSpPr>
          <p:cNvPr id="5" name="Text Placeholder 4"/>
          <p:cNvSpPr>
            <a:spLocks noGrp="1"/>
          </p:cNvSpPr>
          <p:nvPr>
            <p:ph type="body" idx="13" sz="quarter"/>
          </p:nvPr>
        </p:nvSpPr>
        <p:spPr/>
        <p:txBody>
          <a:bodyPr/>
          <a:lstStyle/>
          <a:p>
            <a:r>
              <a:rPr b="1"/>
              <a:t>Recurring Revenue Potential</a:t>
            </a:r>
            <a:r>
              <a:rPr b="0"/>
              <a:t> through a growing portfolio of subscription-based products and long-term managed service contracts.</a:t>
            </a:r>
          </a:p>
        </p:txBody>
      </p:sp>
      <p:sp>
        <p:nvSpPr>
          <p:cNvPr id="6" name="Text Placeholder 5"/>
          <p:cNvSpPr>
            <a:spLocks noGrp="1"/>
          </p:cNvSpPr>
          <p:nvPr>
            <p:ph type="body" idx="14" sz="quarter"/>
          </p:nvPr>
        </p:nvSpPr>
        <p:spPr/>
        <p:txBody>
          <a:bodyPr/>
          <a:lstStyle/>
          <a:p>
            <a:r>
              <a:rPr b="1"/>
              <a:t>High-Caliber Human Capital</a:t>
            </a:r>
            <a:r>
              <a:rPr b="0"/>
              <a:t> with over </a:t>
            </a:r>
            <a:r>
              <a:rPr b="1"/>
              <a:t>72% of employees</a:t>
            </a:r>
            <a:r>
              <a:rPr b="0"/>
              <a:t> dedicated to specialized technical roles in Engineering and IT.</a:t>
            </a:r>
          </a:p>
        </p:txBody>
      </p:sp>
      <p:sp>
        <p:nvSpPr>
          <p:cNvPr id="7" name="Text Placeholder 6"/>
          <p:cNvSpPr>
            <a:spLocks noGrp="1"/>
          </p:cNvSpPr>
          <p:nvPr>
            <p:ph type="body" idx="15" sz="quarter"/>
          </p:nvPr>
        </p:nvSpPr>
        <p:spPr/>
        <p:txBody>
          <a:bodyPr/>
          <a:lstStyle/>
          <a:p>
            <a:r>
              <a:rPr b="1"/>
              <a:t>Proven Operating Leverage</a:t>
            </a:r>
            <a:r>
              <a:rPr b="0"/>
              <a:t> maintaining consistent profitability with </a:t>
            </a:r>
            <a:r>
              <a:rPr b="1"/>
              <a:t>EBITDA margins</a:t>
            </a:r>
            <a:r>
              <a:rPr b="0"/>
              <a:t> reaching 35.5% in recent fiscal cycles.</a:t>
            </a:r>
          </a:p>
        </p:txBody>
      </p:sp>
      <p:pic>
        <p:nvPicPr>
          <p:cNvPr id="8" name="Picture Placeholder 7" descr="tech.jpeg"/>
          <p:cNvPicPr>
            <a:picLocks noGrp="1" noChangeAspect="1"/>
          </p:cNvPicPr>
          <p:nvPr>
            <p:ph type="pic" idx="16" sz="quarter"/>
          </p:nvPr>
        </p:nvPicPr>
        <p:blipFill>
          <a:blip r:embed="rId2"/>
          <a:srcRect l="14753" r="14753"/>
          <a:stretch>
            <a:fillRect/>
          </a:stretch>
        </p:blipFill>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Default Theme">
  <a:themeElements>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Advantage">
      <a:majorFont>
        <a:latin typeface="Rockwell"/>
        <a:ea typeface=""/>
        <a:cs typeface=""/>
        <a:font script="Jpan" typeface="ＭＳ ゴシック"/>
      </a:majorFont>
      <a:minorFont>
        <a:latin typeface="Rockwell"/>
        <a:ea typeface=""/>
        <a:cs typeface=""/>
        <a:font script="Jpan" typeface="ＭＳ ゴシック"/>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542</TotalTime>
  <Words>0</Words>
  <Application>Microsoft Macintosh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Rockwell</vt:lpstr>
      <vt:lpstr>Wingdings</vt:lpstr>
      <vt:lpstr>Default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Sambit Mallik</dc:creator>
  <cp:lastModifiedBy>Sambit Mallik</cp:lastModifiedBy>
  <cp:revision>26</cp:revision>
  <dcterms:created xsi:type="dcterms:W3CDTF">2026-01-24T04:48:24Z</dcterms:created>
  <dcterms:modified xsi:type="dcterms:W3CDTF">2026-02-07T08:14:45Z</dcterms:modified>
</cp:coreProperties>
</file>
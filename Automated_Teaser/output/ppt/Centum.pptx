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7073"/>
    <p:restoredTop sz="94733"/>
  </p:normalViewPr>
  <p:slideViewPr>
    <p:cSldViewPr snapToGrid="0">
      <p:cViewPr varScale="1">
        <p:scale>
          <a:sx n="102" d="100"/>
          <a:sy n="102" d="100"/>
        </p:scale>
        <p:origin x="20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ANNUAL REVENUE GROWTH</c:v>
                </c:pt>
              </c:strCache>
            </c:strRef>
          </c:tx>
          <c:cat>
            <c:strRef>
              <c:f>Sheet1!$A$2:$A$4</c:f>
              <c:strCache>
                <c:ptCount val="3"/>
                <c:pt idx="0">
                  <c:v>FY23</c:v>
                </c:pt>
                <c:pt idx="1">
                  <c:v>FY24</c:v>
                </c:pt>
                <c:pt idx="2">
                  <c:v>FY25 PROJ</c:v>
                </c:pt>
              </c:strCache>
            </c:strRef>
          </c:cat>
          <c:val>
            <c:numRef>
              <c:f>Sheet1!$B$2:$B$4</c:f>
              <c:numCache>
                <c:formatCode>General</c:formatCode>
                <c:ptCount val="3"/>
                <c:pt idx="0">
                  <c:v>9229</c:v>
                </c:pt>
                <c:pt idx="1">
                  <c:v>10908</c:v>
                </c:pt>
                <c:pt idx="2">
                  <c:v>11554</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SHAREHOLDING PATTERN</c:v>
                </c:pt>
              </c:strCache>
            </c:strRef>
          </c:tx>
          <c:cat>
            <c:strRef>
              <c:f>Sheet1!$A$2:$A$3</c:f>
              <c:strCache>
                <c:ptCount val="2"/>
                <c:pt idx="0">
                  <c:v>Non Promoters</c:v>
                </c:pt>
                <c:pt idx="1">
                  <c:v>Promoters</c:v>
                </c:pt>
              </c:strCache>
            </c:strRef>
          </c:cat>
          <c:val>
            <c:numRef>
              <c:f>Sheet1!$B$2:$B$3</c:f>
              <c:numCache>
                <c:formatCode>General</c:formatCode>
                <c:ptCount val="2"/>
                <c:pt idx="0">
                  <c:v>53</c:v>
                </c:pt>
                <c:pt idx="1">
                  <c:v>47</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AND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295570"/>
            <a:ext cx="8137412"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54287" y="1282281"/>
            <a:ext cx="8129186" cy="29778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204426" y="4730679"/>
            <a:ext cx="8081252" cy="19088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68804" y="1368192"/>
            <a:ext cx="7361140" cy="2783825"/>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791129"/>
            <a:ext cx="7298353" cy="1692486"/>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620105"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CERTIFICATIONS/AWARDS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2657802"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676515" y="1354712"/>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662611" y="4778729"/>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
        <p:nvSpPr>
          <p:cNvPr id="28" name="Title 1">
            <a:extLst>
              <a:ext uri="{FF2B5EF4-FFF2-40B4-BE49-F238E27FC236}">
                <a16:creationId xmlns:a16="http://schemas.microsoft.com/office/drawing/2014/main" id="{D8F8B44A-7F85-77D9-2043-31575F8C454F}"/>
              </a:ext>
            </a:extLst>
          </p:cNvPr>
          <p:cNvSpPr>
            <a:spLocks noGrp="1"/>
          </p:cNvSpPr>
          <p:nvPr>
            <p:ph type="title" hasCustomPrompt="1"/>
          </p:nvPr>
        </p:nvSpPr>
        <p:spPr>
          <a:xfrm>
            <a:off x="154287" y="767310"/>
            <a:ext cx="8129173" cy="475937"/>
          </a:xfrm>
        </p:spPr>
        <p:txBody>
          <a:bodyPr/>
          <a:lstStyle>
            <a:lvl1pPr>
              <a:defRPr b="1">
                <a:solidFill>
                  <a:schemeClr val="tx1"/>
                </a:solidFill>
                <a:latin typeface="Arial" panose="020B0604020202020204" pitchFamily="34" charset="0"/>
                <a:cs typeface="Arial" panose="020B0604020202020204" pitchFamily="34" charset="0"/>
              </a:defRPr>
            </a:lvl1pPr>
          </a:lstStyle>
          <a:p>
            <a:r>
              <a:rPr lang="en-GB" dirty="0"/>
              <a:t>Overview</a:t>
            </a:r>
          </a:p>
        </p:txBody>
      </p:sp>
      <p:sp>
        <p:nvSpPr>
          <p:cNvPr id="29" name="Title 2">
            <a:extLst>
              <a:ext uri="{FF2B5EF4-FFF2-40B4-BE49-F238E27FC236}">
                <a16:creationId xmlns:a16="http://schemas.microsoft.com/office/drawing/2014/main" id="{720CF06B-9487-3D5C-484F-440F7D080F41}"/>
              </a:ext>
            </a:extLst>
          </p:cNvPr>
          <p:cNvSpPr txBox="1">
            <a:spLocks/>
          </p:cNvSpPr>
          <p:nvPr userDrawn="1"/>
        </p:nvSpPr>
        <p:spPr>
          <a:xfrm>
            <a:off x="146060" y="4277770"/>
            <a:ext cx="10075084" cy="1116106"/>
          </a:xfrm>
          <a:prstGeom prst="rect">
            <a:avLst/>
          </a:prstGeom>
        </p:spPr>
        <p:txBody>
          <a:bodyPr vert="horz" lIns="91440" tIns="45720" rIns="91440" bIns="45720" rtlCol="0" anchor="t" anchorCtr="0">
            <a:noAutofit/>
          </a:bodyPr>
          <a:lstStyle>
            <a:lvl1pPr algn="l" defTabSz="685800" rtl="0" eaLnBrk="1" latinLnBrk="0" hangingPunct="1">
              <a:spcBef>
                <a:spcPct val="0"/>
              </a:spcBef>
              <a:buNone/>
              <a:defRPr sz="2700" b="1" kern="1200">
                <a:solidFill>
                  <a:schemeClr val="tx1"/>
                </a:solidFill>
                <a:latin typeface="Arial" panose="020B0604020202020204" pitchFamily="34" charset="0"/>
                <a:ea typeface="+mj-ea"/>
                <a:cs typeface="Arial" panose="020B0604020202020204" pitchFamily="34" charset="0"/>
              </a:defRPr>
            </a:lvl1pPr>
          </a:lstStyle>
          <a:p>
            <a:r>
              <a:rPr lang="en-GB" dirty="0"/>
              <a:t>Portfolio</a:t>
            </a:r>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293423" y="780377"/>
            <a:ext cx="5500858" cy="28985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242480" y="4019724"/>
            <a:ext cx="5903625"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IN" sz="2000" b="1" kern="1200" dirty="0">
              <a:solidFill>
                <a:schemeClr val="lt1"/>
              </a:solidFill>
              <a:effectLst/>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92373" y="707336"/>
            <a:ext cx="5953732" cy="444203"/>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293423" y="3768347"/>
            <a:ext cx="5500858"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Bar Graph">
            <a:extLst>
              <a:ext uri="{FF2B5EF4-FFF2-40B4-BE49-F238E27FC236}">
                <a16:creationId xmlns:a16="http://schemas.microsoft.com/office/drawing/2014/main" id="{314BFA5B-DA44-35AB-4230-666E47503CBA}"/>
              </a:ext>
            </a:extLst>
          </p:cNvPr>
          <p:cNvSpPr>
            <a:spLocks noGrp="1"/>
          </p:cNvSpPr>
          <p:nvPr>
            <p:ph type="chart" sz="quarter" idx="10"/>
          </p:nvPr>
        </p:nvSpPr>
        <p:spPr>
          <a:xfrm>
            <a:off x="258762" y="1212058"/>
            <a:ext cx="5850553" cy="2710656"/>
          </a:xfrm>
        </p:spPr>
        <p:txBody>
          <a:bodyPr/>
          <a:lstStyle/>
          <a:p>
            <a:endParaRPr lang="en-GB"/>
          </a:p>
        </p:txBody>
      </p:sp>
      <p:sp>
        <p:nvSpPr>
          <p:cNvPr id="12" name="Pie Graph">
            <a:extLst>
              <a:ext uri="{FF2B5EF4-FFF2-40B4-BE49-F238E27FC236}">
                <a16:creationId xmlns:a16="http://schemas.microsoft.com/office/drawing/2014/main" id="{4F4B5099-C250-429F-B035-D8FD2B9191E4}"/>
              </a:ext>
            </a:extLst>
          </p:cNvPr>
          <p:cNvSpPr>
            <a:spLocks noGrp="1"/>
          </p:cNvSpPr>
          <p:nvPr>
            <p:ph type="chart" sz="quarter" idx="11"/>
          </p:nvPr>
        </p:nvSpPr>
        <p:spPr>
          <a:xfrm>
            <a:off x="6293423" y="4203279"/>
            <a:ext cx="5752516" cy="2417016"/>
          </a:xfrm>
        </p:spPr>
        <p:txBody>
          <a:bodyPr/>
          <a:lstStyle/>
          <a:p>
            <a:endParaRPr lang="en-GB"/>
          </a:p>
        </p:txBody>
      </p:sp>
      <p:sp>
        <p:nvSpPr>
          <p:cNvPr id="14" name="Bar Chart Text">
            <a:extLst>
              <a:ext uri="{FF2B5EF4-FFF2-40B4-BE49-F238E27FC236}">
                <a16:creationId xmlns:a16="http://schemas.microsoft.com/office/drawing/2014/main" id="{2DFEA1BA-A093-DDF9-3DB8-B4A28E960CDA}"/>
              </a:ext>
            </a:extLst>
          </p:cNvPr>
          <p:cNvSpPr>
            <a:spLocks noGrp="1"/>
          </p:cNvSpPr>
          <p:nvPr>
            <p:ph type="body" sz="quarter" idx="12"/>
          </p:nvPr>
        </p:nvSpPr>
        <p:spPr>
          <a:xfrm>
            <a:off x="275046" y="4095066"/>
            <a:ext cx="5376865" cy="2367518"/>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6" name="Pie Chart Text">
            <a:extLst>
              <a:ext uri="{FF2B5EF4-FFF2-40B4-BE49-F238E27FC236}">
                <a16:creationId xmlns:a16="http://schemas.microsoft.com/office/drawing/2014/main" id="{A6C93ED4-1702-7B8D-5F36-E67260FB774A}"/>
              </a:ext>
            </a:extLst>
          </p:cNvPr>
          <p:cNvSpPr>
            <a:spLocks noGrp="1"/>
          </p:cNvSpPr>
          <p:nvPr>
            <p:ph type="body" sz="quarter" idx="13"/>
          </p:nvPr>
        </p:nvSpPr>
        <p:spPr>
          <a:xfrm>
            <a:off x="6392577" y="828316"/>
            <a:ext cx="4852072" cy="276082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e Icon">
            <a:extLst>
              <a:ext uri="{FF2B5EF4-FFF2-40B4-BE49-F238E27FC236}">
                <a16:creationId xmlns:a16="http://schemas.microsoft.com/office/drawing/2014/main" id="{50C145BC-849C-7BED-8D76-9D2CBB6027C8}"/>
              </a:ext>
            </a:extLst>
          </p:cNvPr>
          <p:cNvSpPr>
            <a:spLocks noGrp="1"/>
          </p:cNvSpPr>
          <p:nvPr>
            <p:ph type="pic" sz="quarter" idx="16"/>
          </p:nvPr>
        </p:nvSpPr>
        <p:spPr>
          <a:xfrm>
            <a:off x="11126680" y="3004938"/>
            <a:ext cx="560387" cy="584200"/>
          </a:xfrm>
        </p:spPr>
        <p:txBody>
          <a:bodyPr/>
          <a:lstStyle/>
          <a:p>
            <a:endParaRPr lang="en-GB"/>
          </a:p>
        </p:txBody>
      </p:sp>
      <p:sp>
        <p:nvSpPr>
          <p:cNvPr id="11" name="Bar Icon">
            <a:extLst>
              <a:ext uri="{FF2B5EF4-FFF2-40B4-BE49-F238E27FC236}">
                <a16:creationId xmlns:a16="http://schemas.microsoft.com/office/drawing/2014/main" id="{D8485975-C325-68AD-C16C-A6ED6801C253}"/>
              </a:ext>
            </a:extLst>
          </p:cNvPr>
          <p:cNvSpPr>
            <a:spLocks noGrp="1"/>
          </p:cNvSpPr>
          <p:nvPr>
            <p:ph type="pic" sz="quarter" idx="17"/>
          </p:nvPr>
        </p:nvSpPr>
        <p:spPr>
          <a:xfrm>
            <a:off x="5548929" y="5836401"/>
            <a:ext cx="560387" cy="584200"/>
          </a:xfrm>
        </p:spPr>
        <p:txBody>
          <a:bodyPr/>
          <a:lstStyle/>
          <a:p>
            <a:endParaRPr lang="en-GB"/>
          </a:p>
        </p:txBody>
      </p:sp>
      <p:sp>
        <p:nvSpPr>
          <p:cNvPr id="17" name="Bar Chart Title">
            <a:extLst>
              <a:ext uri="{FF2B5EF4-FFF2-40B4-BE49-F238E27FC236}">
                <a16:creationId xmlns:a16="http://schemas.microsoft.com/office/drawing/2014/main" id="{9D9991A1-48D6-46D4-FBFC-5B6D1DAEA7B5}"/>
              </a:ext>
            </a:extLst>
          </p:cNvPr>
          <p:cNvSpPr>
            <a:spLocks noGrp="1"/>
          </p:cNvSpPr>
          <p:nvPr>
            <p:ph type="body" sz="quarter" idx="18"/>
          </p:nvPr>
        </p:nvSpPr>
        <p:spPr>
          <a:xfrm>
            <a:off x="388286" y="767854"/>
            <a:ext cx="5511800" cy="271463"/>
          </a:xfrm>
        </p:spPr>
        <p:txBody>
          <a:bodyPr/>
          <a:lstStyle>
            <a:lvl1pPr>
              <a:defRPr sz="2000" b="1">
                <a:solidFill>
                  <a:schemeClr val="tx1"/>
                </a:solidFill>
                <a:latin typeface="Arial" panose="020B0604020202020204" pitchFamily="34" charset="0"/>
                <a:cs typeface="Arial" panose="020B0604020202020204" pitchFamily="34" charset="0"/>
              </a:defRPr>
            </a:lvl1pPr>
            <a:lvl2pPr>
              <a:defRPr sz="2000" b="1">
                <a:solidFill>
                  <a:schemeClr val="tx1"/>
                </a:solidFill>
                <a:latin typeface="Arial" panose="020B0604020202020204" pitchFamily="34" charset="0"/>
                <a:cs typeface="Arial" panose="020B0604020202020204" pitchFamily="34" charset="0"/>
              </a:defRPr>
            </a:lvl2pPr>
            <a:lvl3pPr>
              <a:defRPr sz="2000" b="1">
                <a:solidFill>
                  <a:schemeClr val="tx1"/>
                </a:solidFill>
                <a:latin typeface="Arial" panose="020B0604020202020204" pitchFamily="34" charset="0"/>
                <a:cs typeface="Arial" panose="020B0604020202020204" pitchFamily="34" charset="0"/>
              </a:defRPr>
            </a:lvl3pPr>
            <a:lvl4pPr>
              <a:defRPr sz="2000" b="1">
                <a:solidFill>
                  <a:schemeClr val="tx1"/>
                </a:solidFill>
                <a:latin typeface="Arial" panose="020B0604020202020204" pitchFamily="34" charset="0"/>
                <a:cs typeface="Arial" panose="020B0604020202020204" pitchFamily="34" charset="0"/>
              </a:defRPr>
            </a:lvl4pPr>
            <a:lvl5pPr>
              <a:defRPr sz="2000"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e Chart Title">
            <a:extLst>
              <a:ext uri="{FF2B5EF4-FFF2-40B4-BE49-F238E27FC236}">
                <a16:creationId xmlns:a16="http://schemas.microsoft.com/office/drawing/2014/main" id="{3AA68E73-7E2F-1CA9-2535-55E22322272D}"/>
              </a:ext>
            </a:extLst>
          </p:cNvPr>
          <p:cNvSpPr>
            <a:spLocks noGrp="1"/>
          </p:cNvSpPr>
          <p:nvPr>
            <p:ph type="body" sz="quarter" idx="19"/>
          </p:nvPr>
        </p:nvSpPr>
        <p:spPr>
          <a:xfrm>
            <a:off x="6343529" y="3764130"/>
            <a:ext cx="5173662" cy="342900"/>
          </a:xfrm>
        </p:spPr>
        <p:txBody>
          <a:bodyPr/>
          <a:lstStyle>
            <a:lvl1pPr>
              <a:defRPr sz="2000" b="1">
                <a:solidFill>
                  <a:schemeClr val="tx1"/>
                </a:solidFill>
                <a:latin typeface="Arial" panose="020B0604020202020204" pitchFamily="34" charset="0"/>
                <a:cs typeface="Arial" panose="020B0604020202020204" pitchFamily="34" charset="0"/>
              </a:defRPr>
            </a:lvl1pPr>
            <a:lvl2pPr>
              <a:defRPr b="1">
                <a:solidFill>
                  <a:schemeClr val="tx1"/>
                </a:solidFill>
                <a:latin typeface="Arial" panose="020B0604020202020204" pitchFamily="34" charset="0"/>
                <a:cs typeface="Arial" panose="020B0604020202020204" pitchFamily="34" charset="0"/>
              </a:defRPr>
            </a:lvl2pPr>
            <a:lvl3pPr>
              <a:defRPr b="1">
                <a:solidFill>
                  <a:schemeClr val="tx1"/>
                </a:solidFill>
                <a:latin typeface="Arial" panose="020B0604020202020204" pitchFamily="34" charset="0"/>
                <a:cs typeface="Arial" panose="020B0604020202020204" pitchFamily="34" charset="0"/>
              </a:defRPr>
            </a:lvl3pPr>
            <a:lvl4pPr>
              <a:defRPr b="1">
                <a:solidFill>
                  <a:schemeClr val="tx1"/>
                </a:solidFill>
                <a:latin typeface="Arial" panose="020B0604020202020204" pitchFamily="34" charset="0"/>
                <a:cs typeface="Arial" panose="020B0604020202020204" pitchFamily="34" charset="0"/>
              </a:defRPr>
            </a:lvl4pPr>
            <a:lvl5pPr>
              <a:defRPr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1" name="Title">
            <a:extLst>
              <a:ext uri="{FF2B5EF4-FFF2-40B4-BE49-F238E27FC236}">
                <a16:creationId xmlns:a16="http://schemas.microsoft.com/office/drawing/2014/main" id="{D99BE25C-6F4A-E4EC-288F-86E2C1351AFD}"/>
              </a:ext>
            </a:extLst>
          </p:cNvPr>
          <p:cNvSpPr>
            <a:spLocks noGrp="1"/>
          </p:cNvSpPr>
          <p:nvPr>
            <p:ph type="body" sz="quarter" idx="20"/>
          </p:nvPr>
        </p:nvSpPr>
        <p:spPr>
          <a:xfrm>
            <a:off x="192088" y="0"/>
            <a:ext cx="9063037" cy="476250"/>
          </a:xfrm>
        </p:spPr>
        <p:txBody>
          <a:bodyPr/>
          <a:lstStyle>
            <a:lvl1pPr>
              <a:defRPr sz="2000" b="1">
                <a:solidFill>
                  <a:schemeClr val="bg1"/>
                </a:solidFill>
                <a:latin typeface="Arial" panose="020B0604020202020204" pitchFamily="34" charset="0"/>
                <a:cs typeface="Arial" panose="020B0604020202020204" pitchFamily="34" charset="0"/>
              </a:defRPr>
            </a:lvl1pPr>
            <a:lvl2pPr>
              <a:defRPr sz="2000" b="1">
                <a:solidFill>
                  <a:schemeClr val="bg1"/>
                </a:solidFill>
                <a:latin typeface="Arial" panose="020B0604020202020204" pitchFamily="34" charset="0"/>
                <a:cs typeface="Arial" panose="020B0604020202020204" pitchFamily="34" charset="0"/>
              </a:defRPr>
            </a:lvl2pPr>
            <a:lvl3pPr>
              <a:defRPr sz="2000" b="1">
                <a:solidFill>
                  <a:schemeClr val="bg1"/>
                </a:solidFill>
                <a:latin typeface="Arial" panose="020B0604020202020204" pitchFamily="34" charset="0"/>
                <a:cs typeface="Arial" panose="020B0604020202020204" pitchFamily="34" charset="0"/>
              </a:defRPr>
            </a:lvl3pPr>
            <a:lvl4pPr>
              <a:defRPr sz="2000" b="1">
                <a:solidFill>
                  <a:schemeClr val="bg1"/>
                </a:solidFill>
                <a:latin typeface="Arial" panose="020B0604020202020204" pitchFamily="34" charset="0"/>
                <a:cs typeface="Arial" panose="020B0604020202020204" pitchFamily="34" charset="0"/>
              </a:defRPr>
            </a:lvl4pPr>
            <a:lvl5pPr>
              <a:defRPr sz="2000" b="1">
                <a:solidFill>
                  <a:schemeClr val="bg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2/7/26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Provides comprehensive electronics solutions including </a:t>
            </a:r>
            <a:r>
              <a:rPr b="1"/>
              <a:t>product design, manufacturing services, and turnkey systems</a:t>
            </a:r>
            <a:r>
              <a:rPr b="0"/>
              <a:t>.</a:t>
            </a:r>
          </a:p>
          <a:p>
            <a:r>
              <a:rPr b="0"/>
              <a:t>Services mission-critical end-user industries such as </a:t>
            </a:r>
            <a:r>
              <a:rPr b="1"/>
              <a:t>Defense, Space, Aerospace, Medical, and Transportation</a:t>
            </a:r>
            <a:r>
              <a:rPr b="0"/>
              <a:t>.</a:t>
            </a:r>
          </a:p>
          <a:p>
            <a:r>
              <a:rPr b="0"/>
              <a:t>Operates a massive manufacturing footprint with </a:t>
            </a:r>
            <a:r>
              <a:rPr b="1"/>
              <a:t>350,000 sq. ft</a:t>
            </a:r>
            <a:r>
              <a:rPr b="0"/>
              <a:t> of production area in Bangalore and facilities in France.</a:t>
            </a:r>
          </a:p>
          <a:p>
            <a:r>
              <a:rPr b="0"/>
              <a:t>Employs a global workforce of over </a:t>
            </a:r>
            <a:r>
              <a:rPr b="1"/>
              <a:t>2,300 professionals</a:t>
            </a:r>
            <a:r>
              <a:rPr b="0"/>
              <a:t>, with approximately 51% dedicated to core Engineering departments.</a:t>
            </a:r>
          </a:p>
          <a:p>
            <a:r>
              <a:rPr b="0"/>
              <a:t>Utilizes flexible engagement models including </a:t>
            </a:r>
            <a:r>
              <a:rPr b="1"/>
              <a:t>build-to-spec, consulting, and fixed-price projects</a:t>
            </a:r>
            <a:r>
              <a:rPr b="0"/>
              <a:t> for global B2B clients.</a:t>
            </a:r>
          </a:p>
        </p:txBody>
      </p:sp>
      <p:sp>
        <p:nvSpPr>
          <p:cNvPr id="3" name="Text Placeholder 2"/>
          <p:cNvSpPr>
            <a:spLocks noGrp="1"/>
          </p:cNvSpPr>
          <p:nvPr>
            <p:ph type="body" idx="11" sz="quarter"/>
          </p:nvPr>
        </p:nvSpPr>
        <p:spPr/>
        <p:txBody>
          <a:bodyPr/>
          <a:lstStyle/>
          <a:p>
            <a:r>
              <a:rPr b="1"/>
              <a:t>Strategic Electronics &amp; Space Solutions:</a:t>
            </a:r>
            <a:r>
              <a:rPr b="0"/>
              <a:t> Customized subsystems for defense, satellite bus systems, and EW payloads.</a:t>
            </a:r>
          </a:p>
          <a:p>
            <a:r>
              <a:rPr b="1"/>
              <a:t>Electronics Manufacturing Solutions (EMS):</a:t>
            </a:r>
            <a:r>
              <a:rPr b="0"/>
              <a:t> High-precision system integration, PCBA, test services, and environmental screening.</a:t>
            </a:r>
          </a:p>
          <a:p>
            <a:r>
              <a:rPr b="1"/>
              <a:t>Engineering &amp; Design Services:</a:t>
            </a:r>
            <a:r>
              <a:rPr b="0"/>
              <a:t> End-to-end design engineering, embedded software, FPGA development, and mechanical design for complex industrial systems.</a:t>
            </a:r>
          </a:p>
        </p:txBody>
      </p:sp>
      <p:pic>
        <p:nvPicPr>
          <p:cNvPr id="4" name="Picture Placeholder 3" descr="iso 9001.png"/>
          <p:cNvPicPr>
            <a:picLocks noGrp="1" noChangeAspect="1"/>
          </p:cNvPicPr>
          <p:nvPr>
            <p:ph type="pic" idx="12" sz="quarter"/>
          </p:nvPr>
        </p:nvPicPr>
        <p:blipFill>
          <a:blip r:embed="rId2"/>
          <a:srcRect t="3487" b="3487"/>
          <a:stretch>
            <a:fillRect/>
          </a:stretch>
        </p:blipFill>
        <p:spPr/>
      </p:pic>
      <p:pic>
        <p:nvPicPr>
          <p:cNvPr id="5" name="Picture Placeholder 4" descr="iso 14001.png"/>
          <p:cNvPicPr>
            <a:picLocks noGrp="1" noChangeAspect="1"/>
          </p:cNvPicPr>
          <p:nvPr>
            <p:ph type="pic" idx="13" sz="quarter"/>
          </p:nvPr>
        </p:nvPicPr>
        <p:blipFill>
          <a:blip r:embed="rId3"/>
          <a:srcRect t="8286" b="8286"/>
          <a:stretch>
            <a:fillRect/>
          </a:stretch>
        </p:blipFill>
        <p:spPr/>
      </p:pic>
      <p:pic>
        <p:nvPicPr>
          <p:cNvPr id="6" name="Picture Placeholder 5" descr="MHRA - UK.png"/>
          <p:cNvPicPr>
            <a:picLocks noGrp="1" noChangeAspect="1"/>
          </p:cNvPicPr>
          <p:nvPr>
            <p:ph type="pic" idx="14" sz="quarter"/>
          </p:nvPr>
        </p:nvPicPr>
        <p:blipFill>
          <a:blip r:embed="rId4"/>
          <a:srcRect l="15296" r="15296"/>
          <a:stretch>
            <a:fillRect/>
          </a:stretch>
        </p:blipFill>
        <p:spPr/>
      </p:pic>
      <p:sp>
        <p:nvSpPr>
          <p:cNvPr id="7" name="Text Placeholder 6"/>
          <p:cNvSpPr>
            <a:spLocks noGrp="1"/>
          </p:cNvSpPr>
          <p:nvPr>
            <p:ph type="body" idx="15" sz="quarter"/>
          </p:nvPr>
        </p:nvSpPr>
        <p:spPr/>
        <p:txBody>
          <a:bodyPr/>
          <a:lstStyle/>
          <a:p>
            <a:r>
              <a:rPr b="0"/>
              <a:t>A leading high-technology electronics solutions provider specializing in </a:t>
            </a:r>
            <a:r>
              <a:rPr b="1"/>
              <a:t>defense, aerospace, and space</a:t>
            </a:r>
            <a:r>
              <a:rPr b="0"/>
              <a:t> sectors.</a:t>
            </a:r>
          </a:p>
          <a:p>
            <a:r>
              <a:rPr b="0"/>
              <a:t>Operates globally with a proven track record of delivering </a:t>
            </a:r>
            <a:r>
              <a:rPr b="1"/>
              <a:t>mission-critical electronics</a:t>
            </a:r>
            <a:r>
              <a:rPr b="0"/>
              <a:t> and advanced passenger systems since 1994.</a:t>
            </a:r>
          </a:p>
        </p:txBody>
      </p:sp>
      <p:pic>
        <p:nvPicPr>
          <p:cNvPr id="8" name="Picture Placeholder 7" descr="Factory_Manufacturing_Industry.png"/>
          <p:cNvPicPr>
            <a:picLocks noGrp="1" noChangeAspect="1"/>
          </p:cNvPicPr>
          <p:nvPr>
            <p:ph type="pic" idx="16" sz="quarter"/>
          </p:nvPr>
        </p:nvPicPr>
        <p:blipFill>
          <a:blip r:embed="rId5"/>
          <a:srcRect l="2038" r="2038"/>
          <a:stretch>
            <a:fillRect/>
          </a:stretch>
        </p:blipFill>
        <p:spPr/>
      </p:pic>
      <p:pic>
        <p:nvPicPr>
          <p:cNvPr id="9" name="Picture Placeholder 8" descr="Graph_Growth.png"/>
          <p:cNvPicPr>
            <a:picLocks noGrp="1" noChangeAspect="1"/>
          </p:cNvPicPr>
          <p:nvPr>
            <p:ph type="pic" idx="17" sz="quarter"/>
          </p:nvPr>
        </p:nvPicPr>
        <p:blipFill>
          <a:blip r:embed="rId6"/>
          <a:srcRect l="2038" r="2038"/>
          <a:stretch>
            <a:fillRect/>
          </a:stretch>
        </p:blipFill>
        <p:spPr/>
      </p:pic>
      <p:pic>
        <p:nvPicPr>
          <p:cNvPr id="10" name="Picture Placeholder 9" descr="Ecofriendly_Plant.png"/>
          <p:cNvPicPr>
            <a:picLocks noGrp="1" noChangeAspect="1"/>
          </p:cNvPicPr>
          <p:nvPr>
            <p:ph type="pic" idx="18" sz="quarter"/>
          </p:nvPr>
        </p:nvPicPr>
        <p:blipFill>
          <a:blip r:embed="rId7"/>
          <a:srcRect l="2038" r="2038"/>
          <a:stretch>
            <a:fillRect/>
          </a:stretch>
        </p:blipFill>
        <p:spPr/>
      </p:pic>
      <p:sp>
        <p:nvSpPr>
          <p:cNvPr id="11" name="Title 10"/>
          <p:cNvSpPr>
            <a:spLocks noGrp="1"/>
          </p:cNvSpPr>
          <p:nvPr>
            <p:ph type="title"/>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bar chart illustrates a consistent upward trajectory in </a:t>
            </a:r>
            <a:r>
              <a:rPr b="1"/>
              <a:t>Revenue From Operations</a:t>
            </a:r>
            <a:r>
              <a:rPr b="0"/>
              <a:t> over a three-year period.</a:t>
            </a:r>
          </a:p>
          <a:p>
            <a:r>
              <a:rPr b="0"/>
              <a:t>A notable </a:t>
            </a:r>
            <a:r>
              <a:rPr b="1"/>
              <a:t>18% year-on-year growth</a:t>
            </a:r>
            <a:r>
              <a:rPr b="0"/>
              <a:t> was achieved in FY24, driven by high-margin strategic contracts.</a:t>
            </a:r>
          </a:p>
          <a:p>
            <a:r>
              <a:rPr b="0"/>
              <a:t>Projections for FY25 indicate sustained growth as the company executes its massive </a:t>
            </a:r>
            <a:r>
              <a:rPr b="1"/>
              <a:t>INR 1,675 crore order book</a:t>
            </a:r>
            <a:r>
              <a:rPr b="0"/>
              <a:t>.</a:t>
            </a:r>
          </a:p>
          <a:p>
            <a:r>
              <a:rPr b="0"/>
              <a:t>Revenue growth is complemented by improving operational efficiency and higher utilization of the </a:t>
            </a:r>
            <a:r>
              <a:rPr b="1"/>
              <a:t>350,000 sq. ft manufacturing footprint</a:t>
            </a:r>
            <a:r>
              <a:rPr b="0"/>
              <a:t>.</a:t>
            </a:r>
          </a:p>
        </p:txBody>
      </p:sp>
      <p:sp>
        <p:nvSpPr>
          <p:cNvPr id="5" name="Text Placeholder 4"/>
          <p:cNvSpPr>
            <a:spLocks noGrp="1"/>
          </p:cNvSpPr>
          <p:nvPr>
            <p:ph type="body" idx="13" sz="quarter"/>
          </p:nvPr>
        </p:nvSpPr>
        <p:spPr/>
        <p:txBody>
          <a:bodyPr/>
          <a:lstStyle/>
          <a:p>
            <a:r>
              <a:rPr b="0"/>
              <a:t>The pie chart details a balanced </a:t>
            </a:r>
            <a:r>
              <a:rPr b="1"/>
              <a:t>Equity Shareholding Pattern</a:t>
            </a:r>
            <a:r>
              <a:rPr b="0"/>
              <a:t> as of the latest reporting period.</a:t>
            </a:r>
          </a:p>
          <a:p>
            <a:r>
              <a:rPr b="0"/>
              <a:t>Promoters retain a significant </a:t>
            </a:r>
            <a:r>
              <a:rPr b="1"/>
              <a:t>47% stake</a:t>
            </a:r>
            <a:r>
              <a:rPr b="0"/>
              <a:t>, ensuring long-term strategic alignment and stability.</a:t>
            </a:r>
          </a:p>
          <a:p>
            <a:r>
              <a:rPr b="0"/>
              <a:t>The high percentage of Non-Promoter holdings indicates healthy institutional interest and </a:t>
            </a:r>
            <a:r>
              <a:rPr b="1"/>
              <a:t>market liquidity</a:t>
            </a:r>
            <a:r>
              <a:rPr b="0"/>
              <a:t>.</a:t>
            </a:r>
          </a:p>
          <a:p>
            <a:r>
              <a:rPr b="0"/>
              <a:t>Significant investors include </a:t>
            </a:r>
            <a:r>
              <a:rPr b="1"/>
              <a:t>HDFC Trustee Company</a:t>
            </a:r>
            <a:r>
              <a:rPr b="0"/>
              <a:t> and specialized equity funds, reflecting confidence in the business model.</a:t>
            </a:r>
          </a:p>
        </p:txBody>
      </p:sp>
      <p:pic>
        <p:nvPicPr>
          <p:cNvPr id="7" name="Picture Placeholder 6" descr="Global_Internet.png"/>
          <p:cNvPicPr>
            <a:picLocks noGrp="1" noChangeAspect="1"/>
          </p:cNvPicPr>
          <p:nvPr>
            <p:ph type="pic" idx="17" sz="quarter"/>
          </p:nvPr>
        </p:nvPicPr>
        <p:blipFill>
          <a:blip r:embed="rId4"/>
          <a:srcRect l="2038" r="2038"/>
          <a:stretch>
            <a:fillRect/>
          </a:stretch>
        </p:blipFill>
        <p:spPr/>
      </p:pic>
      <p:sp>
        <p:nvSpPr>
          <p:cNvPr id="8" name="Text Placeholder 7"/>
          <p:cNvSpPr>
            <a:spLocks noGrp="1"/>
          </p:cNvSpPr>
          <p:nvPr>
            <p:ph type="body" idx="18" sz="quarter"/>
          </p:nvPr>
        </p:nvSpPr>
        <p:spPr/>
        <p:txBody>
          <a:bodyPr/>
          <a:lstStyle/>
          <a:p>
            <a:r>
              <a:rPr b="1"/>
              <a:t>REVENUE GROWTH</a:t>
            </a:r>
          </a:p>
        </p:txBody>
      </p:sp>
      <p:sp>
        <p:nvSpPr>
          <p:cNvPr id="9" name="Text Placeholder 8"/>
          <p:cNvSpPr>
            <a:spLocks noGrp="1"/>
          </p:cNvSpPr>
          <p:nvPr>
            <p:ph type="body" idx="19" sz="quarter"/>
          </p:nvPr>
        </p:nvSpPr>
        <p:spPr/>
        <p:txBody>
          <a:bodyPr/>
          <a:lstStyle/>
          <a:p>
            <a:r>
              <a:rPr b="1"/>
              <a:t>EQUITY STRUCTURE</a:t>
            </a:r>
          </a:p>
        </p:txBody>
      </p:sp>
      <p:sp>
        <p:nvSpPr>
          <p:cNvPr id="10" name="Text Placeholder 9"/>
          <p:cNvSpPr>
            <a:spLocks noGrp="1"/>
          </p:cNvSpPr>
          <p:nvPr>
            <p:ph type="body" idx="20" sz="quarter"/>
          </p:nvPr>
        </p:nvSpPr>
        <p:spPr/>
        <p:txBody>
          <a:bodyPr/>
          <a:lstStyle/>
          <a:p>
            <a:r>
              <a:rPr b="0"/>
              <a:t>FINANCIAL PERFORMANCE AND MARGINS</a:t>
            </a:r>
          </a:p>
        </p:txBody>
      </p:sp>
      <p:graphicFrame>
        <p:nvGraphicFramePr>
          <p:cNvPr id="11" name="Chart 10"/>
          <p:cNvGraphicFramePr>
            <a:graphicFrameLocks noGrp="1"/>
          </p:cNvGraphicFramePr>
          <p:nvPr/>
        </p:nvGraphicFramePr>
        <p:xfrm>
          <a:off x="258762" y="1212058"/>
          <a:ext cx="5850553" cy="2710656"/>
        </p:xfrm>
        <a:graphic>
          <a:graphicData uri="http://schemas.openxmlformats.org/drawingml/2006/chart">
            <c:chart xmlns:c="http://schemas.openxmlformats.org/drawingml/2006/chart" r:id="rId2"/>
          </a:graphicData>
        </a:graphic>
      </p:graphicFrame>
      <p:graphicFrame>
        <p:nvGraphicFramePr>
          <p:cNvPr id="12" name="Chart 11"/>
          <p:cNvGraphicFramePr>
            <a:graphicFrameLocks noGrp="1"/>
          </p:cNvGraphicFramePr>
          <p:nvPr/>
        </p:nvGraphicFramePr>
        <p:xfrm>
          <a:off x="6293423" y="4203279"/>
          <a:ext cx="5752516" cy="2417016"/>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High Entry Barriers (Capex):</a:t>
            </a:r>
            <a:r>
              <a:rPr b="0"/>
              <a:t> Capital-intensive operations with specialized </a:t>
            </a:r>
            <a:r>
              <a:rPr b="1"/>
              <a:t>350,000 sq. ft facility</a:t>
            </a:r>
            <a:r>
              <a:rPr b="0"/>
              <a:t> and advanced R&amp;D capabilities.</a:t>
            </a:r>
          </a:p>
        </p:txBody>
      </p:sp>
      <p:sp>
        <p:nvSpPr>
          <p:cNvPr id="3" name="Text Placeholder 2"/>
          <p:cNvSpPr>
            <a:spLocks noGrp="1"/>
          </p:cNvSpPr>
          <p:nvPr>
            <p:ph type="body" idx="11" sz="quarter"/>
          </p:nvPr>
        </p:nvSpPr>
        <p:spPr/>
        <p:txBody>
          <a:bodyPr/>
          <a:lstStyle/>
          <a:p>
            <a:r>
              <a:rPr b="1"/>
              <a:t>Critical Supplier Status:</a:t>
            </a:r>
            <a:r>
              <a:rPr b="0"/>
              <a:t> Tier-1 strategic partner to defense organizations (DRDO) and aerospace leaders like Thales and Key Management.</a:t>
            </a:r>
          </a:p>
        </p:txBody>
      </p:sp>
      <p:sp>
        <p:nvSpPr>
          <p:cNvPr id="4" name="Text Placeholder 3"/>
          <p:cNvSpPr>
            <a:spLocks noGrp="1"/>
          </p:cNvSpPr>
          <p:nvPr>
            <p:ph type="body" idx="12" sz="quarter"/>
          </p:nvPr>
        </p:nvSpPr>
        <p:spPr/>
        <p:txBody>
          <a:bodyPr/>
          <a:lstStyle/>
          <a:p>
            <a:r>
              <a:rPr b="1"/>
              <a:t>Robust Revenue Visibility:</a:t>
            </a:r>
            <a:r>
              <a:rPr b="0"/>
              <a:t> Secured order book of </a:t>
            </a:r>
            <a:r>
              <a:rPr b="1"/>
              <a:t>INR 1,675 crore</a:t>
            </a:r>
            <a:r>
              <a:rPr b="0"/>
              <a:t> as of December 2024 providing stable mid-term growth.</a:t>
            </a:r>
          </a:p>
        </p:txBody>
      </p:sp>
      <p:sp>
        <p:nvSpPr>
          <p:cNvPr id="5" name="Text Placeholder 4"/>
          <p:cNvSpPr>
            <a:spLocks noGrp="1"/>
          </p:cNvSpPr>
          <p:nvPr>
            <p:ph type="body" idx="13" sz="quarter"/>
          </p:nvPr>
        </p:nvSpPr>
        <p:spPr/>
        <p:txBody>
          <a:bodyPr/>
          <a:lstStyle/>
          <a:p>
            <a:r>
              <a:rPr b="1"/>
              <a:t>Operating Leverage:</a:t>
            </a:r>
            <a:r>
              <a:rPr b="0"/>
              <a:t> Demonstrated margin improvement with PBILDT expanding to </a:t>
            </a:r>
            <a:r>
              <a:rPr b="1"/>
              <a:t>12.65%</a:t>
            </a:r>
            <a:r>
              <a:rPr b="0"/>
              <a:t> alongside a significant revenue surge.</a:t>
            </a:r>
          </a:p>
        </p:txBody>
      </p:sp>
      <p:sp>
        <p:nvSpPr>
          <p:cNvPr id="6" name="Text Placeholder 5"/>
          <p:cNvSpPr>
            <a:spLocks noGrp="1"/>
          </p:cNvSpPr>
          <p:nvPr>
            <p:ph type="body" idx="14" sz="quarter"/>
          </p:nvPr>
        </p:nvSpPr>
        <p:spPr/>
        <p:txBody>
          <a:bodyPr/>
          <a:lstStyle/>
          <a:p>
            <a:r>
              <a:rPr b="1"/>
              <a:t>Global Technical Expertise:</a:t>
            </a:r>
            <a:r>
              <a:rPr b="0"/>
              <a:t> Multi-decade track record in mission-critical systems with proprietary IP and semiconductor switch patents.</a:t>
            </a:r>
          </a:p>
        </p:txBody>
      </p:sp>
      <p:sp>
        <p:nvSpPr>
          <p:cNvPr id="7" name="Text Placeholder 6"/>
          <p:cNvSpPr>
            <a:spLocks noGrp="1"/>
          </p:cNvSpPr>
          <p:nvPr>
            <p:ph type="body" idx="15" sz="quarter"/>
          </p:nvPr>
        </p:nvSpPr>
        <p:spPr/>
        <p:txBody>
          <a:bodyPr/>
          <a:lstStyle/>
          <a:p>
            <a:r>
              <a:rPr b="1"/>
              <a:t>Market Tailwinds:</a:t>
            </a:r>
            <a:r>
              <a:rPr b="0"/>
              <a:t> Ideally positioned to capture India's ER&amp;D export market growth, projected to reach </a:t>
            </a:r>
            <a:r>
              <a:rPr b="1"/>
              <a:t>$170B by 2030</a:t>
            </a:r>
            <a:r>
              <a:rPr b="0"/>
              <a:t>.</a:t>
            </a:r>
          </a:p>
        </p:txBody>
      </p:sp>
      <p:pic>
        <p:nvPicPr>
          <p:cNvPr id="8" name="Picture Placeholder 7" descr="Industry.jpeg"/>
          <p:cNvPicPr>
            <a:picLocks noGrp="1" noChangeAspect="1"/>
          </p:cNvPicPr>
          <p:nvPr>
            <p:ph type="pic" idx="16" sz="quarter"/>
          </p:nvPr>
        </p:nvPicPr>
        <p:blipFill>
          <a:blip r:embed="rId2"/>
          <a:srcRect l="7725" r="7725"/>
          <a:stretch>
            <a:fillRect/>
          </a:stretch>
        </p:blipFill>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542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25</cp:revision>
  <dcterms:created xsi:type="dcterms:W3CDTF">2026-01-24T04:48:24Z</dcterms:created>
  <dcterms:modified xsi:type="dcterms:W3CDTF">2026-02-07T08:08:41Z</dcterms:modified>
</cp:coreProperties>
</file>